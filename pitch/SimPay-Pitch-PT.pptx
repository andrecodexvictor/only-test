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embedTrueTypeFonts="1">
  <p:sldMasterIdLst>
    <p:sldMasterId id="2147483648" r:id="rId1"/>
  </p:sldMasterIdLst>
  <p:sldIdLst>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embeddedFontLst>
    <p:embeddedFont>
      <p:font typeface="JetBrains Mono"/>
      <p:regular r:id="rId41"/>
    </p:embeddedFont>
    <p:embeddedFont>
      <p:font typeface="Inter"/>
      <p:regular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font" Target="fonts/rId41.fntdata"/><Relationship Id="rId42" Type="http://schemas.openxmlformats.org/officeDocument/2006/relationships/font" Target="fonts/rId4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Abra forte, ~10s: "Esta é a SimPay."
Uma frase: cripto que você gasta no balcão e que fica na sua própria carteira.
Cite o evento: Colosseum, trilha Superteam Brasil.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Brasil já tem dinheiro instantâneo: o Pix.
Mas o lojista ainda paga a maquininha, e a cripto fica parada na corretora.
Conclua: o instantâneo está resolvido; a posse e a utilidade, não.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Nosso propósito, num fôlego: simples, útil para tudo, de verdade seu.
Sem banco, sem intermediário. É a promessa original da cripto; nós a tornamos usável.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Percorra o fluxo da esquerda para a direita, ~5s por passo.
Destaque o passo 2: o cliente guarda as chaves.
Passo 4: o lojista recebe em ~1 segundo, 0% para receber.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Tudo à direita já está no ar na devnet.
Se estiver gravando, corte para capturas de tela de cada produto 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o que os jurados não viram em outros projetos.
Deixa para a demo: encoste o celular na tag NFC e abra o mesmo caixa como Blink na Phantom.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que Solana: velocidade e custo tornam o pagamento no balcão possível.
As pílulas mostram a infraestrutura real: Solana Pay, Actions, Pix com mTLS,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Começamos pelo lojista: ele sente a taxa do cartão todo dia.
O cliente vem pela familiaridade com o Pix; quem já tem cripto, pelos Blinks.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Narration cue: merchant receives the full amount in SIMPAY; a 5% fee applies only when converting to Pix. The screenshot is an illustrative R$25 sale from https://simpay.tech/comerciante, not an actual customer transaction. Click the simulator in slideshow mode to play the embedded five-second clip. The same video is supplied separately. In PDF the video is shown as a static poster frame.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crescimento está dentro do produto: todo lojista e todo cliente pode indicar.
A recompensa só sai no uso real, o que barra contas falsas.
Preencha as metas de 90 dias antes de gravar.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a SimPay vai além do varejo.
A mesma infraestrutura: carteira, token e saque via Pix que já construímos.
Depois: empresas pagando empresas. Em seguida: dinheiro vindo do exterior.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pagamentos altos sem horário de corte nem atraso no fim de semana, com comprovante na blockchain.
O ciclo importa: quem recebe em SIMPAY paga fornecedores sem converter.
Remessas: menos intermediários e saque via Pix. Diga claramente que vamos operar com parceiros autorizados.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https://simpay.tech/comprar. Real public purchase-entry form, wallet address empty and amount entered only locally. No Pix charge, token delivery or payment completion was executed. Empty metrics placeholders were removed because the user has not defined traction figures and is presenting the product first.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Oferta fixa de 5 bilhões, emitida uma vez.
Metade vai para liquidez, para compra e saque sempre funcionarem.
20% voltam para a comunidade como cashback e indicações.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Estamos na Fase 1, na devnet, de propósito: provar o produto primeiro.
Em seguida: auditoria, mainnet e revogação da autoridade de emissão.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placeholders were replaced with product pillars because the user has not yet defined the team and wants to present the product before developing launch plans. Existing security and test statements are retained from the original user-provided deck, rather than independently verified in this environment.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Feche com a frase: "Pague como Pix. Seja dono como em cripto."
Convide os jurados a pagar um Blink de caixa na devnet.
Obrigado.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30F"/>
        </a:solidFill>
      </p:bgPr>
    </p:bg>
    <p:spTree>
      <p:nvGrpSpPr>
        <p:cNvPr id="1" name=""/>
        <p:cNvGrpSpPr/>
        <p:nvPr/>
      </p:nvGrpSpPr>
      <p:grpSpPr>
        <a:xfrm>
          <a:off x="0" y="0"/>
          <a:ext cx="0" cy="0"/>
          <a:chOff x="0" y="0"/>
          <a:chExt cx="0" cy="0"/>
        </a:xfrm>
      </p:grpSpPr>
      <p:pic>
        <p:nvPicPr>
          <p:cNvPr id="20" name="Image 0" descr="preencoded.png">    </p:cNvPr>
          <p:cNvPicPr>
            <a:picLocks noChangeAspect="1"/>
          </p:cNvPicPr>
          <p:nvPr/>
        </p:nvPicPr>
        <p:blipFill>
          <a:blip r:embed="rId1"/>
          <a:srcRect l="0" r="13953" t="0" b="0"/>
          <a:stretch/>
        </p:blipFill>
        <p:spPr>
          <a:xfrm>
            <a:off x="5619750" y="571500"/>
            <a:ext cx="3524250" cy="4519613"/>
          </a:xfrm>
          <a:prstGeom prst="rect">
            <a:avLst/>
          </a:prstGeom>
        </p:spPr>
      </p:pic>
      <p:pic>
        <p:nvPicPr>
          <p:cNvPr id="21" name="Image 1" descr="preencoded.png">    </p:cNvPr>
          <p:cNvPicPr>
            <a:picLocks noChangeAspect="1"/>
          </p:cNvPicPr>
          <p:nvPr/>
        </p:nvPicPr>
        <p:blipFill>
          <a:blip r:embed="rId2"/>
          <a:srcRect l="0" r="0" t="0" b="0"/>
          <a:stretch/>
        </p:blipFill>
        <p:spPr>
          <a:xfrm>
            <a:off x="571500" y="457200"/>
            <a:ext cx="1514475" cy="381000"/>
          </a:xfrm>
          <a:prstGeom prst="rect">
            <a:avLst/>
          </a:prstGeom>
        </p:spPr>
      </p:pic>
      <p:sp>
        <p:nvSpPr>
          <p:cNvPr id="25" name="TextBox 24"/>
          <p:cNvSpPr txBox="1"/>
          <p:nvPr/>
        </p:nvSpPr>
        <p:spPr>
          <a:xfrm>
            <a:off x="571500" y="1571625"/>
            <a:ext cx="457200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SOLANA  ·  COLOSSEUM 2026  ·  SUPERTEAM BRASIL</a:t>
            </a:r>
          </a:p>
        </p:txBody>
      </p:sp>
      <p:sp>
        <p:nvSpPr>
          <p:cNvPr id="23" name="Text 18"/>
          <p:cNvSpPr/>
          <p:nvPr/>
        </p:nvSpPr>
        <p:spPr>
          <a:xfrm>
            <a:off x="571500" y="1866900"/>
            <a:ext cx="5048250" cy="2114550"/>
          </a:xfrm>
          <a:prstGeom prst="rect">
            <a:avLst/>
          </a:prstGeom>
          <a:noFill/>
          <a:ln/>
        </p:spPr>
        <p:txBody>
          <a:bodyPr wrap="square" lIns="0" tIns="0" rIns="0" bIns="0" rtlCol="0" anchor="t"/>
          <a:lstStyle/>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Cripto com</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propósito real,</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nas mãos de</a:t>
            </a:r>
            <a:endParaRPr lang="en-US" sz="4133" dirty="0"/>
          </a:p>
          <a:p>
            <a:pPr algn="l" indent="0" marL="0">
              <a:lnSpc>
                <a:spcPts val="3967"/>
              </a:lnSpc>
              <a:buNone/>
            </a:pPr>
            <a:r>
              <a:rPr lang="en-US" sz="4133" b="1" spc="-145" kern="0" dirty="0">
                <a:solidFill>
                  <a:srgbClr val="F7F7F2">
                    <a:alpha val="99000"/>
                  </a:srgbClr>
                </a:solidFill>
                <a:latin typeface="Inter" pitchFamily="34" charset="0"/>
                <a:ea typeface="Inter" pitchFamily="34" charset="-122"/>
                <a:cs typeface="Inter" pitchFamily="34" charset="-120"/>
              </a:rPr>
              <a:t>quem é dono.</a:t>
            </a:r>
            <a:endParaRPr lang="en-US" sz="4133" dirty="0"/>
          </a:p>
        </p:txBody>
      </p:sp>
      <p:sp>
        <p:nvSpPr>
          <p:cNvPr id="24" name="Text 19"/>
          <p:cNvSpPr/>
          <p:nvPr/>
        </p:nvSpPr>
        <p:spPr>
          <a:xfrm>
            <a:off x="571500" y="4333875"/>
            <a:ext cx="4762500" cy="195263"/>
          </a:xfrm>
          <a:prstGeom prst="rect">
            <a:avLst/>
          </a:prstGeom>
          <a:noFill/>
          <a:ln/>
        </p:spPr>
        <p:txBody>
          <a:bodyPr wrap="square" lIns="0" tIns="0" rIns="0" bIns="0" rtlCol="0" anchor="t"/>
          <a:lstStyle/>
          <a:p>
            <a:pPr algn="l" indent="0" marL="0">
              <a:lnSpc>
                <a:spcPts val="1466"/>
              </a:lnSpc>
              <a:buNone/>
            </a:pPr>
            <a:r>
              <a:rPr lang="en-US" sz="1211" dirty="0">
                <a:solidFill>
                  <a:srgbClr val="B2BDB2">
                    <a:alpha val="99000"/>
                  </a:srgbClr>
                </a:solidFill>
                <a:latin typeface="Inter" pitchFamily="34" charset="0"/>
                <a:ea typeface="Inter" pitchFamily="34" charset="-122"/>
                <a:cs typeface="Inter" pitchFamily="34" charset="-120"/>
              </a:rPr>
              <a:t>Compre com Pix. Pague com um toque. A chave é sua.</a:t>
            </a:r>
            <a:endParaRPr lang="en-US" sz="121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2"/>
        </a:solidFill>
      </p:bgPr>
    </p:bg>
    <p:spTree>
      <p:nvGrpSpPr>
        <p:cNvPr id="1" name=""/>
        <p:cNvGrpSpPr/>
        <p:nvPr/>
      </p:nvGrpSpPr>
      <p:grpSpPr>
        <a:xfrm>
          <a:off x="0" y="0"/>
          <a:ext cx="0" cy="0"/>
          <a:chOff x="0" y="0"/>
          <a:chExt cx="0" cy="0"/>
        </a:xfrm>
      </p:grpSpPr>
      <p:sp>
        <p:nvSpPr>
          <p:cNvPr id="23" name="TextBox 2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01 — O PROBLEMA</a:t>
            </a:r>
          </a:p>
        </p:txBody>
      </p:sp>
      <p:sp>
        <p:nvSpPr>
          <p:cNvPr id="8" name="Text 5"/>
          <p:cNvSpPr/>
          <p:nvPr/>
        </p:nvSpPr>
        <p:spPr>
          <a:xfrm>
            <a:off x="571500" y="809625"/>
            <a:ext cx="6191250" cy="1285875"/>
          </a:xfrm>
          <a:prstGeom prst="rect">
            <a:avLst/>
          </a:prstGeom>
          <a:noFill/>
          <a:ln/>
        </p:spPr>
        <p:txBody>
          <a:bodyPr wrap="square" lIns="0" tIns="0" rIns="0" bIns="0" rtlCol="0" anchor="t"/>
          <a:lstStyle/>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O Brasil paga na hora.</a:t>
            </a:r>
            <a:endParaRPr lang="en-US" sz="3278" dirty="0"/>
          </a:p>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Mas ainda não é dono</a:t>
            </a:r>
            <a:endParaRPr lang="en-US" sz="3278" dirty="0"/>
          </a:p>
          <a:p>
            <a:pPr algn="l" indent="0" marL="0">
              <a:lnSpc>
                <a:spcPts val="3212"/>
              </a:lnSpc>
              <a:buNone/>
            </a:pPr>
            <a:r>
              <a:rPr lang="en-US" sz="3278" b="1" spc="-98" kern="0" dirty="0">
                <a:solidFill>
                  <a:srgbClr val="0E130F">
                    <a:alpha val="99000"/>
                  </a:srgbClr>
                </a:solidFill>
                <a:latin typeface="Inter" pitchFamily="34" charset="0"/>
                <a:ea typeface="Inter" pitchFamily="34" charset="-122"/>
                <a:cs typeface="Inter" pitchFamily="34" charset="-120"/>
              </a:rPr>
              <a:t>do próprio dinheiro.</a:t>
            </a:r>
            <a:endParaRPr lang="en-US" sz="3278" dirty="0"/>
          </a:p>
        </p:txBody>
      </p:sp>
      <p:sp>
        <p:nvSpPr>
          <p:cNvPr id="9" name="Shape 6"/>
          <p:cNvSpPr/>
          <p:nvPr/>
        </p:nvSpPr>
        <p:spPr>
          <a:xfrm>
            <a:off x="571500" y="3143250"/>
            <a:ext cx="2286000" cy="19050"/>
          </a:xfrm>
          <a:prstGeom prst="rect">
            <a:avLst/>
          </a:prstGeom>
          <a:solidFill>
            <a:srgbClr val="0E130F"/>
          </a:solidFill>
          <a:ln/>
        </p:spPr>
        <p:txBody>
          <a:bodyPr/>
          <a:p/>
        </p:txBody>
      </p:sp>
      <p:sp>
        <p:nvSpPr>
          <p:cNvPr id="24" name="TextBox 23"/>
          <p:cNvSpPr txBox="1"/>
          <p:nvPr/>
        </p:nvSpPr>
        <p:spPr>
          <a:xfrm>
            <a:off x="571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01</a:t>
            </a:r>
          </a:p>
        </p:txBody>
      </p:sp>
      <p:sp>
        <p:nvSpPr>
          <p:cNvPr id="11" name="Text 8"/>
          <p:cNvSpPr/>
          <p:nvPr/>
        </p:nvSpPr>
        <p:spPr>
          <a:xfrm>
            <a:off x="571500" y="3467100"/>
            <a:ext cx="2286000" cy="3810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Intermediários em toda venda</a:t>
            </a:r>
            <a:endParaRPr lang="en-US" sz="1283" dirty="0"/>
          </a:p>
        </p:txBody>
      </p:sp>
      <p:sp>
        <p:nvSpPr>
          <p:cNvPr id="12" name="Text 9"/>
          <p:cNvSpPr/>
          <p:nvPr/>
        </p:nvSpPr>
        <p:spPr>
          <a:xfrm>
            <a:off x="571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A maquininha fica com uma parte de cada venda e segura o dinheiro do lojista por dias.</a:t>
            </a:r>
            <a:endParaRPr lang="en-US" sz="926" dirty="0"/>
          </a:p>
        </p:txBody>
      </p:sp>
      <p:sp>
        <p:nvSpPr>
          <p:cNvPr id="13" name="Shape 10"/>
          <p:cNvSpPr/>
          <p:nvPr/>
        </p:nvSpPr>
        <p:spPr>
          <a:xfrm>
            <a:off x="3238500" y="3143250"/>
            <a:ext cx="2286000" cy="19050"/>
          </a:xfrm>
          <a:prstGeom prst="rect">
            <a:avLst/>
          </a:prstGeom>
          <a:solidFill>
            <a:srgbClr val="0E130F"/>
          </a:solidFill>
          <a:ln/>
        </p:spPr>
        <p:txBody>
          <a:bodyPr/>
          <a:p/>
        </p:txBody>
      </p:sp>
      <p:sp>
        <p:nvSpPr>
          <p:cNvPr id="25" name="TextBox 24"/>
          <p:cNvSpPr txBox="1"/>
          <p:nvPr/>
        </p:nvSpPr>
        <p:spPr>
          <a:xfrm>
            <a:off x="3238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02</a:t>
            </a:r>
          </a:p>
        </p:txBody>
      </p:sp>
      <p:sp>
        <p:nvSpPr>
          <p:cNvPr id="15" name="Text 12"/>
          <p:cNvSpPr/>
          <p:nvPr/>
        </p:nvSpPr>
        <p:spPr>
          <a:xfrm>
            <a:off x="3238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Cripto sem uso real</a:t>
            </a:r>
            <a:endParaRPr lang="en-US" sz="1283" dirty="0"/>
          </a:p>
        </p:txBody>
      </p:sp>
      <p:sp>
        <p:nvSpPr>
          <p:cNvPr id="16" name="Text 13"/>
          <p:cNvSpPr/>
          <p:nvPr/>
        </p:nvSpPr>
        <p:spPr>
          <a:xfrm>
            <a:off x="3238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A maioria dos tokens fica parada em corretoras. Não dá para comprar um café com eles.</a:t>
            </a:r>
            <a:endParaRPr lang="en-US" sz="926" dirty="0"/>
          </a:p>
        </p:txBody>
      </p:sp>
      <p:sp>
        <p:nvSpPr>
          <p:cNvPr id="17" name="Shape 14"/>
          <p:cNvSpPr/>
          <p:nvPr/>
        </p:nvSpPr>
        <p:spPr>
          <a:xfrm>
            <a:off x="5905500" y="3143250"/>
            <a:ext cx="2286000" cy="19050"/>
          </a:xfrm>
          <a:prstGeom prst="rect">
            <a:avLst/>
          </a:prstGeom>
          <a:solidFill>
            <a:srgbClr val="0E130F"/>
          </a:solidFill>
          <a:ln/>
        </p:spPr>
        <p:txBody>
          <a:bodyPr/>
          <a:p/>
        </p:txBody>
      </p:sp>
      <p:sp>
        <p:nvSpPr>
          <p:cNvPr id="26" name="TextBox 25"/>
          <p:cNvSpPr txBox="1"/>
          <p:nvPr/>
        </p:nvSpPr>
        <p:spPr>
          <a:xfrm>
            <a:off x="5905500" y="3276600"/>
            <a:ext cx="178308" cy="185115"/>
          </a:xfrm>
          <a:prstGeom prst="rect">
            <a:avLst/>
          </a:prstGeom>
          <a:noFill/>
        </p:spPr>
        <p:txBody>
          <a:bodyPr wrap="none" lIns="0" tIns="0" rIns="0" bIns="0">
            <a:noAutofit/>
          </a:bodyPr>
          <a:lstStyle/>
          <a:p>
            <a:pPr>
              <a:lnSpc>
                <a:spcPts val="956"/>
              </a:lnSpc>
              <a:defRPr sz="784" b="1">
                <a:solidFill>
                  <a:srgbClr val="545C54"/>
                </a:solidFill>
                <a:latin typeface="JetBrains Mono"/>
              </a:defRPr>
            </a:pPr>
            <a:r>
              <a:t>03</a:t>
            </a:r>
          </a:p>
        </p:txBody>
      </p:sp>
      <p:sp>
        <p:nvSpPr>
          <p:cNvPr id="19" name="Text 16"/>
          <p:cNvSpPr/>
          <p:nvPr/>
        </p:nvSpPr>
        <p:spPr>
          <a:xfrm>
            <a:off x="5905500" y="3467100"/>
            <a:ext cx="2286000" cy="190500"/>
          </a:xfrm>
          <a:prstGeom prst="rect">
            <a:avLst/>
          </a:prstGeom>
          <a:noFill/>
          <a:ln/>
        </p:spPr>
        <p:txBody>
          <a:bodyPr wrap="square" lIns="0" tIns="0" rIns="0" bIns="0" rtlCol="0" anchor="t"/>
          <a:lstStyle/>
          <a:p>
            <a:pPr algn="l" indent="0" marL="0">
              <a:lnSpc>
                <a:spcPts val="1436"/>
              </a:lnSpc>
              <a:buNone/>
            </a:pPr>
            <a:r>
              <a:rPr lang="en-US" sz="1283" b="1" spc="-13" kern="0" dirty="0">
                <a:solidFill>
                  <a:srgbClr val="0E130F">
                    <a:alpha val="99000"/>
                  </a:srgbClr>
                </a:solidFill>
                <a:latin typeface="Inter" pitchFamily="34" charset="0"/>
                <a:ea typeface="Inter" pitchFamily="34" charset="-122"/>
                <a:cs typeface="Inter" pitchFamily="34" charset="-120"/>
              </a:rPr>
              <a:t>Chaves nas mãos de outro</a:t>
            </a:r>
            <a:endParaRPr lang="en-US" sz="1283" dirty="0"/>
          </a:p>
        </p:txBody>
      </p:sp>
      <p:sp>
        <p:nvSpPr>
          <p:cNvPr id="20" name="Text 17"/>
          <p:cNvSpPr/>
          <p:nvPr/>
        </p:nvSpPr>
        <p:spPr>
          <a:xfrm>
            <a:off x="5905500" y="3905250"/>
            <a:ext cx="2190750" cy="514350"/>
          </a:xfrm>
          <a:prstGeom prst="rect">
            <a:avLst/>
          </a:prstGeom>
          <a:noFill/>
          <a:ln/>
        </p:spPr>
        <p:txBody>
          <a:bodyPr wrap="square" lIns="0" tIns="0" rIns="0" bIns="0" rtlCol="0" anchor="t"/>
          <a:lstStyle/>
          <a:p>
            <a:pPr algn="l" indent="0" marL="0">
              <a:lnSpc>
                <a:spcPts val="1297"/>
              </a:lnSpc>
              <a:buNone/>
            </a:pPr>
            <a:r>
              <a:rPr lang="en-US" sz="926" dirty="0">
                <a:solidFill>
                  <a:srgbClr val="545C54">
                    <a:alpha val="99000"/>
                  </a:srgbClr>
                </a:solidFill>
                <a:latin typeface="Inter" pitchFamily="34" charset="0"/>
                <a:ea typeface="Inter" pitchFamily="34" charset="-122"/>
                <a:cs typeface="Inter" pitchFamily="34" charset="-120"/>
              </a:rPr>
              <a:t>Comprar cripto quase sempre significa deixar as chaves, e o dinheiro, com uma corretora.</a:t>
            </a:r>
            <a:endParaRPr lang="en-US" sz="926" dirty="0"/>
          </a:p>
        </p:txBody>
      </p:sp>
      <p:sp>
        <p:nvSpPr>
          <p:cNvPr id="27" name="TextBox 26"/>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28" name="TextBox 27"/>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BDF06B"/>
        </a:solidFill>
      </p:bgPr>
    </p:bg>
    <p:spTree>
      <p:nvGrpSpPr>
        <p:cNvPr id="1" name=""/>
        <p:cNvGrpSpPr/>
        <p:nvPr/>
      </p:nvGrpSpPr>
      <p:grpSpPr>
        <a:xfrm>
          <a:off x="0" y="0"/>
          <a:ext cx="0" cy="0"/>
          <a:chOff x="0" y="0"/>
          <a:chExt cx="0" cy="0"/>
        </a:xfrm>
      </p:grpSpPr>
      <p:pic>
        <p:nvPicPr>
          <p:cNvPr id="25" name="Image 0" descr="preencoded.png">    </p:cNvPr>
          <p:cNvPicPr>
            <a:picLocks noChangeAspect="1"/>
          </p:cNvPicPr>
          <p:nvPr/>
        </p:nvPicPr>
        <p:blipFill>
          <a:blip r:embed="rId1"/>
          <a:srcRect l="0" r="11429" t="0" b="20984"/>
          <a:stretch/>
        </p:blipFill>
        <p:spPr>
          <a:xfrm>
            <a:off x="6191250" y="2238375"/>
            <a:ext cx="2952750" cy="2905125"/>
          </a:xfrm>
          <a:prstGeom prst="rect">
            <a:avLst/>
          </a:prstGeom>
        </p:spPr>
      </p:pic>
      <p:sp>
        <p:nvSpPr>
          <p:cNvPr id="29" name="TextBox 28"/>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0E130F"/>
                </a:solidFill>
                <a:latin typeface="JetBrains Mono"/>
              </a:defRPr>
            </a:pPr>
            <a:r>
              <a:t>02 — NOSSO PROPÓSITO</a:t>
            </a:r>
          </a:p>
        </p:txBody>
      </p:sp>
      <p:sp>
        <p:nvSpPr>
          <p:cNvPr id="27" name="Text 23"/>
          <p:cNvSpPr/>
          <p:nvPr/>
        </p:nvSpPr>
        <p:spPr>
          <a:xfrm>
            <a:off x="571500" y="904875"/>
            <a:ext cx="6191250" cy="1866900"/>
          </a:xfrm>
          <a:prstGeom prst="rect">
            <a:avLst/>
          </a:prstGeom>
          <a:noFill/>
          <a:ln/>
        </p:spPr>
        <p:txBody>
          <a:bodyPr wrap="square" lIns="0" tIns="0" rIns="0" bIns="0" rtlCol="0" anchor="t"/>
          <a:lstStyle/>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Tornar a cripto simples,</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útil para tudo e de</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verdade de quem</a:t>
            </a:r>
            <a:endParaRPr lang="en-US" sz="3563" dirty="0"/>
          </a:p>
          <a:p>
            <a:pPr algn="l" indent="0" marL="0">
              <a:lnSpc>
                <a:spcPts val="3491"/>
              </a:lnSpc>
              <a:buNone/>
            </a:pPr>
            <a:r>
              <a:rPr lang="en-US" sz="3563" b="1" spc="-125" kern="0" dirty="0">
                <a:solidFill>
                  <a:srgbClr val="0E130F">
                    <a:alpha val="99000"/>
                  </a:srgbClr>
                </a:solidFill>
                <a:latin typeface="Inter" pitchFamily="34" charset="0"/>
                <a:ea typeface="Inter" pitchFamily="34" charset="-122"/>
                <a:cs typeface="Inter" pitchFamily="34" charset="-120"/>
              </a:rPr>
              <a:t>a possui.</a:t>
            </a:r>
            <a:endParaRPr lang="en-US" sz="3563" dirty="0"/>
          </a:p>
        </p:txBody>
      </p:sp>
      <p:sp>
        <p:nvSpPr>
          <p:cNvPr id="28" name="Text 24"/>
          <p:cNvSpPr/>
          <p:nvPr/>
        </p:nvSpPr>
        <p:spPr>
          <a:xfrm>
            <a:off x="571500" y="4095750"/>
            <a:ext cx="5238750" cy="209550"/>
          </a:xfrm>
          <a:prstGeom prst="rect">
            <a:avLst/>
          </a:prstGeom>
          <a:noFill/>
          <a:ln/>
        </p:spPr>
        <p:txBody>
          <a:bodyPr wrap="square" lIns="0" tIns="0" rIns="0" bIns="0" rtlCol="0" anchor="t"/>
          <a:lstStyle/>
          <a:p>
            <a:pPr algn="l" indent="0" marL="0">
              <a:lnSpc>
                <a:spcPts val="1552"/>
              </a:lnSpc>
              <a:buNone/>
            </a:pPr>
            <a:r>
              <a:rPr lang="en-US" sz="1283" b="1" dirty="0">
                <a:solidFill>
                  <a:srgbClr val="0E130F">
                    <a:alpha val="99000"/>
                  </a:srgbClr>
                </a:solidFill>
                <a:latin typeface="Inter" pitchFamily="34" charset="0"/>
                <a:ea typeface="Inter" pitchFamily="34" charset="-122"/>
                <a:cs typeface="Inter" pitchFamily="34" charset="-120"/>
              </a:rPr>
              <a:t>Sem banco. Sem intermediário. Só você e sua carteira.</a:t>
            </a:r>
            <a:endParaRPr lang="en-US" sz="1283"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30F"/>
        </a:solidFill>
      </p:bgPr>
    </p:bg>
    <p:spTree>
      <p:nvGrpSpPr>
        <p:cNvPr id="1" name=""/>
        <p:cNvGrpSpPr/>
        <p:nvPr/>
      </p:nvGrpSpPr>
      <p:grpSpPr>
        <a:xfrm>
          <a:off x="0" y="0"/>
          <a:ext cx="0" cy="0"/>
          <a:chOff x="0" y="0"/>
          <a:chExt cx="0" cy="0"/>
        </a:xfrm>
      </p:grpSpPr>
      <p:sp>
        <p:nvSpPr>
          <p:cNvPr id="46" name="TextBox 45"/>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03 — COMO FUNCIONA</a:t>
            </a:r>
          </a:p>
        </p:txBody>
      </p:sp>
      <p:sp>
        <p:nvSpPr>
          <p:cNvPr id="25" name="Text 22"/>
          <p:cNvSpPr/>
          <p:nvPr/>
        </p:nvSpPr>
        <p:spPr>
          <a:xfrm>
            <a:off x="571500" y="809625"/>
            <a:ext cx="61912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Do Pix ao balcão</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em quatro passos.</a:t>
            </a:r>
            <a:endParaRPr lang="en-US" sz="2708" dirty="0"/>
          </a:p>
        </p:txBody>
      </p:sp>
      <p:sp>
        <p:nvSpPr>
          <p:cNvPr id="26" name="Shape 23"/>
          <p:cNvSpPr/>
          <p:nvPr/>
        </p:nvSpPr>
        <p:spPr>
          <a:xfrm>
            <a:off x="762000" y="2686050"/>
            <a:ext cx="7429500" cy="19050"/>
          </a:xfrm>
          <a:prstGeom prst="rect">
            <a:avLst/>
          </a:prstGeom>
          <a:solidFill>
            <a:srgbClr val="333D33"/>
          </a:solidFill>
          <a:ln/>
        </p:spPr>
        <p:txBody>
          <a:bodyPr/>
          <a:p/>
        </p:txBody>
      </p:sp>
      <p:sp>
        <p:nvSpPr>
          <p:cNvPr id="27" name="Shape 24"/>
          <p:cNvSpPr/>
          <p:nvPr/>
        </p:nvSpPr>
        <p:spPr>
          <a:xfrm>
            <a:off x="762000" y="2686050"/>
            <a:ext cx="5572125" cy="19050"/>
          </a:xfrm>
          <a:prstGeom prst="rect">
            <a:avLst/>
          </a:prstGeom>
          <a:solidFill>
            <a:srgbClr val="BDF06B"/>
          </a:solidFill>
          <a:ln/>
        </p:spPr>
        <p:txBody>
          <a:bodyPr/>
          <a:p/>
        </p:txBody>
      </p:sp>
      <p:sp>
        <p:nvSpPr>
          <p:cNvPr id="28" name="Shape 25"/>
          <p:cNvSpPr/>
          <p:nvPr/>
        </p:nvSpPr>
        <p:spPr>
          <a:xfrm>
            <a:off x="571500" y="2505075"/>
            <a:ext cx="381000" cy="381000"/>
          </a:xfrm>
          <a:prstGeom prst="ellipse">
            <a:avLst/>
          </a:prstGeom>
          <a:solidFill>
            <a:srgbClr val="0E130F"/>
          </a:solidFill>
          <a:ln w="13573">
            <a:solidFill>
              <a:srgbClr val="BDF06B"/>
            </a:solidFill>
            <a:prstDash val="solid"/>
          </a:ln>
        </p:spPr>
        <p:txBody>
          <a:bodyPr/>
          <a:p/>
        </p:txBody>
      </p:sp>
      <p:sp>
        <p:nvSpPr>
          <p:cNvPr id="47" name="TextBox 46"/>
          <p:cNvSpPr txBox="1"/>
          <p:nvPr/>
        </p:nvSpPr>
        <p:spPr>
          <a:xfrm>
            <a:off x="719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1</a:t>
            </a:r>
          </a:p>
        </p:txBody>
      </p:sp>
      <p:sp>
        <p:nvSpPr>
          <p:cNvPr id="30" name="Text 27"/>
          <p:cNvSpPr/>
          <p:nvPr/>
        </p:nvSpPr>
        <p:spPr>
          <a:xfrm>
            <a:off x="571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Compre com Pix</a:t>
            </a:r>
            <a:endParaRPr lang="en-US" sz="1354" dirty="0"/>
          </a:p>
        </p:txBody>
      </p:sp>
      <p:sp>
        <p:nvSpPr>
          <p:cNvPr id="31" name="Text 28"/>
          <p:cNvSpPr/>
          <p:nvPr/>
        </p:nvSpPr>
        <p:spPr>
          <a:xfrm>
            <a:off x="571500" y="3390900"/>
            <a:ext cx="1571625" cy="68580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Pague um Pix e receba SIMPAY na sua própria carteira Solana em segundos.</a:t>
            </a:r>
            <a:endParaRPr lang="en-US" sz="926" dirty="0"/>
          </a:p>
        </p:txBody>
      </p:sp>
      <p:sp>
        <p:nvSpPr>
          <p:cNvPr id="32" name="Shape 29"/>
          <p:cNvSpPr/>
          <p:nvPr/>
        </p:nvSpPr>
        <p:spPr>
          <a:xfrm>
            <a:off x="2476500" y="2505075"/>
            <a:ext cx="381000" cy="381000"/>
          </a:xfrm>
          <a:prstGeom prst="ellipse">
            <a:avLst/>
          </a:prstGeom>
          <a:solidFill>
            <a:srgbClr val="0E130F"/>
          </a:solidFill>
          <a:ln w="13573">
            <a:solidFill>
              <a:srgbClr val="BDF06B"/>
            </a:solidFill>
            <a:prstDash val="solid"/>
          </a:ln>
        </p:spPr>
        <p:txBody>
          <a:bodyPr/>
          <a:p/>
        </p:txBody>
      </p:sp>
      <p:sp>
        <p:nvSpPr>
          <p:cNvPr id="48" name="TextBox 47"/>
          <p:cNvSpPr txBox="1"/>
          <p:nvPr/>
        </p:nvSpPr>
        <p:spPr>
          <a:xfrm>
            <a:off x="2624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2</a:t>
            </a:r>
          </a:p>
        </p:txBody>
      </p:sp>
      <p:sp>
        <p:nvSpPr>
          <p:cNvPr id="34" name="Text 31"/>
          <p:cNvSpPr/>
          <p:nvPr/>
        </p:nvSpPr>
        <p:spPr>
          <a:xfrm>
            <a:off x="2476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É seu</a:t>
            </a:r>
            <a:endParaRPr lang="en-US" sz="1354" dirty="0"/>
          </a:p>
        </p:txBody>
      </p:sp>
      <p:sp>
        <p:nvSpPr>
          <p:cNvPr id="35" name="Text 32"/>
          <p:cNvSpPr/>
          <p:nvPr/>
        </p:nvSpPr>
        <p:spPr>
          <a:xfrm>
            <a:off x="2476500" y="3390900"/>
            <a:ext cx="1571625" cy="59436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Carteira com autocustódia. Suas chaves, com recuperação por PIN de seis dígitos.</a:t>
            </a:r>
            <a:endParaRPr lang="en-US" sz="926" dirty="0"/>
          </a:p>
        </p:txBody>
      </p:sp>
      <p:sp>
        <p:nvSpPr>
          <p:cNvPr id="36" name="Shape 33"/>
          <p:cNvSpPr/>
          <p:nvPr/>
        </p:nvSpPr>
        <p:spPr>
          <a:xfrm>
            <a:off x="4381500" y="2505075"/>
            <a:ext cx="381000" cy="381000"/>
          </a:xfrm>
          <a:prstGeom prst="ellipse">
            <a:avLst/>
          </a:prstGeom>
          <a:solidFill>
            <a:srgbClr val="0E130F"/>
          </a:solidFill>
          <a:ln w="13573">
            <a:solidFill>
              <a:srgbClr val="BDF06B"/>
            </a:solidFill>
            <a:prstDash val="solid"/>
          </a:ln>
        </p:spPr>
        <p:txBody>
          <a:bodyPr/>
          <a:p/>
        </p:txBody>
      </p:sp>
      <p:sp>
        <p:nvSpPr>
          <p:cNvPr id="49" name="TextBox 48"/>
          <p:cNvSpPr txBox="1"/>
          <p:nvPr/>
        </p:nvSpPr>
        <p:spPr>
          <a:xfrm>
            <a:off x="4529138" y="2614613"/>
            <a:ext cx="138273" cy="223164"/>
          </a:xfrm>
          <a:prstGeom prst="rect">
            <a:avLst/>
          </a:prstGeom>
          <a:noFill/>
        </p:spPr>
        <p:txBody>
          <a:bodyPr wrap="none" lIns="0" tIns="0" rIns="0" bIns="0">
            <a:noAutofit/>
          </a:bodyPr>
          <a:lstStyle/>
          <a:p>
            <a:pPr>
              <a:lnSpc>
                <a:spcPts val="1217"/>
              </a:lnSpc>
              <a:defRPr sz="998" b="1">
                <a:solidFill>
                  <a:srgbClr val="BDF06B"/>
                </a:solidFill>
                <a:latin typeface="JetBrains Mono"/>
              </a:defRPr>
            </a:pPr>
            <a:r>
              <a:t>3</a:t>
            </a:r>
          </a:p>
        </p:txBody>
      </p:sp>
      <p:sp>
        <p:nvSpPr>
          <p:cNvPr id="38" name="Text 35"/>
          <p:cNvSpPr/>
          <p:nvPr/>
        </p:nvSpPr>
        <p:spPr>
          <a:xfrm>
            <a:off x="4381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Encoste e pague</a:t>
            </a:r>
            <a:endParaRPr lang="en-US" sz="1354" dirty="0"/>
          </a:p>
        </p:txBody>
      </p:sp>
      <p:sp>
        <p:nvSpPr>
          <p:cNvPr id="39" name="Text 36"/>
          <p:cNvSpPr/>
          <p:nvPr/>
        </p:nvSpPr>
        <p:spPr>
          <a:xfrm>
            <a:off x="4381500" y="3390900"/>
            <a:ext cx="1571625" cy="51435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Leia o QR, encoste na tag NFC do caixa ou pague um Blink pela Phantom.</a:t>
            </a:r>
            <a:endParaRPr lang="en-US" sz="926" dirty="0"/>
          </a:p>
        </p:txBody>
      </p:sp>
      <p:sp>
        <p:nvSpPr>
          <p:cNvPr id="40" name="Shape 37"/>
          <p:cNvSpPr/>
          <p:nvPr/>
        </p:nvSpPr>
        <p:spPr>
          <a:xfrm>
            <a:off x="6286500" y="2505075"/>
            <a:ext cx="381000" cy="381000"/>
          </a:xfrm>
          <a:prstGeom prst="ellipse">
            <a:avLst/>
          </a:prstGeom>
          <a:solidFill>
            <a:srgbClr val="BDF06B"/>
          </a:solidFill>
          <a:ln w="13573">
            <a:solidFill>
              <a:srgbClr val="BDF06B"/>
            </a:solidFill>
            <a:prstDash val="solid"/>
          </a:ln>
        </p:spPr>
        <p:txBody>
          <a:bodyPr/>
          <a:p/>
        </p:txBody>
      </p:sp>
      <p:sp>
        <p:nvSpPr>
          <p:cNvPr id="50" name="TextBox 49"/>
          <p:cNvSpPr txBox="1"/>
          <p:nvPr/>
        </p:nvSpPr>
        <p:spPr>
          <a:xfrm>
            <a:off x="6434138" y="2614613"/>
            <a:ext cx="138273" cy="223164"/>
          </a:xfrm>
          <a:prstGeom prst="rect">
            <a:avLst/>
          </a:prstGeom>
          <a:noFill/>
        </p:spPr>
        <p:txBody>
          <a:bodyPr wrap="none" lIns="0" tIns="0" rIns="0" bIns="0">
            <a:noAutofit/>
          </a:bodyPr>
          <a:lstStyle/>
          <a:p>
            <a:pPr>
              <a:lnSpc>
                <a:spcPts val="1217"/>
              </a:lnSpc>
              <a:defRPr sz="998" b="1">
                <a:solidFill>
                  <a:srgbClr val="0E130F"/>
                </a:solidFill>
                <a:latin typeface="JetBrains Mono"/>
              </a:defRPr>
            </a:pPr>
            <a:r>
              <a:t>4</a:t>
            </a:r>
          </a:p>
        </p:txBody>
      </p:sp>
      <p:sp>
        <p:nvSpPr>
          <p:cNvPr id="42" name="Text 39"/>
          <p:cNvSpPr/>
          <p:nvPr/>
        </p:nvSpPr>
        <p:spPr>
          <a:xfrm>
            <a:off x="6286500" y="3095625"/>
            <a:ext cx="16192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F7F7F2">
                    <a:alpha val="99000"/>
                  </a:srgbClr>
                </a:solidFill>
                <a:latin typeface="Inter" pitchFamily="34" charset="0"/>
                <a:ea typeface="Inter" pitchFamily="34" charset="-122"/>
                <a:cs typeface="Inter" pitchFamily="34" charset="-120"/>
              </a:rPr>
              <a:t>Lojista recebe</a:t>
            </a:r>
            <a:endParaRPr lang="en-US" sz="1354" dirty="0"/>
          </a:p>
        </p:txBody>
      </p:sp>
      <p:sp>
        <p:nvSpPr>
          <p:cNvPr id="43" name="Text 40"/>
          <p:cNvSpPr/>
          <p:nvPr/>
        </p:nvSpPr>
        <p:spPr>
          <a:xfrm>
            <a:off x="6286500" y="3390900"/>
            <a:ext cx="1571625" cy="685800"/>
          </a:xfrm>
          <a:prstGeom prst="rect">
            <a:avLst/>
          </a:prstGeom>
          <a:noFill/>
          <a:ln/>
        </p:spPr>
        <p:txBody>
          <a:bodyPr wrap="square" lIns="0" tIns="0" rIns="0" bIns="0" rtlCol="0" anchor="t"/>
          <a:lstStyle/>
          <a:p>
            <a:pPr algn="l" indent="0" marL="0">
              <a:lnSpc>
                <a:spcPts val="1297"/>
              </a:lnSpc>
              <a:buNone/>
            </a:pPr>
            <a:r>
              <a:rPr lang="en-US" sz="926" dirty="0">
                <a:solidFill>
                  <a:srgbClr val="B2BDB2">
                    <a:alpha val="99000"/>
                  </a:srgbClr>
                </a:solidFill>
                <a:latin typeface="Inter" pitchFamily="34" charset="0"/>
                <a:ea typeface="Inter" pitchFamily="34" charset="-122"/>
                <a:cs typeface="Inter" pitchFamily="34" charset="-120"/>
              </a:rPr>
              <a:t>Confirmado em cerca de 1 segundo. 0% para receber. Saque via Pix quando quiser.</a:t>
            </a:r>
            <a:endParaRPr lang="en-US" sz="926" dirty="0"/>
          </a:p>
        </p:txBody>
      </p:sp>
      <p:sp>
        <p:nvSpPr>
          <p:cNvPr id="51" name="TextBox 50"/>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52" name="TextBox 51"/>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2"/>
        </a:solidFill>
      </p:bgPr>
    </p:bg>
    <p:spTree>
      <p:nvGrpSpPr>
        <p:cNvPr id="1" name=""/>
        <p:cNvGrpSpPr/>
        <p:nvPr/>
      </p:nvGrpSpPr>
      <p:grpSpPr>
        <a:xfrm>
          <a:off x="0" y="0"/>
          <a:ext cx="0" cy="0"/>
          <a:chOff x="0" y="0"/>
          <a:chExt cx="0" cy="0"/>
        </a:xfrm>
      </p:grpSpPr>
      <p:sp>
        <p:nvSpPr>
          <p:cNvPr id="43" name="TextBox 4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04 — O PRODUTO</a:t>
            </a:r>
          </a:p>
        </p:txBody>
      </p:sp>
      <p:sp>
        <p:nvSpPr>
          <p:cNvPr id="23" name="Text 20"/>
          <p:cNvSpPr/>
          <p:nvPr/>
        </p:nvSpPr>
        <p:spPr>
          <a:xfrm>
            <a:off x="571500" y="809625"/>
            <a:ext cx="3048000" cy="1562100"/>
          </a:xfrm>
          <a:prstGeom prst="rect">
            <a:avLst/>
          </a:prstGeom>
          <a:noFill/>
          <a:ln/>
        </p:spPr>
        <p:txBody>
          <a:bodyPr wrap="square" lIns="0" tIns="0" rIns="0" bIns="0" rtlCol="0" anchor="t"/>
          <a:lstStyle/>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Uma rede.</a:t>
            </a:r>
            <a:endParaRPr lang="en-US" sz="2992" dirty="0"/>
          </a:p>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Quatro produtos.</a:t>
            </a:r>
            <a:endParaRPr lang="en-US" sz="2992" dirty="0"/>
          </a:p>
          <a:p>
            <a:pPr algn="l" indent="0" marL="0">
              <a:lnSpc>
                <a:spcPts val="2933"/>
              </a:lnSpc>
              <a:buNone/>
            </a:pPr>
            <a:r>
              <a:rPr lang="en-US" sz="2992" b="1" spc="-90" kern="0" dirty="0">
                <a:solidFill>
                  <a:srgbClr val="0E130F">
                    <a:alpha val="99000"/>
                  </a:srgbClr>
                </a:solidFill>
                <a:latin typeface="Inter" pitchFamily="34" charset="0"/>
                <a:ea typeface="Inter" pitchFamily="34" charset="-122"/>
                <a:cs typeface="Inter" pitchFamily="34" charset="-120"/>
              </a:rPr>
              <a:t>Todos no ar.</a:t>
            </a:r>
            <a:endParaRPr lang="en-US" sz="2992" dirty="0"/>
          </a:p>
        </p:txBody>
      </p:sp>
      <p:sp>
        <p:nvSpPr>
          <p:cNvPr id="24" name="Text 21"/>
          <p:cNvSpPr/>
          <p:nvPr/>
        </p:nvSpPr>
        <p:spPr>
          <a:xfrm>
            <a:off x="571500" y="2476500"/>
            <a:ext cx="2667000" cy="371475"/>
          </a:xfrm>
          <a:prstGeom prst="rect">
            <a:avLst/>
          </a:prstGeom>
          <a:noFill/>
          <a:ln/>
        </p:spPr>
        <p:txBody>
          <a:bodyPr wrap="square" lIns="0" tIns="0" rIns="0" bIns="0" rtlCol="0" anchor="t"/>
          <a:lstStyle/>
          <a:p>
            <a:pPr algn="l" indent="0" marL="0">
              <a:lnSpc>
                <a:spcPts val="1397"/>
              </a:lnSpc>
              <a:buNone/>
            </a:pPr>
            <a:r>
              <a:rPr lang="en-US" sz="998" dirty="0">
                <a:solidFill>
                  <a:srgbClr val="545C54">
                    <a:alpha val="99000"/>
                  </a:srgbClr>
                </a:solidFill>
                <a:latin typeface="Inter" pitchFamily="34" charset="0"/>
                <a:ea typeface="Inter" pitchFamily="34" charset="-122"/>
                <a:cs typeface="Inter" pitchFamily="34" charset="-120"/>
              </a:rPr>
              <a:t>Construído e entregue de ponta a ponta: cliente, lojista, web e operação.</a:t>
            </a:r>
            <a:endParaRPr lang="en-US" sz="998" dirty="0"/>
          </a:p>
        </p:txBody>
      </p:sp>
      <p:sp>
        <p:nvSpPr>
          <p:cNvPr id="25" name="Shape 22"/>
          <p:cNvSpPr/>
          <p:nvPr/>
        </p:nvSpPr>
        <p:spPr>
          <a:xfrm>
            <a:off x="4095750" y="809625"/>
            <a:ext cx="2190750" cy="19050"/>
          </a:xfrm>
          <a:prstGeom prst="rect">
            <a:avLst/>
          </a:prstGeom>
          <a:solidFill>
            <a:srgbClr val="0E130F"/>
          </a:solidFill>
          <a:ln/>
        </p:spPr>
        <p:txBody>
          <a:bodyPr/>
          <a:p/>
        </p:txBody>
      </p:sp>
      <p:sp>
        <p:nvSpPr>
          <p:cNvPr id="44" name="TextBox 43"/>
          <p:cNvSpPr txBox="1"/>
          <p:nvPr/>
        </p:nvSpPr>
        <p:spPr>
          <a:xfrm>
            <a:off x="4095750" y="942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APP</a:t>
            </a:r>
          </a:p>
        </p:txBody>
      </p:sp>
      <p:sp>
        <p:nvSpPr>
          <p:cNvPr id="27" name="Text 24"/>
          <p:cNvSpPr/>
          <p:nvPr/>
        </p:nvSpPr>
        <p:spPr>
          <a:xfrm>
            <a:off x="4095750" y="1143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Carteira SimPay</a:t>
            </a:r>
            <a:endParaRPr lang="en-US" sz="1354" dirty="0"/>
          </a:p>
        </p:txBody>
      </p:sp>
      <p:sp>
        <p:nvSpPr>
          <p:cNvPr id="28" name="Text 25"/>
          <p:cNvSpPr/>
          <p:nvPr/>
        </p:nvSpPr>
        <p:spPr>
          <a:xfrm>
            <a:off x="4095750" y="1428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iOS e Android. Custódia própria, pagamento por QR e NFC, cashback, indicações e aviso quando o dinheiro chega.</a:t>
            </a:r>
            <a:endParaRPr lang="en-US" sz="891" dirty="0"/>
          </a:p>
        </p:txBody>
      </p:sp>
      <p:sp>
        <p:nvSpPr>
          <p:cNvPr id="29" name="Shape 26"/>
          <p:cNvSpPr/>
          <p:nvPr/>
        </p:nvSpPr>
        <p:spPr>
          <a:xfrm>
            <a:off x="6572250" y="809625"/>
            <a:ext cx="2190750" cy="19050"/>
          </a:xfrm>
          <a:prstGeom prst="rect">
            <a:avLst/>
          </a:prstGeom>
          <a:solidFill>
            <a:srgbClr val="0E130F"/>
          </a:solidFill>
          <a:ln/>
        </p:spPr>
        <p:txBody>
          <a:bodyPr/>
          <a:p/>
        </p:txBody>
      </p:sp>
      <p:sp>
        <p:nvSpPr>
          <p:cNvPr id="45" name="TextBox 44"/>
          <p:cNvSpPr txBox="1"/>
          <p:nvPr/>
        </p:nvSpPr>
        <p:spPr>
          <a:xfrm>
            <a:off x="6572250" y="942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PDV</a:t>
            </a:r>
          </a:p>
        </p:txBody>
      </p:sp>
      <p:sp>
        <p:nvSpPr>
          <p:cNvPr id="31" name="Text 28"/>
          <p:cNvSpPr/>
          <p:nvPr/>
        </p:nvSpPr>
        <p:spPr>
          <a:xfrm>
            <a:off x="6572250" y="1143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PDV do lojista</a:t>
            </a:r>
            <a:endParaRPr lang="en-US" sz="1354" dirty="0"/>
          </a:p>
        </p:txBody>
      </p:sp>
      <p:sp>
        <p:nvSpPr>
          <p:cNvPr id="32" name="Text 29"/>
          <p:cNvSpPr/>
          <p:nvPr/>
        </p:nvSpPr>
        <p:spPr>
          <a:xfrm>
            <a:off x="6572250" y="1428750"/>
            <a:ext cx="2143125" cy="500063"/>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Cobra em reais, mostra o QR, vende por tags NFC em cada caixa e saca via Pix. A carteira volta só com o PIN.</a:t>
            </a:r>
            <a:endParaRPr lang="en-US" sz="891" dirty="0"/>
          </a:p>
        </p:txBody>
      </p:sp>
      <p:sp>
        <p:nvSpPr>
          <p:cNvPr id="33" name="Shape 30"/>
          <p:cNvSpPr/>
          <p:nvPr/>
        </p:nvSpPr>
        <p:spPr>
          <a:xfrm>
            <a:off x="4095750" y="2714625"/>
            <a:ext cx="2190750" cy="19050"/>
          </a:xfrm>
          <a:prstGeom prst="rect">
            <a:avLst/>
          </a:prstGeom>
          <a:solidFill>
            <a:srgbClr val="0E130F"/>
          </a:solidFill>
          <a:ln/>
        </p:spPr>
        <p:txBody>
          <a:bodyPr/>
          <a:p/>
        </p:txBody>
      </p:sp>
      <p:sp>
        <p:nvSpPr>
          <p:cNvPr id="46" name="TextBox 45"/>
          <p:cNvSpPr txBox="1"/>
          <p:nvPr/>
        </p:nvSpPr>
        <p:spPr>
          <a:xfrm>
            <a:off x="4095750" y="2847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WEB</a:t>
            </a:r>
          </a:p>
        </p:txBody>
      </p:sp>
      <p:sp>
        <p:nvSpPr>
          <p:cNvPr id="35" name="Text 32"/>
          <p:cNvSpPr/>
          <p:nvPr/>
        </p:nvSpPr>
        <p:spPr>
          <a:xfrm>
            <a:off x="4095750" y="3048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simpay.tech + Blinks</a:t>
            </a:r>
            <a:endParaRPr lang="en-US" sz="1354" dirty="0"/>
          </a:p>
        </p:txBody>
      </p:sp>
      <p:sp>
        <p:nvSpPr>
          <p:cNvPr id="36" name="Text 33"/>
          <p:cNvSpPr/>
          <p:nvPr/>
        </p:nvSpPr>
        <p:spPr>
          <a:xfrm>
            <a:off x="4095750" y="3333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Compra de SIMPAY com Pix para qualquer carteira. Todo link de caixa é um Blink da Solana pagável pela Phantom.</a:t>
            </a:r>
            <a:endParaRPr lang="en-US" sz="891" dirty="0"/>
          </a:p>
        </p:txBody>
      </p:sp>
      <p:sp>
        <p:nvSpPr>
          <p:cNvPr id="37" name="Shape 34"/>
          <p:cNvSpPr/>
          <p:nvPr/>
        </p:nvSpPr>
        <p:spPr>
          <a:xfrm>
            <a:off x="6572250" y="2714625"/>
            <a:ext cx="2190750" cy="19050"/>
          </a:xfrm>
          <a:prstGeom prst="rect">
            <a:avLst/>
          </a:prstGeom>
          <a:solidFill>
            <a:srgbClr val="0E130F"/>
          </a:solidFill>
          <a:ln/>
        </p:spPr>
        <p:txBody>
          <a:bodyPr/>
          <a:p/>
        </p:txBody>
      </p:sp>
      <p:sp>
        <p:nvSpPr>
          <p:cNvPr id="47" name="TextBox 46"/>
          <p:cNvSpPr txBox="1"/>
          <p:nvPr/>
        </p:nvSpPr>
        <p:spPr>
          <a:xfrm>
            <a:off x="6572250" y="284797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OPS</a:t>
            </a:r>
          </a:p>
        </p:txBody>
      </p:sp>
      <p:sp>
        <p:nvSpPr>
          <p:cNvPr id="39" name="Text 36"/>
          <p:cNvSpPr/>
          <p:nvPr/>
        </p:nvSpPr>
        <p:spPr>
          <a:xfrm>
            <a:off x="6572250" y="3048000"/>
            <a:ext cx="2190750" cy="200025"/>
          </a:xfrm>
          <a:prstGeom prst="rect">
            <a:avLst/>
          </a:prstGeom>
          <a:noFill/>
          <a:ln/>
        </p:spPr>
        <p:txBody>
          <a:bodyPr wrap="square" lIns="0" tIns="0" rIns="0" bIns="0" rtlCol="0" anchor="t"/>
          <a:lstStyle/>
          <a:p>
            <a:pPr algn="l" indent="0" marL="0">
              <a:lnSpc>
                <a:spcPts val="1489"/>
              </a:lnSpc>
              <a:buNone/>
            </a:pPr>
            <a:r>
              <a:rPr lang="en-US" sz="1354" b="1" spc="-14" kern="0" dirty="0">
                <a:solidFill>
                  <a:srgbClr val="0E130F">
                    <a:alpha val="99000"/>
                  </a:srgbClr>
                </a:solidFill>
                <a:latin typeface="Inter" pitchFamily="34" charset="0"/>
                <a:ea typeface="Inter" pitchFamily="34" charset="-122"/>
                <a:cs typeface="Inter" pitchFamily="34" charset="-120"/>
              </a:rPr>
              <a:t>Painel administrativo</a:t>
            </a:r>
            <a:endParaRPr lang="en-US" sz="1354" dirty="0"/>
          </a:p>
        </p:txBody>
      </p:sp>
      <p:sp>
        <p:nvSpPr>
          <p:cNvPr id="40" name="Text 37"/>
          <p:cNvSpPr/>
          <p:nvPr/>
        </p:nvSpPr>
        <p:spPr>
          <a:xfrm>
            <a:off x="6572250" y="3333750"/>
            <a:ext cx="2143125" cy="666750"/>
          </a:xfrm>
          <a:prstGeom prst="rect">
            <a:avLst/>
          </a:prstGeom>
          <a:noFill/>
          <a:ln/>
        </p:spPr>
        <p:txBody>
          <a:bodyPr wrap="square" lIns="0" tIns="0" rIns="0" bIns="0" rtlCol="0" anchor="t"/>
          <a:lstStyle/>
          <a:p>
            <a:pPr algn="l" indent="0" marL="0">
              <a:lnSpc>
                <a:spcPts val="1265"/>
              </a:lnSpc>
              <a:buNone/>
            </a:pPr>
            <a:r>
              <a:rPr lang="en-US" sz="891" dirty="0">
                <a:solidFill>
                  <a:srgbClr val="545C54">
                    <a:alpha val="99000"/>
                  </a:srgbClr>
                </a:solidFill>
                <a:latin typeface="Inter" pitchFamily="34" charset="0"/>
                <a:ea typeface="Inter" pitchFamily="34" charset="-122"/>
                <a:cs typeface="Inter" pitchFamily="34" charset="-120"/>
              </a:rPr>
              <a:t>Aprovação de parceiros, revisão de cashback, webhooks do Pix, custos na Solana, campanhas de push e auditoria completa.</a:t>
            </a:r>
            <a:endParaRPr lang="en-US" sz="891" dirty="0"/>
          </a:p>
        </p:txBody>
      </p:sp>
      <p:sp>
        <p:nvSpPr>
          <p:cNvPr id="48" name="TextBox 47"/>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49" name="TextBox 48"/>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30F"/>
        </a:solidFill>
      </p:bgPr>
    </p:bg>
    <p:spTree>
      <p:nvGrpSpPr>
        <p:cNvPr id="1" name=""/>
        <p:cNvGrpSpPr/>
        <p:nvPr/>
      </p:nvGrpSpPr>
      <p:grpSpPr>
        <a:xfrm>
          <a:off x="0" y="0"/>
          <a:ext cx="0" cy="0"/>
          <a:chOff x="0" y="0"/>
          <a:chExt cx="0" cy="0"/>
        </a:xfrm>
      </p:grpSpPr>
      <p:pic>
        <p:nvPicPr>
          <p:cNvPr id="28" name="Image 0" descr="preencoded.png">    </p:cNvPr>
          <p:cNvPicPr>
            <a:picLocks noChangeAspect="1"/>
          </p:cNvPicPr>
          <p:nvPr/>
        </p:nvPicPr>
        <p:blipFill>
          <a:blip r:embed="rId1"/>
          <a:srcRect l="0" r="41935" t="0" b="0"/>
          <a:stretch/>
        </p:blipFill>
        <p:spPr>
          <a:xfrm>
            <a:off x="-1238250" y="1714500"/>
            <a:ext cx="1714500" cy="3257550"/>
          </a:xfrm>
          <a:prstGeom prst="rect">
            <a:avLst/>
          </a:prstGeom>
        </p:spPr>
      </p:pic>
      <p:sp>
        <p:nvSpPr>
          <p:cNvPr id="48" name="TextBox 47"/>
          <p:cNvSpPr txBox="1"/>
          <p:nvPr/>
        </p:nvSpPr>
        <p:spPr>
          <a:xfrm>
            <a:off x="2857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05 — O QUE É NOVO</a:t>
            </a:r>
          </a:p>
        </p:txBody>
      </p:sp>
      <p:sp>
        <p:nvSpPr>
          <p:cNvPr id="30" name="Text 26"/>
          <p:cNvSpPr/>
          <p:nvPr/>
        </p:nvSpPr>
        <p:spPr>
          <a:xfrm>
            <a:off x="2857500" y="762000"/>
            <a:ext cx="5715000" cy="685800"/>
          </a:xfrm>
          <a:prstGeom prst="rect">
            <a:avLst/>
          </a:prstGeom>
          <a:noFill/>
          <a:ln/>
        </p:spPr>
        <p:txBody>
          <a:bodyPr wrap="square" lIns="0" tIns="0" rIns="0" bIns="0" rtlCol="0" anchor="t"/>
          <a:lstStyle/>
          <a:p>
            <a:pPr algn="l" indent="0" marL="0">
              <a:lnSpc>
                <a:spcPts val="2565"/>
              </a:lnSpc>
              <a:buNone/>
            </a:pPr>
            <a:r>
              <a:rPr lang="en-US" sz="2565" b="1" spc="-77" kern="0" dirty="0">
                <a:solidFill>
                  <a:srgbClr val="F7F7F2">
                    <a:alpha val="99000"/>
                  </a:srgbClr>
                </a:solidFill>
                <a:latin typeface="Inter" pitchFamily="34" charset="0"/>
                <a:ea typeface="Inter" pitchFamily="34" charset="-122"/>
                <a:cs typeface="Inter" pitchFamily="34" charset="-120"/>
              </a:rPr>
              <a:t>Cripto que funciona</a:t>
            </a:r>
            <a:endParaRPr lang="en-US" sz="2565" dirty="0"/>
          </a:p>
          <a:p>
            <a:pPr algn="l" indent="0" marL="0">
              <a:lnSpc>
                <a:spcPts val="2565"/>
              </a:lnSpc>
              <a:buNone/>
            </a:pPr>
            <a:r>
              <a:rPr lang="en-US" sz="2565" b="1" spc="-77" kern="0" dirty="0">
                <a:solidFill>
                  <a:srgbClr val="F7F7F2">
                    <a:alpha val="99000"/>
                  </a:srgbClr>
                </a:solidFill>
                <a:latin typeface="Inter" pitchFamily="34" charset="0"/>
                <a:ea typeface="Inter" pitchFamily="34" charset="-122"/>
                <a:cs typeface="Inter" pitchFamily="34" charset="-120"/>
              </a:rPr>
              <a:t>como um app de pagamento.</a:t>
            </a:r>
            <a:endParaRPr lang="en-US" sz="2565" dirty="0"/>
          </a:p>
        </p:txBody>
      </p:sp>
      <p:sp>
        <p:nvSpPr>
          <p:cNvPr id="31" name="Shape 27"/>
          <p:cNvSpPr/>
          <p:nvPr/>
        </p:nvSpPr>
        <p:spPr>
          <a:xfrm>
            <a:off x="2857500" y="2000250"/>
            <a:ext cx="5715000" cy="9525"/>
          </a:xfrm>
          <a:prstGeom prst="rect">
            <a:avLst/>
          </a:prstGeom>
          <a:solidFill>
            <a:srgbClr val="333D33"/>
          </a:solidFill>
          <a:ln/>
        </p:spPr>
        <p:txBody>
          <a:bodyPr/>
          <a:p/>
        </p:txBody>
      </p:sp>
      <p:sp>
        <p:nvSpPr>
          <p:cNvPr id="49" name="TextBox 48"/>
          <p:cNvSpPr txBox="1"/>
          <p:nvPr/>
        </p:nvSpPr>
        <p:spPr>
          <a:xfrm>
            <a:off x="2857500" y="214312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01</a:t>
            </a:r>
          </a:p>
        </p:txBody>
      </p:sp>
      <p:sp>
        <p:nvSpPr>
          <p:cNvPr id="33" name="Text 29"/>
          <p:cNvSpPr/>
          <p:nvPr/>
        </p:nvSpPr>
        <p:spPr>
          <a:xfrm>
            <a:off x="3238500" y="2114550"/>
            <a:ext cx="2476500" cy="352425"/>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Pagamento por aproximação na Solana</a:t>
            </a:r>
            <a:endParaRPr lang="en-US" sz="1211" dirty="0"/>
          </a:p>
        </p:txBody>
      </p:sp>
      <p:sp>
        <p:nvSpPr>
          <p:cNvPr id="34" name="Text 30"/>
          <p:cNvSpPr/>
          <p:nvPr/>
        </p:nvSpPr>
        <p:spPr>
          <a:xfrm>
            <a:off x="5810250" y="2124075"/>
            <a:ext cx="2762250" cy="485775"/>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Tags NFC em cada caixa abrem a cobrança do momento. Sem maquininha e sem app do lado do lojista.</a:t>
            </a:r>
            <a:endParaRPr lang="en-US" sz="855" dirty="0"/>
          </a:p>
        </p:txBody>
      </p:sp>
      <p:sp>
        <p:nvSpPr>
          <p:cNvPr id="35" name="Shape 31"/>
          <p:cNvSpPr/>
          <p:nvPr/>
        </p:nvSpPr>
        <p:spPr>
          <a:xfrm>
            <a:off x="2857500" y="2628900"/>
            <a:ext cx="5715000" cy="9525"/>
          </a:xfrm>
          <a:prstGeom prst="rect">
            <a:avLst/>
          </a:prstGeom>
          <a:solidFill>
            <a:srgbClr val="333D33"/>
          </a:solidFill>
          <a:ln/>
        </p:spPr>
        <p:txBody>
          <a:bodyPr/>
          <a:p/>
        </p:txBody>
      </p:sp>
      <p:sp>
        <p:nvSpPr>
          <p:cNvPr id="50" name="TextBox 49"/>
          <p:cNvSpPr txBox="1"/>
          <p:nvPr/>
        </p:nvSpPr>
        <p:spPr>
          <a:xfrm>
            <a:off x="2857500" y="277177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02</a:t>
            </a:r>
          </a:p>
        </p:txBody>
      </p:sp>
      <p:sp>
        <p:nvSpPr>
          <p:cNvPr id="37" name="Text 33"/>
          <p:cNvSpPr/>
          <p:nvPr/>
        </p:nvSpPr>
        <p:spPr>
          <a:xfrm>
            <a:off x="3238500" y="274320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Todo caixa é um Blink</a:t>
            </a:r>
            <a:endParaRPr lang="en-US" sz="1211" dirty="0"/>
          </a:p>
        </p:txBody>
      </p:sp>
      <p:sp>
        <p:nvSpPr>
          <p:cNvPr id="38" name="Text 34"/>
          <p:cNvSpPr/>
          <p:nvPr/>
        </p:nvSpPr>
        <p:spPr>
          <a:xfrm>
            <a:off x="5810250" y="2752725"/>
            <a:ext cx="2762250" cy="323850"/>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O mesmo link vira uma Solana Action: pague pela Phantom ou onde os Blinks aparecem.</a:t>
            </a:r>
            <a:endParaRPr lang="en-US" sz="855" dirty="0"/>
          </a:p>
        </p:txBody>
      </p:sp>
      <p:sp>
        <p:nvSpPr>
          <p:cNvPr id="39" name="Shape 35"/>
          <p:cNvSpPr/>
          <p:nvPr/>
        </p:nvSpPr>
        <p:spPr>
          <a:xfrm>
            <a:off x="2857500" y="3257550"/>
            <a:ext cx="5715000" cy="9525"/>
          </a:xfrm>
          <a:prstGeom prst="rect">
            <a:avLst/>
          </a:prstGeom>
          <a:solidFill>
            <a:srgbClr val="333D33"/>
          </a:solidFill>
          <a:ln/>
        </p:spPr>
        <p:txBody>
          <a:bodyPr/>
          <a:p/>
        </p:txBody>
      </p:sp>
      <p:sp>
        <p:nvSpPr>
          <p:cNvPr id="51" name="TextBox 50"/>
          <p:cNvSpPr txBox="1"/>
          <p:nvPr/>
        </p:nvSpPr>
        <p:spPr>
          <a:xfrm>
            <a:off x="2857500" y="340042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03</a:t>
            </a:r>
          </a:p>
        </p:txBody>
      </p:sp>
      <p:sp>
        <p:nvSpPr>
          <p:cNvPr id="41" name="Text 37"/>
          <p:cNvSpPr/>
          <p:nvPr/>
        </p:nvSpPr>
        <p:spPr>
          <a:xfrm>
            <a:off x="3238500" y="3371850"/>
            <a:ext cx="2476500"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Recuperação com PIN</a:t>
            </a:r>
            <a:endParaRPr lang="en-US" sz="1211" dirty="0"/>
          </a:p>
        </p:txBody>
      </p:sp>
      <p:sp>
        <p:nvSpPr>
          <p:cNvPr id="42" name="Text 38"/>
          <p:cNvSpPr/>
          <p:nvPr/>
        </p:nvSpPr>
        <p:spPr>
          <a:xfrm>
            <a:off x="5810250" y="3381375"/>
            <a:ext cx="2762250" cy="485775"/>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A carteira do lojista volta em outro aparelho só com o PIN (Argon2id + segredo do servidor). A chave nunca sai do aparelho.</a:t>
            </a:r>
            <a:endParaRPr lang="en-US" sz="855" dirty="0"/>
          </a:p>
        </p:txBody>
      </p:sp>
      <p:sp>
        <p:nvSpPr>
          <p:cNvPr id="43" name="Shape 39"/>
          <p:cNvSpPr/>
          <p:nvPr/>
        </p:nvSpPr>
        <p:spPr>
          <a:xfrm>
            <a:off x="2857500" y="3886200"/>
            <a:ext cx="5715000" cy="9525"/>
          </a:xfrm>
          <a:prstGeom prst="rect">
            <a:avLst/>
          </a:prstGeom>
          <a:solidFill>
            <a:srgbClr val="333D33"/>
          </a:solidFill>
          <a:ln/>
        </p:spPr>
        <p:txBody>
          <a:bodyPr/>
          <a:p/>
        </p:txBody>
      </p:sp>
      <p:sp>
        <p:nvSpPr>
          <p:cNvPr id="52" name="TextBox 51"/>
          <p:cNvSpPr txBox="1"/>
          <p:nvPr/>
        </p:nvSpPr>
        <p:spPr>
          <a:xfrm>
            <a:off x="2857500" y="4029075"/>
            <a:ext cx="178308"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04</a:t>
            </a:r>
          </a:p>
        </p:txBody>
      </p:sp>
      <p:sp>
        <p:nvSpPr>
          <p:cNvPr id="45" name="Text 41"/>
          <p:cNvSpPr/>
          <p:nvPr/>
        </p:nvSpPr>
        <p:spPr>
          <a:xfrm>
            <a:off x="3238500" y="4000500"/>
            <a:ext cx="2476500" cy="352425"/>
          </a:xfrm>
          <a:prstGeom prst="rect">
            <a:avLst/>
          </a:prstGeom>
          <a:noFill/>
          <a:ln/>
        </p:spPr>
        <p:txBody>
          <a:bodyPr wrap="square" lIns="0" tIns="0" rIns="0" bIns="0" rtlCol="0" anchor="t"/>
          <a:lstStyle/>
          <a:p>
            <a:pPr algn="l" indent="0" marL="0">
              <a:lnSpc>
                <a:spcPts val="1332"/>
              </a:lnSpc>
              <a:buNone/>
            </a:pPr>
            <a:r>
              <a:rPr lang="en-US" sz="1211" b="1" spc="-12" kern="0" dirty="0">
                <a:solidFill>
                  <a:srgbClr val="F7F7F2">
                    <a:alpha val="99000"/>
                  </a:srgbClr>
                </a:solidFill>
                <a:latin typeface="Inter" pitchFamily="34" charset="0"/>
                <a:ea typeface="Inter" pitchFamily="34" charset="-122"/>
                <a:cs typeface="Inter" pitchFamily="34" charset="-120"/>
              </a:rPr>
              <a:t>Recompensas com revisão humana</a:t>
            </a:r>
            <a:endParaRPr lang="en-US" sz="1211" dirty="0"/>
          </a:p>
        </p:txBody>
      </p:sp>
      <p:sp>
        <p:nvSpPr>
          <p:cNvPr id="46" name="Text 42"/>
          <p:cNvSpPr/>
          <p:nvPr/>
        </p:nvSpPr>
        <p:spPr>
          <a:xfrm>
            <a:off x="5810250" y="4010025"/>
            <a:ext cx="2762250" cy="485775"/>
          </a:xfrm>
          <a:prstGeom prst="rect">
            <a:avLst/>
          </a:prstGeom>
          <a:noFill/>
          <a:ln/>
        </p:spPr>
        <p:txBody>
          <a:bodyPr wrap="square" lIns="0" tIns="0" rIns="0" bIns="0" rtlCol="0" anchor="t"/>
          <a:lstStyle/>
          <a:p>
            <a:pPr algn="l" indent="0" marL="0">
              <a:lnSpc>
                <a:spcPts val="1197"/>
              </a:lnSpc>
              <a:buNone/>
            </a:pPr>
            <a:r>
              <a:rPr lang="en-US" sz="855" dirty="0">
                <a:solidFill>
                  <a:srgbClr val="B2BDB2">
                    <a:alpha val="99000"/>
                  </a:srgbClr>
                </a:solidFill>
                <a:latin typeface="Inter" pitchFamily="34" charset="0"/>
                <a:ea typeface="Inter" pitchFamily="34" charset="-122"/>
                <a:cs typeface="Inter" pitchFamily="34" charset="-120"/>
              </a:rPr>
              <a:t>Cashback e indicações são agendados, podem ser revisados pelo admin e depois pagos na blockchain automaticamente.</a:t>
            </a:r>
            <a:endParaRPr lang="en-US" sz="855" dirty="0"/>
          </a:p>
        </p:txBody>
      </p:sp>
      <p:sp>
        <p:nvSpPr>
          <p:cNvPr id="53" name="TextBox 5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2"/>
        </a:solidFill>
      </p:bgPr>
    </p:bg>
    <p:spTree>
      <p:nvGrpSpPr>
        <p:cNvPr id="1" name=""/>
        <p:cNvGrpSpPr/>
        <p:nvPr/>
      </p:nvGrpSpPr>
      <p:grpSpPr>
        <a:xfrm>
          <a:off x="0" y="0"/>
          <a:ext cx="0" cy="0"/>
          <a:chOff x="0" y="0"/>
          <a:chExt cx="0" cy="0"/>
        </a:xfrm>
      </p:grpSpPr>
      <p:sp>
        <p:nvSpPr>
          <p:cNvPr id="19" name="Shape 16"/>
          <p:cNvSpPr/>
          <p:nvPr/>
        </p:nvSpPr>
        <p:spPr>
          <a:xfrm>
            <a:off x="0" y="0"/>
            <a:ext cx="9144000" cy="2857500"/>
          </a:xfrm>
          <a:prstGeom prst="rect">
            <a:avLst/>
          </a:prstGeom>
          <a:solidFill>
            <a:srgbClr val="0E130F"/>
          </a:solidFill>
          <a:ln/>
        </p:spPr>
        <p:txBody>
          <a:bodyPr/>
          <a:p/>
        </p:txBody>
      </p:sp>
      <p:sp>
        <p:nvSpPr>
          <p:cNvPr id="44" name="TextBox 43"/>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06 — CONSTRUÍDO NA SOLANA</a:t>
            </a:r>
          </a:p>
        </p:txBody>
      </p:sp>
      <p:sp>
        <p:nvSpPr>
          <p:cNvPr id="21" name="Text 18"/>
          <p:cNvSpPr/>
          <p:nvPr/>
        </p:nvSpPr>
        <p:spPr>
          <a:xfrm>
            <a:off x="571500" y="809625"/>
            <a:ext cx="2476500" cy="1266825"/>
          </a:xfrm>
          <a:prstGeom prst="rect">
            <a:avLst/>
          </a:prstGeom>
          <a:noFill/>
          <a:ln/>
        </p:spPr>
        <p:txBody>
          <a:bodyPr wrap="square" lIns="0" tIns="0" rIns="0" bIns="0" rtlCol="0" anchor="t"/>
          <a:lstStyle/>
          <a:p>
            <a:pPr algn="l" indent="0" marL="0">
              <a:lnSpc>
                <a:spcPts val="9485"/>
              </a:lnSpc>
              <a:buNone/>
            </a:pPr>
            <a:r>
              <a:rPr lang="en-US" sz="7838" b="1" spc="-392" kern="0" dirty="0">
                <a:solidFill>
                  <a:srgbClr val="BDF06B">
                    <a:alpha val="99000"/>
                  </a:srgbClr>
                </a:solidFill>
                <a:latin typeface="Inter" pitchFamily="34" charset="0"/>
                <a:ea typeface="Inter" pitchFamily="34" charset="-122"/>
                <a:cs typeface="Inter" pitchFamily="34" charset="-120"/>
              </a:rPr>
              <a:t>~1s</a:t>
            </a:r>
            <a:endParaRPr lang="en-US" sz="7838" dirty="0"/>
          </a:p>
        </p:txBody>
      </p:sp>
      <p:sp>
        <p:nvSpPr>
          <p:cNvPr id="22" name="Text 19"/>
          <p:cNvSpPr/>
          <p:nvPr/>
        </p:nvSpPr>
        <p:spPr>
          <a:xfrm>
            <a:off x="571500" y="2238375"/>
            <a:ext cx="2476500" cy="371475"/>
          </a:xfrm>
          <a:prstGeom prst="rect">
            <a:avLst/>
          </a:prstGeom>
          <a:noFill/>
          <a:ln/>
        </p:spPr>
        <p:txBody>
          <a:bodyPr wrap="square" lIns="0" tIns="0" rIns="0" bIns="0" rtlCol="0" anchor="t"/>
          <a:lstStyle/>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para confirmar um</a:t>
            </a:r>
            <a:endParaRPr lang="en-US" sz="1069" dirty="0"/>
          </a:p>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pagamento no balcão</a:t>
            </a:r>
            <a:endParaRPr lang="en-US" sz="1069" dirty="0"/>
          </a:p>
        </p:txBody>
      </p:sp>
      <p:sp>
        <p:nvSpPr>
          <p:cNvPr id="23" name="Text 20"/>
          <p:cNvSpPr/>
          <p:nvPr/>
        </p:nvSpPr>
        <p:spPr>
          <a:xfrm>
            <a:off x="3429000" y="809625"/>
            <a:ext cx="5238750" cy="1266825"/>
          </a:xfrm>
          <a:prstGeom prst="rect">
            <a:avLst/>
          </a:prstGeom>
          <a:noFill/>
          <a:ln/>
        </p:spPr>
        <p:txBody>
          <a:bodyPr wrap="square" lIns="0" tIns="0" rIns="0" bIns="0" rtlCol="0" anchor="t"/>
          <a:lstStyle/>
          <a:p>
            <a:pPr algn="l" indent="0" marL="0">
              <a:lnSpc>
                <a:spcPts val="9485"/>
              </a:lnSpc>
              <a:buNone/>
            </a:pPr>
            <a:r>
              <a:rPr lang="en-US" sz="7838" b="1" spc="-392" kern="0" dirty="0">
                <a:solidFill>
                  <a:srgbClr val="F7F7F2">
                    <a:alpha val="99000"/>
                  </a:srgbClr>
                </a:solidFill>
                <a:latin typeface="Inter" pitchFamily="34" charset="0"/>
                <a:ea typeface="Inter" pitchFamily="34" charset="-122"/>
                <a:cs typeface="Inter" pitchFamily="34" charset="-120"/>
              </a:rPr>
              <a:t>&lt;$0.001</a:t>
            </a:r>
            <a:endParaRPr lang="en-US" sz="7838" dirty="0"/>
          </a:p>
        </p:txBody>
      </p:sp>
      <p:sp>
        <p:nvSpPr>
          <p:cNvPr id="24" name="Text 21"/>
          <p:cNvSpPr/>
          <p:nvPr/>
        </p:nvSpPr>
        <p:spPr>
          <a:xfrm>
            <a:off x="3429000" y="2238375"/>
            <a:ext cx="3333750" cy="371475"/>
          </a:xfrm>
          <a:prstGeom prst="rect">
            <a:avLst/>
          </a:prstGeom>
          <a:noFill/>
          <a:ln/>
        </p:spPr>
        <p:txBody>
          <a:bodyPr wrap="square" lIns="0" tIns="0" rIns="0" bIns="0" rtlCol="0" anchor="t"/>
          <a:lstStyle/>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de taxa de rede por transação:</a:t>
            </a:r>
            <a:endParaRPr lang="en-US" sz="1069" dirty="0"/>
          </a:p>
          <a:p>
            <a:pPr algn="l" indent="0" marL="0">
              <a:lnSpc>
                <a:spcPts val="1389"/>
              </a:lnSpc>
              <a:buNone/>
            </a:pPr>
            <a:r>
              <a:rPr lang="en-US" sz="1069" dirty="0">
                <a:solidFill>
                  <a:srgbClr val="F7F7F2">
                    <a:alpha val="99000"/>
                  </a:srgbClr>
                </a:solidFill>
                <a:latin typeface="Inter" pitchFamily="34" charset="0"/>
                <a:ea typeface="Inter" pitchFamily="34" charset="-122"/>
                <a:cs typeface="Inter" pitchFamily="34" charset="-120"/>
              </a:rPr>
              <a:t>micropagamento passa a fazer sentido</a:t>
            </a:r>
            <a:endParaRPr lang="en-US" sz="1069" dirty="0"/>
          </a:p>
        </p:txBody>
      </p:sp>
      <p:sp>
        <p:nvSpPr>
          <p:cNvPr id="25" name="Text 22"/>
          <p:cNvSpPr/>
          <p:nvPr/>
        </p:nvSpPr>
        <p:spPr>
          <a:xfrm>
            <a:off x="571500" y="3143250"/>
            <a:ext cx="6667500" cy="252413"/>
          </a:xfrm>
          <a:prstGeom prst="rect">
            <a:avLst/>
          </a:prstGeom>
          <a:noFill/>
          <a:ln/>
        </p:spPr>
        <p:txBody>
          <a:bodyPr wrap="square" lIns="0" tIns="0" rIns="0" bIns="0" rtlCol="0" anchor="t"/>
          <a:lstStyle/>
          <a:p>
            <a:pPr algn="l" indent="0" marL="0">
              <a:lnSpc>
                <a:spcPts val="1897"/>
              </a:lnSpc>
              <a:buNone/>
            </a:pPr>
            <a:r>
              <a:rPr lang="en-US" sz="1140" b="1" spc="-24" kern="0" dirty="0">
                <a:solidFill>
                  <a:srgbClr val="0E130F">
                    <a:alpha val="99000"/>
                  </a:srgbClr>
                </a:solidFill>
                <a:latin typeface="Inter" pitchFamily="34" charset="0"/>
                <a:ea typeface="Inter" pitchFamily="34" charset="-122"/>
                <a:cs typeface="Inter" pitchFamily="34" charset="-120"/>
              </a:rPr>
              <a:t>Construído na devnet da Solana.</a:t>
            </a:r>
            <a:endParaRPr lang="en-US" sz="1568" dirty="0"/>
          </a:p>
        </p:txBody>
      </p:sp>
      <p:sp>
        <p:nvSpPr>
          <p:cNvPr id="26" name="Shape 23"/>
          <p:cNvSpPr/>
          <p:nvPr/>
        </p:nvSpPr>
        <p:spPr>
          <a:xfrm>
            <a:off x="571500" y="3571875"/>
            <a:ext cx="866775" cy="304800"/>
          </a:xfrm>
          <a:prstGeom prst="roundRect">
            <a:avLst>
              <a:gd name="adj" fmla="val 2997000"/>
            </a:avLst>
          </a:prstGeom>
          <a:noFill/>
          <a:ln w="9049">
            <a:solidFill>
              <a:srgbClr val="0E130F"/>
            </a:solidFill>
            <a:prstDash val="solid"/>
          </a:ln>
        </p:spPr>
        <p:txBody>
          <a:bodyPr/>
          <a:p/>
        </p:txBody>
      </p:sp>
      <p:sp>
        <p:nvSpPr>
          <p:cNvPr id="45" name="TextBox 44"/>
          <p:cNvSpPr txBox="1"/>
          <p:nvPr/>
        </p:nvSpPr>
        <p:spPr>
          <a:xfrm>
            <a:off x="695325" y="3648075"/>
            <a:ext cx="629257"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SPL Token</a:t>
            </a:r>
          </a:p>
        </p:txBody>
      </p:sp>
      <p:sp>
        <p:nvSpPr>
          <p:cNvPr id="28" name="Shape 25"/>
          <p:cNvSpPr/>
          <p:nvPr/>
        </p:nvSpPr>
        <p:spPr>
          <a:xfrm>
            <a:off x="1514475" y="3571875"/>
            <a:ext cx="1757363" cy="304800"/>
          </a:xfrm>
          <a:prstGeom prst="roundRect">
            <a:avLst>
              <a:gd name="adj" fmla="val 2997000"/>
            </a:avLst>
          </a:prstGeom>
          <a:noFill/>
          <a:ln w="9049">
            <a:solidFill>
              <a:srgbClr val="0E130F"/>
            </a:solidFill>
            <a:prstDash val="solid"/>
          </a:ln>
        </p:spPr>
        <p:txBody>
          <a:bodyPr/>
          <a:p/>
        </p:txBody>
      </p:sp>
      <p:sp>
        <p:nvSpPr>
          <p:cNvPr id="46" name="TextBox 45"/>
          <p:cNvSpPr txBox="1"/>
          <p:nvPr/>
        </p:nvSpPr>
        <p:spPr>
          <a:xfrm>
            <a:off x="1638300" y="3648075"/>
            <a:ext cx="1509713"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Referências Solana Pay</a:t>
            </a:r>
          </a:p>
        </p:txBody>
      </p:sp>
      <p:sp>
        <p:nvSpPr>
          <p:cNvPr id="30" name="Shape 27"/>
          <p:cNvSpPr/>
          <p:nvPr/>
        </p:nvSpPr>
        <p:spPr>
          <a:xfrm>
            <a:off x="3348038" y="3571875"/>
            <a:ext cx="1824038" cy="304800"/>
          </a:xfrm>
          <a:prstGeom prst="roundRect">
            <a:avLst>
              <a:gd name="adj" fmla="val 2997000"/>
            </a:avLst>
          </a:prstGeom>
          <a:noFill/>
          <a:ln w="9049">
            <a:solidFill>
              <a:srgbClr val="0E130F"/>
            </a:solidFill>
            <a:prstDash val="solid"/>
          </a:ln>
        </p:spPr>
        <p:txBody>
          <a:bodyPr/>
          <a:p/>
        </p:txBody>
      </p:sp>
      <p:sp>
        <p:nvSpPr>
          <p:cNvPr id="47" name="TextBox 46"/>
          <p:cNvSpPr txBox="1"/>
          <p:nvPr/>
        </p:nvSpPr>
        <p:spPr>
          <a:xfrm>
            <a:off x="3471863" y="3648075"/>
            <a:ext cx="1576388"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Solana Actions / Blinks</a:t>
            </a:r>
          </a:p>
        </p:txBody>
      </p:sp>
      <p:sp>
        <p:nvSpPr>
          <p:cNvPr id="32" name="Shape 29"/>
          <p:cNvSpPr/>
          <p:nvPr/>
        </p:nvSpPr>
        <p:spPr>
          <a:xfrm>
            <a:off x="5248275" y="3571875"/>
            <a:ext cx="1485900" cy="304800"/>
          </a:xfrm>
          <a:prstGeom prst="roundRect">
            <a:avLst>
              <a:gd name="adj" fmla="val 2997000"/>
            </a:avLst>
          </a:prstGeom>
          <a:noFill/>
          <a:ln w="9049">
            <a:solidFill>
              <a:srgbClr val="0E130F"/>
            </a:solidFill>
            <a:prstDash val="solid"/>
          </a:ln>
        </p:spPr>
        <p:txBody>
          <a:bodyPr/>
          <a:p/>
        </p:txBody>
      </p:sp>
      <p:sp>
        <p:nvSpPr>
          <p:cNvPr id="48" name="TextBox 47"/>
          <p:cNvSpPr txBox="1"/>
          <p:nvPr/>
        </p:nvSpPr>
        <p:spPr>
          <a:xfrm>
            <a:off x="5372100" y="3648075"/>
            <a:ext cx="123825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Metadados Metaplex</a:t>
            </a:r>
          </a:p>
        </p:txBody>
      </p:sp>
      <p:sp>
        <p:nvSpPr>
          <p:cNvPr id="34" name="Shape 31"/>
          <p:cNvSpPr/>
          <p:nvPr/>
        </p:nvSpPr>
        <p:spPr>
          <a:xfrm>
            <a:off x="571500" y="4010025"/>
            <a:ext cx="1962150" cy="304800"/>
          </a:xfrm>
          <a:prstGeom prst="roundRect">
            <a:avLst>
              <a:gd name="adj" fmla="val 2997000"/>
            </a:avLst>
          </a:prstGeom>
          <a:noFill/>
          <a:ln w="9049">
            <a:solidFill>
              <a:srgbClr val="0E130F"/>
            </a:solidFill>
            <a:prstDash val="solid"/>
          </a:ln>
        </p:spPr>
        <p:txBody>
          <a:bodyPr/>
          <a:p/>
        </p:txBody>
      </p:sp>
      <p:sp>
        <p:nvSpPr>
          <p:cNvPr id="49" name="TextBox 48"/>
          <p:cNvSpPr txBox="1"/>
          <p:nvPr/>
        </p:nvSpPr>
        <p:spPr>
          <a:xfrm>
            <a:off x="695325" y="4086225"/>
            <a:ext cx="171450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Pix via Delfinance (mTLS)</a:t>
            </a:r>
          </a:p>
        </p:txBody>
      </p:sp>
      <p:sp>
        <p:nvSpPr>
          <p:cNvPr id="36" name="Shape 33"/>
          <p:cNvSpPr/>
          <p:nvPr/>
        </p:nvSpPr>
        <p:spPr>
          <a:xfrm>
            <a:off x="2609850" y="4010025"/>
            <a:ext cx="1276350" cy="304800"/>
          </a:xfrm>
          <a:prstGeom prst="roundRect">
            <a:avLst>
              <a:gd name="adj" fmla="val 2997000"/>
            </a:avLst>
          </a:prstGeom>
          <a:noFill/>
          <a:ln w="9049">
            <a:solidFill>
              <a:srgbClr val="0E130F"/>
            </a:solidFill>
            <a:prstDash val="solid"/>
          </a:ln>
        </p:spPr>
        <p:txBody>
          <a:bodyPr/>
          <a:p/>
        </p:txBody>
      </p:sp>
      <p:sp>
        <p:nvSpPr>
          <p:cNvPr id="50" name="TextBox 49"/>
          <p:cNvSpPr txBox="1"/>
          <p:nvPr/>
        </p:nvSpPr>
        <p:spPr>
          <a:xfrm>
            <a:off x="2733675" y="4086225"/>
            <a:ext cx="102870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HashiCorp Vault</a:t>
            </a:r>
          </a:p>
        </p:txBody>
      </p:sp>
      <p:sp>
        <p:nvSpPr>
          <p:cNvPr id="38" name="Shape 35"/>
          <p:cNvSpPr/>
          <p:nvPr/>
        </p:nvSpPr>
        <p:spPr>
          <a:xfrm>
            <a:off x="3962400" y="4010025"/>
            <a:ext cx="1485900" cy="304800"/>
          </a:xfrm>
          <a:prstGeom prst="roundRect">
            <a:avLst>
              <a:gd name="adj" fmla="val 2997000"/>
            </a:avLst>
          </a:prstGeom>
          <a:noFill/>
          <a:ln w="9049">
            <a:solidFill>
              <a:srgbClr val="0E130F"/>
            </a:solidFill>
            <a:prstDash val="solid"/>
          </a:ln>
        </p:spPr>
        <p:txBody>
          <a:bodyPr/>
          <a:p/>
        </p:txBody>
      </p:sp>
      <p:sp>
        <p:nvSpPr>
          <p:cNvPr id="51" name="TextBox 50"/>
          <p:cNvSpPr txBox="1"/>
          <p:nvPr/>
        </p:nvSpPr>
        <p:spPr>
          <a:xfrm>
            <a:off x="4086225" y="4086225"/>
            <a:ext cx="1238250"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Push via OneSignal</a:t>
            </a:r>
          </a:p>
        </p:txBody>
      </p:sp>
      <p:sp>
        <p:nvSpPr>
          <p:cNvPr id="40" name="Shape 37"/>
          <p:cNvSpPr/>
          <p:nvPr/>
        </p:nvSpPr>
        <p:spPr>
          <a:xfrm>
            <a:off x="5524500" y="4010025"/>
            <a:ext cx="1690688" cy="304800"/>
          </a:xfrm>
          <a:prstGeom prst="roundRect">
            <a:avLst>
              <a:gd name="adj" fmla="val 2997000"/>
            </a:avLst>
          </a:prstGeom>
          <a:noFill/>
          <a:ln w="9049">
            <a:solidFill>
              <a:srgbClr val="0E130F"/>
            </a:solidFill>
            <a:prstDash val="solid"/>
          </a:ln>
        </p:spPr>
        <p:txBody>
          <a:bodyPr/>
          <a:p/>
        </p:txBody>
      </p:sp>
      <p:sp>
        <p:nvSpPr>
          <p:cNvPr id="52" name="TextBox 51"/>
          <p:cNvSpPr txBox="1"/>
          <p:nvPr/>
        </p:nvSpPr>
        <p:spPr>
          <a:xfrm>
            <a:off x="5648325" y="4086225"/>
            <a:ext cx="1443038" cy="197739"/>
          </a:xfrm>
          <a:prstGeom prst="rect">
            <a:avLst/>
          </a:prstGeom>
          <a:noFill/>
        </p:spPr>
        <p:txBody>
          <a:bodyPr wrap="none" lIns="0" tIns="0" rIns="0" bIns="0">
            <a:noAutofit/>
          </a:bodyPr>
          <a:lstStyle/>
          <a:p>
            <a:pPr>
              <a:lnSpc>
                <a:spcPts val="1043"/>
              </a:lnSpc>
              <a:defRPr sz="855" b="0">
                <a:solidFill>
                  <a:srgbClr val="0E130F"/>
                </a:solidFill>
                <a:latin typeface="JetBrains Mono"/>
              </a:defRPr>
            </a:pPr>
            <a:r>
              <a:t>Chaves não custodiais</a:t>
            </a:r>
          </a:p>
        </p:txBody>
      </p:sp>
      <p:sp>
        <p:nvSpPr>
          <p:cNvPr id="53" name="TextBox 52"/>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54" name="TextBox 53"/>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11B"/>
        </a:solidFill>
      </p:bgPr>
    </p:bg>
    <p:spTree>
      <p:nvGrpSpPr>
        <p:cNvPr id="1" name=""/>
        <p:cNvGrpSpPr/>
        <p:nvPr/>
      </p:nvGrpSpPr>
      <p:grpSpPr>
        <a:xfrm>
          <a:off x="0" y="0"/>
          <a:ext cx="0" cy="0"/>
          <a:chOff x="0" y="0"/>
          <a:chExt cx="0" cy="0"/>
        </a:xfrm>
      </p:grpSpPr>
      <p:sp>
        <p:nvSpPr>
          <p:cNvPr id="36" name="TextBox 35"/>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07 — PARA QUEM É</a:t>
            </a:r>
          </a:p>
        </p:txBody>
      </p:sp>
      <p:sp>
        <p:nvSpPr>
          <p:cNvPr id="21" name="Text 18"/>
          <p:cNvSpPr/>
          <p:nvPr/>
        </p:nvSpPr>
        <p:spPr>
          <a:xfrm>
            <a:off x="571500" y="809625"/>
            <a:ext cx="61912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Feito para o balcão,</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não para a mesa de trade.</a:t>
            </a:r>
            <a:endParaRPr lang="en-US" sz="2708" dirty="0"/>
          </a:p>
        </p:txBody>
      </p:sp>
      <p:sp>
        <p:nvSpPr>
          <p:cNvPr id="22" name="Shape 19"/>
          <p:cNvSpPr/>
          <p:nvPr/>
        </p:nvSpPr>
        <p:spPr>
          <a:xfrm>
            <a:off x="571500" y="2476500"/>
            <a:ext cx="2476500" cy="28575"/>
          </a:xfrm>
          <a:prstGeom prst="rect">
            <a:avLst/>
          </a:prstGeom>
          <a:solidFill>
            <a:srgbClr val="BDF06B"/>
          </a:solidFill>
          <a:ln/>
        </p:spPr>
        <p:txBody>
          <a:bodyPr/>
          <a:p/>
        </p:txBody>
      </p:sp>
      <p:sp>
        <p:nvSpPr>
          <p:cNvPr id="37" name="TextBox 36"/>
          <p:cNvSpPr txBox="1"/>
          <p:nvPr/>
        </p:nvSpPr>
        <p:spPr>
          <a:xfrm>
            <a:off x="571500" y="2647950"/>
            <a:ext cx="642366"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PRINCIPAL</a:t>
            </a:r>
          </a:p>
        </p:txBody>
      </p:sp>
      <p:sp>
        <p:nvSpPr>
          <p:cNvPr id="24" name="Text 21"/>
          <p:cNvSpPr/>
          <p:nvPr/>
        </p:nvSpPr>
        <p:spPr>
          <a:xfrm>
            <a:off x="57150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Pequenos lojistas</a:t>
            </a:r>
            <a:endParaRPr lang="en-US" sz="1568" dirty="0"/>
          </a:p>
        </p:txBody>
      </p:sp>
      <p:sp>
        <p:nvSpPr>
          <p:cNvPr id="25" name="Text 22"/>
          <p:cNvSpPr/>
          <p:nvPr/>
        </p:nvSpPr>
        <p:spPr>
          <a:xfrm>
            <a:off x="57150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Cafés, restaurantes e serviços locais que perdem margem com taxas de cartão e esperam dias pelo dinheiro.</a:t>
            </a:r>
            <a:endParaRPr lang="en-US" sz="926" dirty="0"/>
          </a:p>
        </p:txBody>
      </p:sp>
      <p:sp>
        <p:nvSpPr>
          <p:cNvPr id="26" name="Shape 23"/>
          <p:cNvSpPr/>
          <p:nvPr/>
        </p:nvSpPr>
        <p:spPr>
          <a:xfrm>
            <a:off x="3333750" y="2476500"/>
            <a:ext cx="2476500" cy="28575"/>
          </a:xfrm>
          <a:prstGeom prst="rect">
            <a:avLst/>
          </a:prstGeom>
          <a:solidFill>
            <a:srgbClr val="F7F7F2"/>
          </a:solidFill>
          <a:ln/>
        </p:spPr>
        <p:txBody>
          <a:bodyPr/>
          <a:p/>
        </p:txBody>
      </p:sp>
      <p:sp>
        <p:nvSpPr>
          <p:cNvPr id="38" name="TextBox 37"/>
          <p:cNvSpPr txBox="1"/>
          <p:nvPr/>
        </p:nvSpPr>
        <p:spPr>
          <a:xfrm>
            <a:off x="3333750" y="2647950"/>
            <a:ext cx="776288" cy="185115"/>
          </a:xfrm>
          <a:prstGeom prst="rect">
            <a:avLst/>
          </a:prstGeom>
          <a:noFill/>
        </p:spPr>
        <p:txBody>
          <a:bodyPr wrap="none" lIns="0" tIns="0" rIns="0" bIns="0">
            <a:noAutofit/>
          </a:bodyPr>
          <a:lstStyle/>
          <a:p>
            <a:pPr>
              <a:lnSpc>
                <a:spcPts val="956"/>
              </a:lnSpc>
              <a:defRPr sz="784" b="1">
                <a:solidFill>
                  <a:srgbClr val="F7F7F2"/>
                </a:solidFill>
                <a:latin typeface="JetBrains Mono"/>
              </a:defRPr>
            </a:pPr>
            <a:r>
              <a:t>CRESCIMENTO</a:t>
            </a:r>
          </a:p>
        </p:txBody>
      </p:sp>
      <p:sp>
        <p:nvSpPr>
          <p:cNvPr id="28" name="Text 25"/>
          <p:cNvSpPr/>
          <p:nvPr/>
        </p:nvSpPr>
        <p:spPr>
          <a:xfrm>
            <a:off x="333375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Consumidores do Pix</a:t>
            </a:r>
            <a:endParaRPr lang="en-US" sz="1568" dirty="0"/>
          </a:p>
        </p:txBody>
      </p:sp>
      <p:sp>
        <p:nvSpPr>
          <p:cNvPr id="29" name="Text 26"/>
          <p:cNvSpPr/>
          <p:nvPr/>
        </p:nvSpPr>
        <p:spPr>
          <a:xfrm>
            <a:off x="3333750" y="3219450"/>
            <a:ext cx="2381250" cy="528638"/>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Pessoas de 18 a 35 anos que já pagam tudo pelo celular, têm curiosidade por cripto e querem simplicidade.</a:t>
            </a:r>
            <a:endParaRPr lang="en-US" sz="926" dirty="0"/>
          </a:p>
        </p:txBody>
      </p:sp>
      <p:sp>
        <p:nvSpPr>
          <p:cNvPr id="30" name="Shape 27"/>
          <p:cNvSpPr/>
          <p:nvPr/>
        </p:nvSpPr>
        <p:spPr>
          <a:xfrm>
            <a:off x="6096000" y="2476500"/>
            <a:ext cx="2476500" cy="28575"/>
          </a:xfrm>
          <a:prstGeom prst="rect">
            <a:avLst/>
          </a:prstGeom>
          <a:solidFill>
            <a:srgbClr val="B2BDB2"/>
          </a:solidFill>
          <a:ln/>
        </p:spPr>
        <p:txBody>
          <a:bodyPr/>
          <a:p/>
        </p:txBody>
      </p:sp>
      <p:sp>
        <p:nvSpPr>
          <p:cNvPr id="39" name="TextBox 38"/>
          <p:cNvSpPr txBox="1"/>
          <p:nvPr/>
        </p:nvSpPr>
        <p:spPr>
          <a:xfrm>
            <a:off x="6096000" y="2647950"/>
            <a:ext cx="642366"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PRIMEIROS</a:t>
            </a:r>
          </a:p>
        </p:txBody>
      </p:sp>
      <p:sp>
        <p:nvSpPr>
          <p:cNvPr id="32" name="Text 29"/>
          <p:cNvSpPr/>
          <p:nvPr/>
        </p:nvSpPr>
        <p:spPr>
          <a:xfrm>
            <a:off x="6096000" y="2857500"/>
            <a:ext cx="2476500" cy="228600"/>
          </a:xfrm>
          <a:prstGeom prst="rect">
            <a:avLst/>
          </a:prstGeom>
          <a:noFill/>
          <a:ln/>
        </p:spPr>
        <p:txBody>
          <a:bodyPr wrap="square" lIns="0" tIns="0" rIns="0" bIns="0" rtlCol="0" anchor="t"/>
          <a:lstStyle/>
          <a:p>
            <a:pPr algn="l" indent="0" marL="0">
              <a:lnSpc>
                <a:spcPts val="1693"/>
              </a:lnSpc>
              <a:buNone/>
            </a:pPr>
            <a:r>
              <a:rPr lang="en-US" sz="1568" b="1" spc="-24" kern="0" dirty="0">
                <a:solidFill>
                  <a:srgbClr val="F7F7F2">
                    <a:alpha val="99000"/>
                  </a:srgbClr>
                </a:solidFill>
                <a:latin typeface="Inter" pitchFamily="34" charset="0"/>
                <a:ea typeface="Inter" pitchFamily="34" charset="-122"/>
                <a:cs typeface="Inter" pitchFamily="34" charset="-120"/>
              </a:rPr>
              <a:t>Quem já tem cripto</a:t>
            </a:r>
            <a:endParaRPr lang="en-US" sz="1568" dirty="0"/>
          </a:p>
        </p:txBody>
      </p:sp>
      <p:sp>
        <p:nvSpPr>
          <p:cNvPr id="33" name="Text 30"/>
          <p:cNvSpPr/>
          <p:nvPr/>
        </p:nvSpPr>
        <p:spPr>
          <a:xfrm>
            <a:off x="6096000" y="3219450"/>
            <a:ext cx="2381250" cy="704850"/>
          </a:xfrm>
          <a:prstGeom prst="rect">
            <a:avLst/>
          </a:prstGeom>
          <a:noFill/>
          <a:ln/>
        </p:spPr>
        <p:txBody>
          <a:bodyPr wrap="square" lIns="0" tIns="0" rIns="0" bIns="0" rtlCol="0" anchor="t"/>
          <a:lstStyle/>
          <a:p>
            <a:pPr algn="l" indent="0" marL="0">
              <a:lnSpc>
                <a:spcPts val="1315"/>
              </a:lnSpc>
              <a:buNone/>
            </a:pPr>
            <a:r>
              <a:rPr lang="en-US" sz="926" dirty="0">
                <a:solidFill>
                  <a:srgbClr val="B2BDB2">
                    <a:alpha val="99000"/>
                  </a:srgbClr>
                </a:solidFill>
                <a:latin typeface="Inter" pitchFamily="34" charset="0"/>
                <a:ea typeface="Inter" pitchFamily="34" charset="-122"/>
                <a:cs typeface="Inter" pitchFamily="34" charset="-120"/>
              </a:rPr>
              <a:t>Usuários da Solana que querem gastar de verdade: pagar um Blink pela Phantom e ganhar cashback em compras reais.</a:t>
            </a:r>
            <a:endParaRPr lang="en-US" sz="926" dirty="0"/>
          </a:p>
        </p:txBody>
      </p:sp>
      <p:sp>
        <p:nvSpPr>
          <p:cNvPr id="40" name="TextBox 39"/>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41" name="TextBox 40"/>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08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2"/>
        </a:solidFill>
      </p:bgPr>
    </p:bg>
    <p:spTree>
      <p:nvGrpSpPr>
        <p:cNvPr id="1" name=""/>
        <p:cNvGrpSpPr/>
        <p:nvPr/>
      </p:nvGrpSpPr>
      <p:grpSpPr>
        <a:xfrm>
          <a:off x="0" y="0"/>
          <a:ext cx="0" cy="0"/>
          <a:chOff x="0" y="0"/>
          <a:chExt cx="0" cy="0"/>
        </a:xfrm>
      </p:grpSpPr>
      <p:sp>
        <p:nvSpPr>
          <p:cNvPr id="41" name="TextBox 4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08 — MODELO DE NEGÓCIO</a:t>
            </a:r>
          </a:p>
        </p:txBody>
      </p:sp>
      <p:sp>
        <p:nvSpPr>
          <p:cNvPr id="23" name="Text 20"/>
          <p:cNvSpPr/>
          <p:nvPr/>
        </p:nvSpPr>
        <p:spPr>
          <a:xfrm>
            <a:off x="571500" y="809625"/>
            <a:ext cx="3619500" cy="108585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Mais barato para o</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lojista. Sustentável</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para a rede.</a:t>
            </a:r>
            <a:endParaRPr lang="en-US" sz="2708" dirty="0"/>
          </a:p>
        </p:txBody>
      </p:sp>
      <p:sp>
        <p:nvSpPr>
          <p:cNvPr id="24" name="Shape 21"/>
          <p:cNvSpPr/>
          <p:nvPr/>
        </p:nvSpPr>
        <p:spPr>
          <a:xfrm>
            <a:off x="4572000" y="809625"/>
            <a:ext cx="4000500" cy="14288"/>
          </a:xfrm>
          <a:prstGeom prst="rect">
            <a:avLst/>
          </a:prstGeom>
          <a:solidFill>
            <a:srgbClr val="0E130F"/>
          </a:solidFill>
          <a:ln/>
        </p:spPr>
        <p:txBody>
          <a:bodyPr/>
          <a:p/>
        </p:txBody>
      </p:sp>
      <p:sp>
        <p:nvSpPr>
          <p:cNvPr id="25" name="Text 22"/>
          <p:cNvSpPr/>
          <p:nvPr/>
        </p:nvSpPr>
        <p:spPr>
          <a:xfrm>
            <a:off x="4572000" y="904875"/>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0%</a:t>
            </a:r>
            <a:endParaRPr lang="en-US" sz="4703" dirty="0"/>
          </a:p>
        </p:txBody>
      </p:sp>
      <p:sp>
        <p:nvSpPr>
          <p:cNvPr id="26" name="Text 23"/>
          <p:cNvSpPr/>
          <p:nvPr/>
        </p:nvSpPr>
        <p:spPr>
          <a:xfrm>
            <a:off x="6096000" y="1019175"/>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para receber um pagamento</a:t>
            </a:r>
            <a:endParaRPr lang="en-US" sz="1140" dirty="0"/>
          </a:p>
        </p:txBody>
      </p:sp>
      <p:sp>
        <p:nvSpPr>
          <p:cNvPr id="27" name="Text 24"/>
          <p:cNvSpPr/>
          <p:nvPr/>
        </p:nvSpPr>
        <p:spPr>
          <a:xfrm>
            <a:off x="6096000" y="1266825"/>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O lojista fica com a venda inteira. Sem aluguel de maquininha, sem esperar dias.</a:t>
            </a:r>
            <a:endParaRPr lang="en-US" sz="855" dirty="0"/>
          </a:p>
        </p:txBody>
      </p:sp>
      <p:sp>
        <p:nvSpPr>
          <p:cNvPr id="28" name="Shape 25"/>
          <p:cNvSpPr/>
          <p:nvPr/>
        </p:nvSpPr>
        <p:spPr>
          <a:xfrm>
            <a:off x="4572000" y="2000250"/>
            <a:ext cx="4000500" cy="14288"/>
          </a:xfrm>
          <a:prstGeom prst="rect">
            <a:avLst/>
          </a:prstGeom>
          <a:solidFill>
            <a:srgbClr val="0E130F"/>
          </a:solidFill>
          <a:ln/>
        </p:spPr>
        <p:txBody>
          <a:bodyPr/>
          <a:p/>
        </p:txBody>
      </p:sp>
      <p:sp>
        <p:nvSpPr>
          <p:cNvPr id="29" name="Text 26"/>
          <p:cNvSpPr/>
          <p:nvPr/>
        </p:nvSpPr>
        <p:spPr>
          <a:xfrm>
            <a:off x="4572000" y="2095500"/>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5%</a:t>
            </a:r>
            <a:endParaRPr lang="en-US" sz="4703" dirty="0"/>
          </a:p>
        </p:txBody>
      </p:sp>
      <p:sp>
        <p:nvSpPr>
          <p:cNvPr id="30" name="Text 27"/>
          <p:cNvSpPr/>
          <p:nvPr/>
        </p:nvSpPr>
        <p:spPr>
          <a:xfrm>
            <a:off x="6096000" y="2209800"/>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só ao sacar para o Pix</a:t>
            </a:r>
            <a:endParaRPr lang="en-US" sz="1140" dirty="0"/>
          </a:p>
        </p:txBody>
      </p:sp>
      <p:sp>
        <p:nvSpPr>
          <p:cNvPr id="31" name="Text 28"/>
          <p:cNvSpPr/>
          <p:nvPr/>
        </p:nvSpPr>
        <p:spPr>
          <a:xfrm>
            <a:off x="6096000" y="2457450"/>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O lojista escolhe quando converter. Muitos mantêm SIMPAY para gastar na rede.</a:t>
            </a:r>
            <a:endParaRPr lang="en-US" sz="855" dirty="0"/>
          </a:p>
        </p:txBody>
      </p:sp>
      <p:sp>
        <p:nvSpPr>
          <p:cNvPr id="32" name="Shape 29"/>
          <p:cNvSpPr/>
          <p:nvPr/>
        </p:nvSpPr>
        <p:spPr>
          <a:xfrm>
            <a:off x="4572000" y="3190875"/>
            <a:ext cx="4000500" cy="14288"/>
          </a:xfrm>
          <a:prstGeom prst="rect">
            <a:avLst/>
          </a:prstGeom>
          <a:solidFill>
            <a:srgbClr val="0E130F"/>
          </a:solidFill>
          <a:ln/>
        </p:spPr>
        <p:txBody>
          <a:bodyPr/>
          <a:p/>
        </p:txBody>
      </p:sp>
      <p:sp>
        <p:nvSpPr>
          <p:cNvPr id="33" name="Text 30"/>
          <p:cNvSpPr/>
          <p:nvPr/>
        </p:nvSpPr>
        <p:spPr>
          <a:xfrm>
            <a:off x="4572000" y="3286125"/>
            <a:ext cx="1428750" cy="762000"/>
          </a:xfrm>
          <a:prstGeom prst="rect">
            <a:avLst/>
          </a:prstGeom>
          <a:noFill/>
          <a:ln/>
        </p:spPr>
        <p:txBody>
          <a:bodyPr wrap="square" lIns="0" tIns="0" rIns="0" bIns="0" rtlCol="0" anchor="t"/>
          <a:lstStyle/>
          <a:p>
            <a:pPr algn="l" indent="0" marL="0">
              <a:lnSpc>
                <a:spcPts val="5691"/>
              </a:lnSpc>
              <a:buNone/>
            </a:pPr>
            <a:r>
              <a:rPr lang="en-US" sz="4703" b="1" spc="-188" kern="0" dirty="0">
                <a:solidFill>
                  <a:srgbClr val="0E130F">
                    <a:alpha val="99000"/>
                  </a:srgbClr>
                </a:solidFill>
                <a:latin typeface="Inter" pitchFamily="34" charset="0"/>
                <a:ea typeface="Inter" pitchFamily="34" charset="-122"/>
                <a:cs typeface="Inter" pitchFamily="34" charset="-120"/>
              </a:rPr>
              <a:t>+</a:t>
            </a:r>
            <a:endParaRPr lang="en-US" sz="4703" dirty="0"/>
          </a:p>
        </p:txBody>
      </p:sp>
      <p:sp>
        <p:nvSpPr>
          <p:cNvPr id="34" name="Text 31"/>
          <p:cNvSpPr/>
          <p:nvPr/>
        </p:nvSpPr>
        <p:spPr>
          <a:xfrm>
            <a:off x="6096000" y="3400425"/>
            <a:ext cx="2476500" cy="176213"/>
          </a:xfrm>
          <a:prstGeom prst="rect">
            <a:avLst/>
          </a:prstGeom>
          <a:noFill/>
          <a:ln/>
        </p:spPr>
        <p:txBody>
          <a:bodyPr wrap="square" lIns="0" tIns="0" rIns="0" bIns="0" rtlCol="0" anchor="t"/>
          <a:lstStyle/>
          <a:p>
            <a:pPr algn="l" indent="0" marL="0">
              <a:lnSpc>
                <a:spcPts val="1311"/>
              </a:lnSpc>
              <a:buNone/>
            </a:pPr>
            <a:r>
              <a:rPr lang="en-US" sz="1140" b="1" spc="-6" kern="0" dirty="0">
                <a:solidFill>
                  <a:srgbClr val="0E130F">
                    <a:alpha val="99000"/>
                  </a:srgbClr>
                </a:solidFill>
                <a:latin typeface="Inter" pitchFamily="34" charset="0"/>
                <a:ea typeface="Inter" pitchFamily="34" charset="-122"/>
                <a:cs typeface="Inter" pitchFamily="34" charset="-120"/>
              </a:rPr>
              <a:t>taxa de serviço na compra via Pix</a:t>
            </a:r>
            <a:endParaRPr lang="en-US" sz="1140" dirty="0"/>
          </a:p>
        </p:txBody>
      </p:sp>
      <p:sp>
        <p:nvSpPr>
          <p:cNvPr id="35" name="Text 32"/>
          <p:cNvSpPr/>
          <p:nvPr/>
        </p:nvSpPr>
        <p:spPr>
          <a:xfrm>
            <a:off x="6096000" y="3648075"/>
            <a:ext cx="2476500" cy="323850"/>
          </a:xfrm>
          <a:prstGeom prst="rect">
            <a:avLst/>
          </a:prstGeom>
          <a:noFill/>
          <a:ln/>
        </p:spPr>
        <p:txBody>
          <a:bodyPr wrap="square" lIns="0" tIns="0" rIns="0" bIns="0" rtlCol="0" anchor="t"/>
          <a:lstStyle/>
          <a:p>
            <a:pPr algn="l" indent="0" marL="0">
              <a:lnSpc>
                <a:spcPts val="1197"/>
              </a:lnSpc>
              <a:buNone/>
            </a:pPr>
            <a:r>
              <a:rPr lang="en-US" sz="855" dirty="0">
                <a:solidFill>
                  <a:srgbClr val="545C54">
                    <a:alpha val="99000"/>
                  </a:srgbClr>
                </a:solidFill>
                <a:latin typeface="Inter" pitchFamily="34" charset="0"/>
                <a:ea typeface="Inter" pitchFamily="34" charset="-122"/>
                <a:cs typeface="Inter" pitchFamily="34" charset="-120"/>
              </a:rPr>
              <a:t>O cliente compra SIMPAY com Pix; uma pequena taxa custeia a operação.</a:t>
            </a:r>
            <a:endParaRPr lang="en-US" sz="855" dirty="0"/>
          </a:p>
        </p:txBody>
      </p:sp>
      <p:sp>
        <p:nvSpPr>
          <p:cNvPr id="36" name="Text 33"/>
          <p:cNvSpPr/>
          <p:nvPr/>
        </p:nvSpPr>
        <p:spPr>
          <a:xfrm>
            <a:off x="571500" y="4142232"/>
            <a:ext cx="3611880" cy="557213"/>
          </a:xfrm>
          <a:prstGeom prst="rect">
            <a:avLst/>
          </a:prstGeom>
          <a:noFill/>
          <a:ln/>
        </p:spPr>
        <p:txBody>
          <a:bodyPr wrap="square" lIns="0" tIns="0" rIns="0" bIns="0" rtlCol="0" anchor="t"/>
          <a:lstStyle/>
          <a:p>
            <a:pPr algn="l" indent="0" marL="0">
              <a:lnSpc>
                <a:spcPts val="1397"/>
              </a:lnSpc>
              <a:buNone/>
            </a:pPr>
            <a:r>
              <a:rPr lang="en-US" sz="855" dirty="0">
                <a:solidFill>
                  <a:srgbClr val="545C54">
                    <a:alpha val="99000"/>
                  </a:srgbClr>
                </a:solidFill>
                <a:latin typeface="Inter" pitchFamily="34" charset="0"/>
                <a:ea typeface="Inter" pitchFamily="34" charset="-122"/>
                <a:cs typeface="Inter" pitchFamily="34" charset="-120"/>
              </a:rPr>
              <a:t>Cashback e indicações: financiados pela alocação de 20% para recompensas.</a:t>
            </a:r>
            <a:endParaRPr lang="en-US" sz="998" dirty="0"/>
          </a:p>
        </p:txBody>
      </p:sp>
      <p:sp>
        <p:nvSpPr>
          <p:cNvPr id="42" name="TextBox 4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43" name="TextBox 4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09</a:t>
            </a:r>
          </a:p>
        </p:txBody>
      </p:sp>
      <p:pic>
        <p:nvPicPr>
          <p:cNvPr id="39" name="simulator-pt.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71500" y="2395728"/>
            <a:ext cx="3611880" cy="1473906"/>
          </a:xfrm>
          <a:prstGeom prst="rect">
            <a:avLst/>
          </a:prstGeom>
        </p:spPr>
      </p:pic>
      <p:sp>
        <p:nvSpPr>
          <p:cNvPr id="40" name="TextBox 39"/>
          <p:cNvSpPr txBox="1"/>
          <p:nvPr/>
        </p:nvSpPr>
        <p:spPr>
          <a:xfrm>
            <a:off x="571500" y="2185416"/>
            <a:ext cx="3611880" cy="137160"/>
          </a:xfrm>
          <a:prstGeom prst="rect">
            <a:avLst/>
          </a:prstGeom>
          <a:noFill/>
        </p:spPr>
        <p:txBody>
          <a:bodyPr wrap="square" lIns="0" tIns="0" rIns="0" bIns="0">
            <a:noAutofit/>
          </a:bodyPr>
          <a:lstStyle/>
          <a:p>
            <a:pPr>
              <a:lnSpc>
                <a:spcPts val="878"/>
              </a:lnSpc>
              <a:defRPr sz="720" b="0">
                <a:solidFill>
                  <a:srgbClr val="545C54"/>
                </a:solidFill>
                <a:latin typeface="JetBrains Mono"/>
              </a:defRPr>
            </a:pPr>
            <a:r>
              <a:rPr/>
              <a:t>SIMULADOR DO SITE · 5s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9"/>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BDF06B"/>
        </a:solidFill>
      </p:bgPr>
    </p:bg>
    <p:spTree>
      <p:nvGrpSpPr>
        <p:cNvPr id="1" name=""/>
        <p:cNvGrpSpPr/>
        <p:nvPr/>
      </p:nvGrpSpPr>
      <p:grpSpPr>
        <a:xfrm>
          <a:off x="0" y="0"/>
          <a:ext cx="0" cy="0"/>
          <a:chOff x="0" y="0"/>
          <a:chExt cx="0" cy="0"/>
        </a:xfrm>
      </p:grpSpPr>
      <p:sp>
        <p:nvSpPr>
          <p:cNvPr id="38" name="TextBox 37"/>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0E130F"/>
                </a:solidFill>
                <a:latin typeface="JetBrains Mono"/>
              </a:defRPr>
            </a:pPr>
            <a:r>
              <a:t>09 — PLANO DE TRAÇÃO</a:t>
            </a:r>
          </a:p>
        </p:txBody>
      </p:sp>
      <p:sp>
        <p:nvSpPr>
          <p:cNvPr id="20" name="Text 17"/>
          <p:cNvSpPr/>
          <p:nvPr/>
        </p:nvSpPr>
        <p:spPr>
          <a:xfrm>
            <a:off x="571500" y="809625"/>
            <a:ext cx="6667500" cy="762000"/>
          </a:xfrm>
          <a:prstGeom prst="rect">
            <a:avLst/>
          </a:prstGeom>
          <a:noFill/>
          <a:ln/>
        </p:spPr>
        <p:txBody>
          <a:bodyPr wrap="square" lIns="0" tIns="0" rIns="0" bIns="0" rtlCol="0" anchor="t"/>
          <a:lstStyle/>
          <a:p>
            <a:pPr algn="l" indent="0" marL="0">
              <a:lnSpc>
                <a:spcPts val="2850"/>
              </a:lnSpc>
              <a:buNone/>
            </a:pPr>
            <a:r>
              <a:rPr lang="en-US" sz="2850" b="1" spc="-85" kern="0" dirty="0">
                <a:solidFill>
                  <a:srgbClr val="0E130F">
                    <a:alpha val="99000"/>
                  </a:srgbClr>
                </a:solidFill>
                <a:latin typeface="Inter" pitchFamily="34" charset="0"/>
                <a:ea typeface="Inter" pitchFamily="34" charset="-122"/>
                <a:cs typeface="Inter" pitchFamily="34" charset="-120"/>
              </a:rPr>
              <a:t>Um ciclo de crescimento</a:t>
            </a:r>
            <a:endParaRPr lang="en-US" sz="2850" dirty="0"/>
          </a:p>
          <a:p>
            <a:pPr algn="l" indent="0" marL="0">
              <a:lnSpc>
                <a:spcPts val="2850"/>
              </a:lnSpc>
              <a:buNone/>
            </a:pPr>
            <a:r>
              <a:rPr lang="en-US" sz="2850" b="1" spc="-85" kern="0" dirty="0">
                <a:solidFill>
                  <a:srgbClr val="0E130F">
                    <a:alpha val="99000"/>
                  </a:srgbClr>
                </a:solidFill>
                <a:latin typeface="Inter" pitchFamily="34" charset="0"/>
                <a:ea typeface="Inter" pitchFamily="34" charset="-122"/>
                <a:cs typeface="Inter" pitchFamily="34" charset="-120"/>
              </a:rPr>
              <a:t>dentro do produto.</a:t>
            </a:r>
            <a:endParaRPr lang="en-US" sz="2850" dirty="0"/>
          </a:p>
        </p:txBody>
      </p:sp>
      <p:sp>
        <p:nvSpPr>
          <p:cNvPr id="21" name="Text 18"/>
          <p:cNvSpPr/>
          <p:nvPr/>
        </p:nvSpPr>
        <p:spPr>
          <a:xfrm>
            <a:off x="571500"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1</a:t>
            </a:r>
            <a:endParaRPr lang="en-US" sz="4275" dirty="0"/>
          </a:p>
        </p:txBody>
      </p:sp>
      <p:sp>
        <p:nvSpPr>
          <p:cNvPr id="22" name="Text 19"/>
          <p:cNvSpPr/>
          <p:nvPr/>
        </p:nvSpPr>
        <p:spPr>
          <a:xfrm>
            <a:off x="571500"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Lojistas piloto</a:t>
            </a:r>
            <a:endParaRPr lang="en-US" sz="1211" dirty="0"/>
          </a:p>
        </p:txBody>
      </p:sp>
      <p:sp>
        <p:nvSpPr>
          <p:cNvPr id="23" name="Text 20"/>
          <p:cNvSpPr/>
          <p:nvPr/>
        </p:nvSpPr>
        <p:spPr>
          <a:xfrm>
            <a:off x="571500" y="3333750"/>
            <a:ext cx="1714500" cy="485775"/>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Cadastro assistido de cafés e lojas locais, com tags NFC e configuração em 5 minutos.</a:t>
            </a:r>
            <a:endParaRPr lang="en-US" sz="855" dirty="0"/>
          </a:p>
        </p:txBody>
      </p:sp>
      <p:sp>
        <p:nvSpPr>
          <p:cNvPr id="24" name="Text 21"/>
          <p:cNvSpPr/>
          <p:nvPr/>
        </p:nvSpPr>
        <p:spPr>
          <a:xfrm>
            <a:off x="2143125"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25" name="Text 22"/>
          <p:cNvSpPr/>
          <p:nvPr/>
        </p:nvSpPr>
        <p:spPr>
          <a:xfrm>
            <a:off x="2619375"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2</a:t>
            </a:r>
            <a:endParaRPr lang="en-US" sz="4275" dirty="0"/>
          </a:p>
        </p:txBody>
      </p:sp>
      <p:sp>
        <p:nvSpPr>
          <p:cNvPr id="26" name="Text 23"/>
          <p:cNvSpPr/>
          <p:nvPr/>
        </p:nvSpPr>
        <p:spPr>
          <a:xfrm>
            <a:off x="2619375"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Lojista → lojista</a:t>
            </a:r>
            <a:endParaRPr lang="en-US" sz="1211" dirty="0"/>
          </a:p>
        </p:txBody>
      </p:sp>
      <p:sp>
        <p:nvSpPr>
          <p:cNvPr id="27" name="Text 24"/>
          <p:cNvSpPr/>
          <p:nvPr/>
        </p:nvSpPr>
        <p:spPr>
          <a:xfrm>
            <a:off x="2619375" y="3333750"/>
            <a:ext cx="1714500" cy="647700"/>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Cada lojista tem um código. Os dois ganham SIMPAY depois das primeiras vendas da nova loja.</a:t>
            </a:r>
            <a:endParaRPr lang="en-US" sz="855" dirty="0"/>
          </a:p>
        </p:txBody>
      </p:sp>
      <p:sp>
        <p:nvSpPr>
          <p:cNvPr id="28" name="Text 25"/>
          <p:cNvSpPr/>
          <p:nvPr/>
        </p:nvSpPr>
        <p:spPr>
          <a:xfrm>
            <a:off x="4191000"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29" name="Text 26"/>
          <p:cNvSpPr/>
          <p:nvPr/>
        </p:nvSpPr>
        <p:spPr>
          <a:xfrm>
            <a:off x="4667250"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3</a:t>
            </a:r>
            <a:endParaRPr lang="en-US" sz="4275" dirty="0"/>
          </a:p>
        </p:txBody>
      </p:sp>
      <p:sp>
        <p:nvSpPr>
          <p:cNvPr id="30" name="Text 27"/>
          <p:cNvSpPr/>
          <p:nvPr/>
        </p:nvSpPr>
        <p:spPr>
          <a:xfrm>
            <a:off x="4667250"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Cliente → cliente</a:t>
            </a:r>
            <a:endParaRPr lang="en-US" sz="1211" dirty="0"/>
          </a:p>
        </p:txBody>
      </p:sp>
      <p:sp>
        <p:nvSpPr>
          <p:cNvPr id="31" name="Text 28"/>
          <p:cNvSpPr/>
          <p:nvPr/>
        </p:nvSpPr>
        <p:spPr>
          <a:xfrm>
            <a:off x="4667250" y="3333750"/>
            <a:ext cx="1714500" cy="647700"/>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Cashback em toda compra e códigos de convite. A recompensa sai no primeiro pagamento real.</a:t>
            </a:r>
            <a:endParaRPr lang="en-US" sz="855" dirty="0"/>
          </a:p>
        </p:txBody>
      </p:sp>
      <p:sp>
        <p:nvSpPr>
          <p:cNvPr id="32" name="Text 29"/>
          <p:cNvSpPr/>
          <p:nvPr/>
        </p:nvSpPr>
        <p:spPr>
          <a:xfrm>
            <a:off x="6238875" y="2381250"/>
            <a:ext cx="295275" cy="366713"/>
          </a:xfrm>
          <a:prstGeom prst="rect">
            <a:avLst/>
          </a:prstGeom>
          <a:noFill/>
          <a:ln/>
        </p:spPr>
        <p:txBody>
          <a:bodyPr wrap="square" lIns="0" tIns="0" rIns="0" bIns="0" rtlCol="0" anchor="t"/>
          <a:lstStyle/>
          <a:p>
            <a:pPr algn="l" indent="0" marL="0">
              <a:lnSpc>
                <a:spcPts val="2759"/>
              </a:lnSpc>
              <a:buNone/>
            </a:pPr>
            <a:r>
              <a:rPr lang="en-US" sz="2280" b="1" dirty="0">
                <a:solidFill>
                  <a:srgbClr val="0E130F">
                    <a:alpha val="99000"/>
                  </a:srgbClr>
                </a:solidFill>
                <a:latin typeface="Inter" pitchFamily="34" charset="0"/>
                <a:ea typeface="Inter" pitchFamily="34" charset="-122"/>
                <a:cs typeface="Inter" pitchFamily="34" charset="-120"/>
              </a:rPr>
              <a:t>→</a:t>
            </a:r>
            <a:endParaRPr lang="en-US" sz="2280" dirty="0"/>
          </a:p>
        </p:txBody>
      </p:sp>
      <p:sp>
        <p:nvSpPr>
          <p:cNvPr id="33" name="Text 30"/>
          <p:cNvSpPr/>
          <p:nvPr/>
        </p:nvSpPr>
        <p:spPr>
          <a:xfrm>
            <a:off x="6715125" y="2238375"/>
            <a:ext cx="952500" cy="690563"/>
          </a:xfrm>
          <a:prstGeom prst="rect">
            <a:avLst/>
          </a:prstGeom>
          <a:noFill/>
          <a:ln/>
        </p:spPr>
        <p:txBody>
          <a:bodyPr wrap="square" lIns="0" tIns="0" rIns="0" bIns="0" rtlCol="0" anchor="t"/>
          <a:lstStyle/>
          <a:p>
            <a:pPr algn="l" indent="0" marL="0">
              <a:lnSpc>
                <a:spcPts val="5174"/>
              </a:lnSpc>
              <a:buNone/>
            </a:pPr>
            <a:r>
              <a:rPr lang="en-US" sz="4275" b="1" spc="-171" kern="0" dirty="0">
                <a:solidFill>
                  <a:srgbClr val="0E130F">
                    <a:alpha val="99000"/>
                  </a:srgbClr>
                </a:solidFill>
                <a:latin typeface="Inter" pitchFamily="34" charset="0"/>
                <a:ea typeface="Inter" pitchFamily="34" charset="-122"/>
                <a:cs typeface="Inter" pitchFamily="34" charset="-120"/>
              </a:rPr>
              <a:t>4</a:t>
            </a:r>
            <a:endParaRPr lang="en-US" sz="4275" dirty="0"/>
          </a:p>
        </p:txBody>
      </p:sp>
      <p:sp>
        <p:nvSpPr>
          <p:cNvPr id="34" name="Text 31"/>
          <p:cNvSpPr/>
          <p:nvPr/>
        </p:nvSpPr>
        <p:spPr>
          <a:xfrm>
            <a:off x="6715125" y="3048000"/>
            <a:ext cx="1762125" cy="176213"/>
          </a:xfrm>
          <a:prstGeom prst="rect">
            <a:avLst/>
          </a:prstGeom>
          <a:noFill/>
          <a:ln/>
        </p:spPr>
        <p:txBody>
          <a:bodyPr wrap="square" lIns="0" tIns="0" rIns="0" bIns="0" rtlCol="0" anchor="t"/>
          <a:lstStyle/>
          <a:p>
            <a:pPr algn="l" indent="0" marL="0">
              <a:lnSpc>
                <a:spcPts val="1332"/>
              </a:lnSpc>
              <a:buNone/>
            </a:pPr>
            <a:r>
              <a:rPr lang="en-US" sz="1211" b="1" spc="-12" kern="0" dirty="0">
                <a:solidFill>
                  <a:srgbClr val="0E130F">
                    <a:alpha val="99000"/>
                  </a:srgbClr>
                </a:solidFill>
                <a:latin typeface="Inter" pitchFamily="34" charset="0"/>
                <a:ea typeface="Inter" pitchFamily="34" charset="-122"/>
                <a:cs typeface="Inter" pitchFamily="34" charset="-120"/>
              </a:rPr>
              <a:t>Blinks em todo lugar</a:t>
            </a:r>
            <a:endParaRPr lang="en-US" sz="1211" dirty="0"/>
          </a:p>
        </p:txBody>
      </p:sp>
      <p:sp>
        <p:nvSpPr>
          <p:cNvPr id="35" name="Text 32"/>
          <p:cNvSpPr/>
          <p:nvPr/>
        </p:nvSpPr>
        <p:spPr>
          <a:xfrm>
            <a:off x="6715125" y="3333750"/>
            <a:ext cx="1714500" cy="647700"/>
          </a:xfrm>
          <a:prstGeom prst="rect">
            <a:avLst/>
          </a:prstGeom>
          <a:noFill/>
          <a:ln/>
        </p:spPr>
        <p:txBody>
          <a:bodyPr wrap="square" lIns="0" tIns="0" rIns="0" bIns="0" rtlCol="0" anchor="t"/>
          <a:lstStyle/>
          <a:p>
            <a:pPr algn="l" indent="0" marL="0">
              <a:lnSpc>
                <a:spcPts val="1197"/>
              </a:lnSpc>
              <a:buNone/>
            </a:pPr>
            <a:r>
              <a:rPr lang="en-US" sz="855" dirty="0">
                <a:solidFill>
                  <a:srgbClr val="0E130F">
                    <a:alpha val="99000"/>
                  </a:srgbClr>
                </a:solidFill>
                <a:latin typeface="Inter" pitchFamily="34" charset="0"/>
                <a:ea typeface="Inter" pitchFamily="34" charset="-122"/>
                <a:cs typeface="Inter" pitchFamily="34" charset="-120"/>
              </a:rPr>
              <a:t>Links de caixa compartilhados no X, WhatsApp e Phantom levam usuários de cripto ao balcão.</a:t>
            </a:r>
            <a:endParaRPr lang="en-US" sz="855" dirty="0"/>
          </a:p>
        </p:txBody>
      </p:sp>
      <p:sp>
        <p:nvSpPr>
          <p:cNvPr id="36" name="Shape 33"/>
          <p:cNvSpPr/>
          <p:nvPr/>
        </p:nvSpPr>
        <p:spPr>
          <a:xfrm>
            <a:off x="571500" y="4286250"/>
            <a:ext cx="8001000" cy="14288"/>
          </a:xfrm>
          <a:prstGeom prst="rect">
            <a:avLst/>
          </a:prstGeom>
          <a:solidFill>
            <a:srgbClr val="0E130F"/>
          </a:solidFill>
          <a:ln/>
        </p:spPr>
        <p:txBody>
          <a:bodyPr/>
          <a:p/>
        </p:txBody>
      </p:sp>
      <p:sp>
        <p:nvSpPr>
          <p:cNvPr id="39" name="TextBox 38"/>
          <p:cNvSpPr txBox="1"/>
          <p:nvPr/>
        </p:nvSpPr>
        <p:spPr>
          <a:xfrm>
            <a:off x="571500" y="4429125"/>
            <a:ext cx="8001000" cy="179070"/>
          </a:xfrm>
          <a:prstGeom prst="rect">
            <a:avLst/>
          </a:prstGeom>
          <a:noFill/>
        </p:spPr>
        <p:txBody>
          <a:bodyPr wrap="none" lIns="0" tIns="0" rIns="0" bIns="0">
            <a:noAutofit/>
          </a:bodyPr>
          <a:lstStyle/>
          <a:p>
            <a:pPr>
              <a:lnSpc>
                <a:spcPts val="915"/>
              </a:lnSpc>
              <a:defRPr sz="750" b="1">
                <a:solidFill>
                  <a:srgbClr val="0E130F"/>
                </a:solidFill>
                <a:latin typeface="JetBrains Mono"/>
              </a:defRPr>
            </a:pPr>
            <a:r>
              <a:t>PRÓXIMOS PASSOS: LOJISTAS PILOTO → PRIMEIROS PAGAMENTOS → CRESCIMENTO DA REDE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30F"/>
        </a:solidFill>
      </p:bgPr>
    </p:bg>
    <p:spTree>
      <p:nvGrpSpPr>
        <p:cNvPr id="1" name=""/>
        <p:cNvGrpSpPr/>
        <p:nvPr/>
      </p:nvGrpSpPr>
      <p:grpSpPr>
        <a:xfrm>
          <a:off x="0" y="0"/>
          <a:ext cx="0" cy="0"/>
          <a:chOff x="0" y="0"/>
          <a:chExt cx="0" cy="0"/>
        </a:xfrm>
      </p:grpSpPr>
      <p:sp>
        <p:nvSpPr>
          <p:cNvPr id="42" name="TextBox 41"/>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10 — ALÉM DO BALCÃO</a:t>
            </a:r>
          </a:p>
        </p:txBody>
      </p:sp>
      <p:sp>
        <p:nvSpPr>
          <p:cNvPr id="26" name="Text 23"/>
          <p:cNvSpPr/>
          <p:nvPr/>
        </p:nvSpPr>
        <p:spPr>
          <a:xfrm>
            <a:off x="571500" y="809625"/>
            <a:ext cx="71437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A mesma infraestrutura</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para todo pagamento que dói.</a:t>
            </a:r>
            <a:endParaRPr lang="en-US" sz="2708" dirty="0"/>
          </a:p>
        </p:txBody>
      </p:sp>
      <p:sp>
        <p:nvSpPr>
          <p:cNvPr id="27" name="Shape 24"/>
          <p:cNvSpPr/>
          <p:nvPr/>
        </p:nvSpPr>
        <p:spPr>
          <a:xfrm>
            <a:off x="571500" y="3143250"/>
            <a:ext cx="2476500" cy="1428750"/>
          </a:xfrm>
          <a:prstGeom prst="rect">
            <a:avLst/>
          </a:prstGeom>
          <a:solidFill>
            <a:srgbClr val="BDF06B"/>
          </a:solidFill>
          <a:ln/>
        </p:spPr>
        <p:txBody>
          <a:bodyPr/>
          <a:p/>
        </p:txBody>
      </p:sp>
      <p:sp>
        <p:nvSpPr>
          <p:cNvPr id="43" name="TextBox 42"/>
          <p:cNvSpPr txBox="1"/>
          <p:nvPr/>
        </p:nvSpPr>
        <p:spPr>
          <a:xfrm>
            <a:off x="742950" y="3314700"/>
            <a:ext cx="381762"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AGORA</a:t>
            </a:r>
          </a:p>
        </p:txBody>
      </p:sp>
      <p:sp>
        <p:nvSpPr>
          <p:cNvPr id="29" name="Text 26"/>
          <p:cNvSpPr/>
          <p:nvPr/>
        </p:nvSpPr>
        <p:spPr>
          <a:xfrm>
            <a:off x="742950" y="3524250"/>
            <a:ext cx="2133600" cy="204788"/>
          </a:xfrm>
          <a:prstGeom prst="rect">
            <a:avLst/>
          </a:prstGeom>
          <a:noFill/>
          <a:ln/>
        </p:spPr>
        <p:txBody>
          <a:bodyPr wrap="square" lIns="0" tIns="0" rIns="0" bIns="0" rtlCol="0" anchor="t"/>
          <a:lstStyle/>
          <a:p>
            <a:pPr algn="l" indent="0" marL="0">
              <a:lnSpc>
                <a:spcPts val="1539"/>
              </a:lnSpc>
              <a:buNone/>
            </a:pPr>
            <a:r>
              <a:rPr lang="en-US" sz="1425" b="1" spc="-17" kern="0" dirty="0">
                <a:solidFill>
                  <a:srgbClr val="0E130F">
                    <a:alpha val="99000"/>
                  </a:srgbClr>
                </a:solidFill>
                <a:latin typeface="Inter" pitchFamily="34" charset="0"/>
                <a:ea typeface="Inter" pitchFamily="34" charset="-122"/>
                <a:cs typeface="Inter" pitchFamily="34" charset="-120"/>
              </a:rPr>
              <a:t>Pagamentos no balcão</a:t>
            </a:r>
            <a:endParaRPr lang="en-US" sz="1425" dirty="0"/>
          </a:p>
        </p:txBody>
      </p:sp>
      <p:sp>
        <p:nvSpPr>
          <p:cNvPr id="30" name="Text 27"/>
          <p:cNvSpPr/>
          <p:nvPr/>
        </p:nvSpPr>
        <p:spPr>
          <a:xfrm>
            <a:off x="742950" y="4048125"/>
            <a:ext cx="2133600" cy="333375"/>
          </a:xfrm>
          <a:prstGeom prst="rect">
            <a:avLst/>
          </a:prstGeom>
          <a:noFill/>
          <a:ln/>
        </p:spPr>
        <p:txBody>
          <a:bodyPr wrap="square" lIns="0" tIns="0" rIns="0" bIns="0" rtlCol="0" anchor="t"/>
          <a:lstStyle/>
          <a:p>
            <a:pPr algn="l" indent="0" marL="0">
              <a:lnSpc>
                <a:spcPts val="1247"/>
              </a:lnSpc>
              <a:buNone/>
            </a:pPr>
            <a:r>
              <a:rPr lang="en-US" sz="891" dirty="0">
                <a:solidFill>
                  <a:srgbClr val="0E130F">
                    <a:alpha val="99000"/>
                  </a:srgbClr>
                </a:solidFill>
                <a:latin typeface="Inter" pitchFamily="34" charset="0"/>
                <a:ea typeface="Inter" pitchFamily="34" charset="-122"/>
                <a:cs typeface="Inter" pitchFamily="34" charset="-120"/>
              </a:rPr>
              <a:t>Clientes pagam o comércio local por QR, NFC e Blinks.</a:t>
            </a:r>
            <a:endParaRPr lang="en-US" sz="891" dirty="0"/>
          </a:p>
        </p:txBody>
      </p:sp>
      <p:sp>
        <p:nvSpPr>
          <p:cNvPr id="31" name="Shape 28"/>
          <p:cNvSpPr/>
          <p:nvPr/>
        </p:nvSpPr>
        <p:spPr>
          <a:xfrm>
            <a:off x="3333750" y="2762250"/>
            <a:ext cx="2476500" cy="1809750"/>
          </a:xfrm>
          <a:prstGeom prst="rect">
            <a:avLst/>
          </a:prstGeom>
          <a:solidFill>
            <a:srgbClr val="789E38"/>
          </a:solidFill>
          <a:ln/>
        </p:spPr>
        <p:txBody>
          <a:bodyPr/>
          <a:p/>
        </p:txBody>
      </p:sp>
      <p:sp>
        <p:nvSpPr>
          <p:cNvPr id="44" name="TextBox 43"/>
          <p:cNvSpPr txBox="1"/>
          <p:nvPr/>
        </p:nvSpPr>
        <p:spPr>
          <a:xfrm>
            <a:off x="3505200" y="2933700"/>
            <a:ext cx="446913"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DEPOIS</a:t>
            </a:r>
          </a:p>
        </p:txBody>
      </p:sp>
      <p:sp>
        <p:nvSpPr>
          <p:cNvPr id="33" name="Text 30"/>
          <p:cNvSpPr/>
          <p:nvPr/>
        </p:nvSpPr>
        <p:spPr>
          <a:xfrm>
            <a:off x="3505200" y="3143250"/>
            <a:ext cx="2133600" cy="204788"/>
          </a:xfrm>
          <a:prstGeom prst="rect">
            <a:avLst/>
          </a:prstGeom>
          <a:noFill/>
          <a:ln/>
        </p:spPr>
        <p:txBody>
          <a:bodyPr wrap="square" lIns="0" tIns="0" rIns="0" bIns="0" rtlCol="0" anchor="t"/>
          <a:lstStyle/>
          <a:p>
            <a:pPr algn="l" indent="0" marL="0">
              <a:lnSpc>
                <a:spcPts val="1539"/>
              </a:lnSpc>
              <a:buNone/>
            </a:pPr>
            <a:r>
              <a:rPr lang="en-US" sz="1425" b="1" spc="-17" kern="0" dirty="0">
                <a:solidFill>
                  <a:srgbClr val="0E130F">
                    <a:alpha val="99000"/>
                  </a:srgbClr>
                </a:solidFill>
                <a:latin typeface="Inter" pitchFamily="34" charset="0"/>
                <a:ea typeface="Inter" pitchFamily="34" charset="-122"/>
                <a:cs typeface="Inter" pitchFamily="34" charset="-120"/>
              </a:rPr>
              <a:t>Entre empresas (B2B)</a:t>
            </a:r>
            <a:endParaRPr lang="en-US" sz="1425" dirty="0"/>
          </a:p>
        </p:txBody>
      </p:sp>
      <p:sp>
        <p:nvSpPr>
          <p:cNvPr id="34" name="Text 31"/>
          <p:cNvSpPr/>
          <p:nvPr/>
        </p:nvSpPr>
        <p:spPr>
          <a:xfrm>
            <a:off x="3505200" y="3667125"/>
            <a:ext cx="2133600" cy="666750"/>
          </a:xfrm>
          <a:prstGeom prst="rect">
            <a:avLst/>
          </a:prstGeom>
          <a:noFill/>
          <a:ln/>
        </p:spPr>
        <p:txBody>
          <a:bodyPr wrap="square" lIns="0" tIns="0" rIns="0" bIns="0" rtlCol="0" anchor="t"/>
          <a:lstStyle/>
          <a:p>
            <a:pPr algn="l" indent="0" marL="0">
              <a:lnSpc>
                <a:spcPts val="1247"/>
              </a:lnSpc>
              <a:buNone/>
            </a:pPr>
            <a:r>
              <a:rPr lang="en-US" sz="891" dirty="0">
                <a:solidFill>
                  <a:srgbClr val="0E130F">
                    <a:alpha val="99000"/>
                  </a:srgbClr>
                </a:solidFill>
                <a:latin typeface="Inter" pitchFamily="34" charset="0"/>
                <a:ea typeface="Inter" pitchFamily="34" charset="-122"/>
                <a:cs typeface="Inter" pitchFamily="34" charset="-120"/>
              </a:rPr>
              <a:t>Empresas pagam fornecedores e umas às outras: valores altos, liquidados em segundos, em qualquer dia e hora.</a:t>
            </a:r>
            <a:endParaRPr lang="en-US" sz="891" dirty="0"/>
          </a:p>
        </p:txBody>
      </p:sp>
      <p:sp>
        <p:nvSpPr>
          <p:cNvPr id="35" name="Shape 32"/>
          <p:cNvSpPr/>
          <p:nvPr/>
        </p:nvSpPr>
        <p:spPr>
          <a:xfrm>
            <a:off x="6096000" y="2381250"/>
            <a:ext cx="2476500" cy="2190750"/>
          </a:xfrm>
          <a:prstGeom prst="rect">
            <a:avLst/>
          </a:prstGeom>
          <a:solidFill>
            <a:srgbClr val="333D33"/>
          </a:solidFill>
          <a:ln/>
        </p:spPr>
        <p:txBody>
          <a:bodyPr/>
          <a:p/>
        </p:txBody>
      </p:sp>
      <p:sp>
        <p:nvSpPr>
          <p:cNvPr id="45" name="TextBox 44"/>
          <p:cNvSpPr txBox="1"/>
          <p:nvPr/>
        </p:nvSpPr>
        <p:spPr>
          <a:xfrm>
            <a:off x="6267450" y="2552700"/>
            <a:ext cx="707517" cy="185115"/>
          </a:xfrm>
          <a:prstGeom prst="rect">
            <a:avLst/>
          </a:prstGeom>
          <a:noFill/>
        </p:spPr>
        <p:txBody>
          <a:bodyPr wrap="none" lIns="0" tIns="0" rIns="0" bIns="0">
            <a:noAutofit/>
          </a:bodyPr>
          <a:lstStyle/>
          <a:p>
            <a:pPr>
              <a:lnSpc>
                <a:spcPts val="956"/>
              </a:lnSpc>
              <a:defRPr sz="784" b="1">
                <a:solidFill>
                  <a:srgbClr val="F7F7F2"/>
                </a:solidFill>
                <a:latin typeface="JetBrains Mono"/>
              </a:defRPr>
            </a:pPr>
            <a:r>
              <a:t>EM SEGUIDA</a:t>
            </a:r>
          </a:p>
        </p:txBody>
      </p:sp>
      <p:sp>
        <p:nvSpPr>
          <p:cNvPr id="37" name="Text 34"/>
          <p:cNvSpPr/>
          <p:nvPr/>
        </p:nvSpPr>
        <p:spPr>
          <a:xfrm>
            <a:off x="6267450" y="2762250"/>
            <a:ext cx="2133600" cy="409575"/>
          </a:xfrm>
          <a:prstGeom prst="rect">
            <a:avLst/>
          </a:prstGeom>
          <a:noFill/>
          <a:ln/>
        </p:spPr>
        <p:txBody>
          <a:bodyPr wrap="square" lIns="0" tIns="0" rIns="0" bIns="0" rtlCol="0" anchor="t"/>
          <a:lstStyle/>
          <a:p>
            <a:pPr algn="l" indent="0" marL="0">
              <a:lnSpc>
                <a:spcPts val="1539"/>
              </a:lnSpc>
              <a:buNone/>
            </a:pPr>
            <a:r>
              <a:rPr lang="en-US" sz="1425" b="1" spc="-17" kern="0" dirty="0">
                <a:solidFill>
                  <a:srgbClr val="F7F7F2">
                    <a:alpha val="99000"/>
                  </a:srgbClr>
                </a:solidFill>
                <a:latin typeface="Inter" pitchFamily="34" charset="0"/>
                <a:ea typeface="Inter" pitchFamily="34" charset="-122"/>
                <a:cs typeface="Inter" pitchFamily="34" charset="-120"/>
              </a:rPr>
              <a:t>Remessas internacionais</a:t>
            </a:r>
            <a:endParaRPr lang="en-US" sz="1425" dirty="0"/>
          </a:p>
        </p:txBody>
      </p:sp>
      <p:sp>
        <p:nvSpPr>
          <p:cNvPr id="38" name="Text 35"/>
          <p:cNvSpPr/>
          <p:nvPr/>
        </p:nvSpPr>
        <p:spPr>
          <a:xfrm>
            <a:off x="6267450" y="3286125"/>
            <a:ext cx="2133600" cy="500063"/>
          </a:xfrm>
          <a:prstGeom prst="rect">
            <a:avLst/>
          </a:prstGeom>
          <a:noFill/>
          <a:ln/>
        </p:spPr>
        <p:txBody>
          <a:bodyPr wrap="square" lIns="0" tIns="0" rIns="0" bIns="0" rtlCol="0" anchor="t"/>
          <a:lstStyle/>
          <a:p>
            <a:pPr algn="l" indent="0" marL="0">
              <a:lnSpc>
                <a:spcPts val="1247"/>
              </a:lnSpc>
              <a:buNone/>
            </a:pPr>
            <a:r>
              <a:rPr lang="en-US" sz="891" dirty="0">
                <a:solidFill>
                  <a:srgbClr val="B2BDB2">
                    <a:alpha val="99000"/>
                  </a:srgbClr>
                </a:solidFill>
                <a:latin typeface="Inter" pitchFamily="34" charset="0"/>
                <a:ea typeface="Inter" pitchFamily="34" charset="-122"/>
                <a:cs typeface="Inter" pitchFamily="34" charset="-120"/>
              </a:rPr>
              <a:t>O dinheiro enviado do exterior chega numa carteira brasileira e é sacado via Pix, sem bancos correspondentes.</a:t>
            </a:r>
            <a:endParaRPr lang="en-US" sz="891" dirty="0"/>
          </a:p>
        </p:txBody>
      </p:sp>
      <p:sp>
        <p:nvSpPr>
          <p:cNvPr id="46" name="TextBox 45"/>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47" name="TextBox 46"/>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11</a:t>
            </a:r>
          </a:p>
        </p:txBody>
      </p:sp>
      <p:sp>
        <p:nvSpPr>
          <p:cNvPr id="41" name="TextBox 40"/>
          <p:cNvSpPr txBox="1"/>
          <p:nvPr/>
        </p:nvSpPr>
        <p:spPr>
          <a:xfrm>
            <a:off x="571500" y="1847088"/>
            <a:ext cx="5029200" cy="201168"/>
          </a:xfrm>
          <a:prstGeom prst="rect">
            <a:avLst/>
          </a:prstGeom>
          <a:noFill/>
        </p:spPr>
        <p:txBody>
          <a:bodyPr wrap="square" lIns="0" tIns="0" rIns="0" bIns="0">
            <a:noAutofit/>
          </a:bodyPr>
          <a:lstStyle/>
          <a:p>
            <a:pPr>
              <a:lnSpc>
                <a:spcPts val="976"/>
              </a:lnSpc>
              <a:defRPr sz="800" b="0">
                <a:solidFill>
                  <a:srgbClr val="BDF06B"/>
                </a:solidFill>
                <a:latin typeface="JetBrains Mono"/>
              </a:defRPr>
            </a:pPr>
            <a:r>
              <a:rPr/>
              <a:t>VISÃO DE EXPANSÃO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2"/>
        </a:solidFill>
      </p:bgPr>
    </p:bg>
    <p:spTree>
      <p:nvGrpSpPr>
        <p:cNvPr id="1" name=""/>
        <p:cNvGrpSpPr/>
        <p:nvPr/>
      </p:nvGrpSpPr>
      <p:grpSpPr>
        <a:xfrm>
          <a:off x="0" y="0"/>
          <a:ext cx="0" cy="0"/>
          <a:chOff x="0" y="0"/>
          <a:chExt cx="0" cy="0"/>
        </a:xfrm>
      </p:grpSpPr>
      <p:sp>
        <p:nvSpPr>
          <p:cNvPr id="55" name="TextBox 54"/>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11 — NOVAS FRENTES</a:t>
            </a:r>
          </a:p>
        </p:txBody>
      </p:sp>
      <p:sp>
        <p:nvSpPr>
          <p:cNvPr id="33" name="Text 30"/>
          <p:cNvSpPr/>
          <p:nvPr/>
        </p:nvSpPr>
        <p:spPr>
          <a:xfrm>
            <a:off x="571500" y="809625"/>
            <a:ext cx="714375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Menos atrito, menos taxas,</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menos intermediários.</a:t>
            </a:r>
            <a:endParaRPr lang="en-US" sz="2708" dirty="0"/>
          </a:p>
        </p:txBody>
      </p:sp>
      <p:sp>
        <p:nvSpPr>
          <p:cNvPr id="34" name="Shape 31"/>
          <p:cNvSpPr/>
          <p:nvPr/>
        </p:nvSpPr>
        <p:spPr>
          <a:xfrm>
            <a:off x="571500" y="2238375"/>
            <a:ext cx="3714750" cy="28575"/>
          </a:xfrm>
          <a:prstGeom prst="rect">
            <a:avLst/>
          </a:prstGeom>
          <a:solidFill>
            <a:srgbClr val="0E130F"/>
          </a:solidFill>
          <a:ln/>
        </p:spPr>
        <p:txBody>
          <a:bodyPr/>
          <a:p/>
        </p:txBody>
      </p:sp>
      <p:sp>
        <p:nvSpPr>
          <p:cNvPr id="56" name="TextBox 55"/>
          <p:cNvSpPr txBox="1"/>
          <p:nvPr/>
        </p:nvSpPr>
        <p:spPr>
          <a:xfrm>
            <a:off x="571500" y="2409825"/>
            <a:ext cx="251460"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B2B</a:t>
            </a:r>
          </a:p>
        </p:txBody>
      </p:sp>
      <p:sp>
        <p:nvSpPr>
          <p:cNvPr id="36" name="Text 33"/>
          <p:cNvSpPr/>
          <p:nvPr/>
        </p:nvSpPr>
        <p:spPr>
          <a:xfrm>
            <a:off x="571500" y="2600325"/>
            <a:ext cx="3714750" cy="252413"/>
          </a:xfrm>
          <a:prstGeom prst="rect">
            <a:avLst/>
          </a:prstGeom>
          <a:noFill/>
          <a:ln/>
        </p:spPr>
        <p:txBody>
          <a:bodyPr wrap="square" lIns="0" tIns="0" rIns="0" bIns="0" rtlCol="0" anchor="t"/>
          <a:lstStyle/>
          <a:p>
            <a:pPr algn="l" indent="0" marL="0">
              <a:lnSpc>
                <a:spcPts val="1897"/>
              </a:lnSpc>
              <a:buNone/>
            </a:pPr>
            <a:r>
              <a:rPr lang="en-US" sz="1568" b="1" spc="-24" kern="0" dirty="0">
                <a:solidFill>
                  <a:srgbClr val="0E130F">
                    <a:alpha val="99000"/>
                  </a:srgbClr>
                </a:solidFill>
                <a:latin typeface="Inter" pitchFamily="34" charset="0"/>
                <a:ea typeface="Inter" pitchFamily="34" charset="-122"/>
                <a:cs typeface="Inter" pitchFamily="34" charset="-120"/>
              </a:rPr>
              <a:t>Pagamentos entre empresas</a:t>
            </a:r>
            <a:endParaRPr lang="en-US" sz="1568" dirty="0"/>
          </a:p>
        </p:txBody>
      </p:sp>
      <p:sp>
        <p:nvSpPr>
          <p:cNvPr id="57" name="TextBox 56"/>
          <p:cNvSpPr txBox="1"/>
          <p:nvPr/>
        </p:nvSpPr>
        <p:spPr>
          <a:xfrm>
            <a:off x="571500" y="30765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HOJE</a:t>
            </a:r>
          </a:p>
        </p:txBody>
      </p:sp>
      <p:sp>
        <p:nvSpPr>
          <p:cNvPr id="38" name="Text 35"/>
          <p:cNvSpPr/>
          <p:nvPr/>
        </p:nvSpPr>
        <p:spPr>
          <a:xfrm>
            <a:off x="1524000" y="30480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Transferências com horário de corte, atraso no fim de semana e taxa em todo pagamento alto.</a:t>
            </a:r>
            <a:endParaRPr lang="en-US" sz="891" dirty="0"/>
          </a:p>
        </p:txBody>
      </p:sp>
      <p:sp>
        <p:nvSpPr>
          <p:cNvPr id="58" name="TextBox 57"/>
          <p:cNvSpPr txBox="1"/>
          <p:nvPr/>
        </p:nvSpPr>
        <p:spPr>
          <a:xfrm>
            <a:off x="571500" y="3571875"/>
            <a:ext cx="857250" cy="172491"/>
          </a:xfrm>
          <a:prstGeom prst="rect">
            <a:avLst/>
          </a:prstGeom>
          <a:noFill/>
        </p:spPr>
        <p:txBody>
          <a:bodyPr wrap="none" lIns="0" tIns="0" rIns="0" bIns="0">
            <a:noAutofit/>
          </a:bodyPr>
          <a:lstStyle/>
          <a:p>
            <a:pPr>
              <a:lnSpc>
                <a:spcPts val="869"/>
              </a:lnSpc>
              <a:defRPr sz="713" b="1">
                <a:solidFill>
                  <a:srgbClr val="789E38"/>
                </a:solidFill>
                <a:latin typeface="JetBrains Mono"/>
              </a:defRPr>
            </a:pPr>
            <a:r>
              <a:t>COM A SIMPAY</a:t>
            </a:r>
          </a:p>
        </p:txBody>
      </p:sp>
      <p:sp>
        <p:nvSpPr>
          <p:cNvPr id="40" name="Text 37"/>
          <p:cNvSpPr/>
          <p:nvPr/>
        </p:nvSpPr>
        <p:spPr>
          <a:xfrm>
            <a:off x="1524000" y="3543300"/>
            <a:ext cx="2762250" cy="485775"/>
          </a:xfrm>
          <a:prstGeom prst="rect">
            <a:avLst/>
          </a:prstGeom>
          <a:noFill/>
          <a:ln/>
        </p:spPr>
        <p:txBody>
          <a:bodyPr wrap="square" lIns="0" tIns="0" rIns="0" bIns="0" rtlCol="0" anchor="t"/>
          <a:lstStyle/>
          <a:p>
            <a:pPr algn="l" indent="0" marL="0">
              <a:lnSpc>
                <a:spcPts val="1229"/>
              </a:lnSpc>
              <a:buNone/>
            </a:pPr>
            <a:r>
              <a:rPr lang="en-US" sz="891" b="1" dirty="0">
                <a:solidFill>
                  <a:srgbClr val="0E130F">
                    <a:alpha val="99000"/>
                  </a:srgbClr>
                </a:solidFill>
                <a:latin typeface="Inter" pitchFamily="34" charset="0"/>
                <a:ea typeface="Inter" pitchFamily="34" charset="-122"/>
                <a:cs typeface="Inter" pitchFamily="34" charset="-120"/>
              </a:rPr>
              <a:t>Paga fornecedores em segundos, 24/7, com comprovante na blockchain pronto para a conciliação.</a:t>
            </a:r>
            <a:endParaRPr lang="en-US" sz="891" dirty="0"/>
          </a:p>
        </p:txBody>
      </p:sp>
      <p:sp>
        <p:nvSpPr>
          <p:cNvPr id="59" name="TextBox 58"/>
          <p:cNvSpPr txBox="1"/>
          <p:nvPr/>
        </p:nvSpPr>
        <p:spPr>
          <a:xfrm>
            <a:off x="571500" y="40671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CICLO</a:t>
            </a:r>
          </a:p>
        </p:txBody>
      </p:sp>
      <p:sp>
        <p:nvSpPr>
          <p:cNvPr id="42" name="Text 39"/>
          <p:cNvSpPr/>
          <p:nvPr/>
        </p:nvSpPr>
        <p:spPr>
          <a:xfrm>
            <a:off x="1524000" y="40386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Quem já recebe em SIMPAY paga os próprios fornecedores sem precisar sacar.</a:t>
            </a:r>
            <a:endParaRPr lang="en-US" sz="891" dirty="0"/>
          </a:p>
        </p:txBody>
      </p:sp>
      <p:sp>
        <p:nvSpPr>
          <p:cNvPr id="43" name="Shape 40"/>
          <p:cNvSpPr/>
          <p:nvPr/>
        </p:nvSpPr>
        <p:spPr>
          <a:xfrm>
            <a:off x="4667250" y="2238375"/>
            <a:ext cx="3714750" cy="28575"/>
          </a:xfrm>
          <a:prstGeom prst="rect">
            <a:avLst/>
          </a:prstGeom>
          <a:solidFill>
            <a:srgbClr val="0E130F"/>
          </a:solidFill>
          <a:ln/>
        </p:spPr>
        <p:txBody>
          <a:bodyPr/>
          <a:p/>
        </p:txBody>
      </p:sp>
      <p:sp>
        <p:nvSpPr>
          <p:cNvPr id="60" name="TextBox 59"/>
          <p:cNvSpPr txBox="1"/>
          <p:nvPr/>
        </p:nvSpPr>
        <p:spPr>
          <a:xfrm>
            <a:off x="4667250" y="2409825"/>
            <a:ext cx="577215" cy="185115"/>
          </a:xfrm>
          <a:prstGeom prst="rect">
            <a:avLst/>
          </a:prstGeom>
          <a:noFill/>
        </p:spPr>
        <p:txBody>
          <a:bodyPr wrap="none" lIns="0" tIns="0" rIns="0" bIns="0">
            <a:noAutofit/>
          </a:bodyPr>
          <a:lstStyle/>
          <a:p>
            <a:pPr>
              <a:lnSpc>
                <a:spcPts val="956"/>
              </a:lnSpc>
              <a:defRPr sz="784" b="1">
                <a:solidFill>
                  <a:srgbClr val="0E130F"/>
                </a:solidFill>
                <a:latin typeface="JetBrains Mono"/>
              </a:defRPr>
            </a:pPr>
            <a:r>
              <a:t>REMESSAS</a:t>
            </a:r>
          </a:p>
        </p:txBody>
      </p:sp>
      <p:sp>
        <p:nvSpPr>
          <p:cNvPr id="45" name="Text 42"/>
          <p:cNvSpPr/>
          <p:nvPr/>
        </p:nvSpPr>
        <p:spPr>
          <a:xfrm>
            <a:off x="4667250" y="2600325"/>
            <a:ext cx="3714750" cy="252413"/>
          </a:xfrm>
          <a:prstGeom prst="rect">
            <a:avLst/>
          </a:prstGeom>
          <a:noFill/>
          <a:ln/>
        </p:spPr>
        <p:txBody>
          <a:bodyPr wrap="square" lIns="0" tIns="0" rIns="0" bIns="0" rtlCol="0" anchor="t"/>
          <a:lstStyle/>
          <a:p>
            <a:pPr algn="l" indent="0" marL="0">
              <a:lnSpc>
                <a:spcPts val="1897"/>
              </a:lnSpc>
              <a:buNone/>
            </a:pPr>
            <a:r>
              <a:rPr lang="en-US" sz="1568" b="1" spc="-24" kern="0" dirty="0">
                <a:solidFill>
                  <a:srgbClr val="0E130F">
                    <a:alpha val="99000"/>
                  </a:srgbClr>
                </a:solidFill>
                <a:latin typeface="Inter" pitchFamily="34" charset="0"/>
                <a:ea typeface="Inter" pitchFamily="34" charset="-122"/>
                <a:cs typeface="Inter" pitchFamily="34" charset="-120"/>
              </a:rPr>
              <a:t>Remessas internacionais</a:t>
            </a:r>
            <a:endParaRPr lang="en-US" sz="1568" dirty="0"/>
          </a:p>
        </p:txBody>
      </p:sp>
      <p:sp>
        <p:nvSpPr>
          <p:cNvPr id="61" name="TextBox 60"/>
          <p:cNvSpPr txBox="1"/>
          <p:nvPr/>
        </p:nvSpPr>
        <p:spPr>
          <a:xfrm>
            <a:off x="4667250" y="30765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HOJE</a:t>
            </a:r>
          </a:p>
        </p:txBody>
      </p:sp>
      <p:sp>
        <p:nvSpPr>
          <p:cNvPr id="47" name="Text 44"/>
          <p:cNvSpPr/>
          <p:nvPr/>
        </p:nvSpPr>
        <p:spPr>
          <a:xfrm>
            <a:off x="5619750" y="30480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Vários bancos no meio, taxas altas e dias até o dinheiro chegar.</a:t>
            </a:r>
            <a:endParaRPr lang="en-US" sz="891" dirty="0"/>
          </a:p>
        </p:txBody>
      </p:sp>
      <p:sp>
        <p:nvSpPr>
          <p:cNvPr id="62" name="TextBox 61"/>
          <p:cNvSpPr txBox="1"/>
          <p:nvPr/>
        </p:nvSpPr>
        <p:spPr>
          <a:xfrm>
            <a:off x="4667250" y="3571875"/>
            <a:ext cx="857250" cy="172491"/>
          </a:xfrm>
          <a:prstGeom prst="rect">
            <a:avLst/>
          </a:prstGeom>
          <a:noFill/>
        </p:spPr>
        <p:txBody>
          <a:bodyPr wrap="none" lIns="0" tIns="0" rIns="0" bIns="0">
            <a:noAutofit/>
          </a:bodyPr>
          <a:lstStyle/>
          <a:p>
            <a:pPr>
              <a:lnSpc>
                <a:spcPts val="869"/>
              </a:lnSpc>
              <a:defRPr sz="713" b="1">
                <a:solidFill>
                  <a:srgbClr val="789E38"/>
                </a:solidFill>
                <a:latin typeface="JetBrains Mono"/>
              </a:defRPr>
            </a:pPr>
            <a:r>
              <a:t>COM A SIMPAY</a:t>
            </a:r>
          </a:p>
        </p:txBody>
      </p:sp>
      <p:sp>
        <p:nvSpPr>
          <p:cNvPr id="49" name="Text 46"/>
          <p:cNvSpPr/>
          <p:nvPr/>
        </p:nvSpPr>
        <p:spPr>
          <a:xfrm>
            <a:off x="5619750" y="3543300"/>
            <a:ext cx="2762250" cy="323850"/>
          </a:xfrm>
          <a:prstGeom prst="rect">
            <a:avLst/>
          </a:prstGeom>
          <a:noFill/>
          <a:ln/>
        </p:spPr>
        <p:txBody>
          <a:bodyPr wrap="square" lIns="0" tIns="0" rIns="0" bIns="0" rtlCol="0" anchor="t"/>
          <a:lstStyle/>
          <a:p>
            <a:pPr algn="l" indent="0" marL="0">
              <a:lnSpc>
                <a:spcPts val="1229"/>
              </a:lnSpc>
              <a:buNone/>
            </a:pPr>
            <a:r>
              <a:rPr lang="en-US" sz="891" b="1" dirty="0">
                <a:solidFill>
                  <a:srgbClr val="0E130F">
                    <a:alpha val="99000"/>
                  </a:srgbClr>
                </a:solidFill>
                <a:latin typeface="Inter" pitchFamily="34" charset="0"/>
                <a:ea typeface="Inter" pitchFamily="34" charset="-122"/>
                <a:cs typeface="Inter" pitchFamily="34" charset="-120"/>
              </a:rPr>
              <a:t>Enviado pela Solana em segundos; a família saca via Pix ou gasta nos parceiros.</a:t>
            </a:r>
            <a:endParaRPr lang="en-US" sz="891" dirty="0"/>
          </a:p>
        </p:txBody>
      </p:sp>
      <p:sp>
        <p:nvSpPr>
          <p:cNvPr id="63" name="TextBox 62"/>
          <p:cNvSpPr txBox="1"/>
          <p:nvPr/>
        </p:nvSpPr>
        <p:spPr>
          <a:xfrm>
            <a:off x="4667250" y="4067175"/>
            <a:ext cx="857250" cy="172491"/>
          </a:xfrm>
          <a:prstGeom prst="rect">
            <a:avLst/>
          </a:prstGeom>
          <a:noFill/>
        </p:spPr>
        <p:txBody>
          <a:bodyPr wrap="none" lIns="0" tIns="0" rIns="0" bIns="0">
            <a:noAutofit/>
          </a:bodyPr>
          <a:lstStyle/>
          <a:p>
            <a:pPr>
              <a:lnSpc>
                <a:spcPts val="869"/>
              </a:lnSpc>
              <a:defRPr sz="713" b="1">
                <a:solidFill>
                  <a:srgbClr val="545C54"/>
                </a:solidFill>
                <a:latin typeface="JetBrains Mono"/>
              </a:defRPr>
            </a:pPr>
            <a:r>
              <a:t>CONFORMIDADE</a:t>
            </a:r>
          </a:p>
        </p:txBody>
      </p:sp>
      <p:sp>
        <p:nvSpPr>
          <p:cNvPr id="51" name="Text 48"/>
          <p:cNvSpPr/>
          <p:nvPr/>
        </p:nvSpPr>
        <p:spPr>
          <a:xfrm>
            <a:off x="5619750" y="4038600"/>
            <a:ext cx="2762250" cy="323850"/>
          </a:xfrm>
          <a:prstGeom prst="rect">
            <a:avLst/>
          </a:prstGeom>
          <a:noFill/>
          <a:ln/>
        </p:spPr>
        <p:txBody>
          <a:bodyPr wrap="square" lIns="0" tIns="0" rIns="0" bIns="0" rtlCol="0" anchor="t"/>
          <a:lstStyle/>
          <a:p>
            <a:pPr algn="l" indent="0" marL="0">
              <a:lnSpc>
                <a:spcPts val="1229"/>
              </a:lnSpc>
              <a:buNone/>
            </a:pPr>
            <a:r>
              <a:rPr lang="en-US" sz="891" dirty="0">
                <a:solidFill>
                  <a:srgbClr val="0E130F">
                    <a:alpha val="99000"/>
                  </a:srgbClr>
                </a:solidFill>
                <a:latin typeface="Inter" pitchFamily="34" charset="0"/>
                <a:ea typeface="Inter" pitchFamily="34" charset="-122"/>
                <a:cs typeface="Inter" pitchFamily="34" charset="-120"/>
              </a:rPr>
              <a:t>Operado com parceiros de câmbio autorizados, seguindo as regras brasileiras de criptoativos.</a:t>
            </a:r>
            <a:endParaRPr lang="en-US" sz="891" dirty="0"/>
          </a:p>
        </p:txBody>
      </p:sp>
      <p:sp>
        <p:nvSpPr>
          <p:cNvPr id="64" name="TextBox 63"/>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65" name="TextBox 64"/>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12</a:t>
            </a:r>
          </a:p>
        </p:txBody>
      </p:sp>
      <p:sp>
        <p:nvSpPr>
          <p:cNvPr id="54" name="TextBox 53"/>
          <p:cNvSpPr txBox="1"/>
          <p:nvPr/>
        </p:nvSpPr>
        <p:spPr>
          <a:xfrm>
            <a:off x="571500" y="1847088"/>
            <a:ext cx="5029200" cy="201168"/>
          </a:xfrm>
          <a:prstGeom prst="rect">
            <a:avLst/>
          </a:prstGeom>
          <a:noFill/>
        </p:spPr>
        <p:txBody>
          <a:bodyPr wrap="square" lIns="0" tIns="0" rIns="0" bIns="0">
            <a:noAutofit/>
          </a:bodyPr>
          <a:lstStyle/>
          <a:p>
            <a:pPr>
              <a:lnSpc>
                <a:spcPts val="976"/>
              </a:lnSpc>
              <a:defRPr sz="800" b="0">
                <a:solidFill>
                  <a:srgbClr val="545C54"/>
                </a:solidFill>
                <a:latin typeface="JetBrains Mono"/>
              </a:defRPr>
            </a:pPr>
            <a:r>
              <a:rPr/>
              <a:t>VISÃO DE EXPANSÃO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30F"/>
        </a:solidFill>
      </p:bgPr>
    </p:bg>
    <p:spTree>
      <p:nvGrpSpPr>
        <p:cNvPr id="1" name=""/>
        <p:cNvGrpSpPr/>
        <p:nvPr/>
      </p:nvGrpSpPr>
      <p:grpSpPr>
        <a:xfrm>
          <a:off x="0" y="0"/>
          <a:ext cx="0" cy="0"/>
          <a:chOff x="0" y="0"/>
          <a:chExt cx="0" cy="0"/>
        </a:xfrm>
      </p:grpSpPr>
      <p:sp>
        <p:nvSpPr>
          <p:cNvPr id="61" name="TextBox 6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12 — ONDE ESTAMOS</a:t>
            </a:r>
          </a:p>
        </p:txBody>
      </p:sp>
      <p:sp>
        <p:nvSpPr>
          <p:cNvPr id="30" name="Text 27"/>
          <p:cNvSpPr/>
          <p:nvPr/>
        </p:nvSpPr>
        <p:spPr>
          <a:xfrm>
            <a:off x="571500" y="809625"/>
            <a:ext cx="666750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Não é protótipo.</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É uma rede funcionando na devnet.</a:t>
            </a:r>
            <a:endParaRPr lang="en-US" sz="2708" dirty="0"/>
          </a:p>
        </p:txBody>
      </p:sp>
      <p:sp>
        <p:nvSpPr>
          <p:cNvPr id="31" name="Shape 28"/>
          <p:cNvSpPr/>
          <p:nvPr/>
        </p:nvSpPr>
        <p:spPr>
          <a:xfrm>
            <a:off x="571500" y="2181225"/>
            <a:ext cx="114300" cy="114300"/>
          </a:xfrm>
          <a:prstGeom prst="roundRect">
            <a:avLst/>
          </a:prstGeom>
          <a:solidFill>
            <a:srgbClr val="BDF06B"/>
          </a:solidFill>
          <a:ln/>
        </p:spPr>
        <p:txBody>
          <a:bodyPr/>
          <a:p/>
        </p:txBody>
      </p:sp>
      <p:sp>
        <p:nvSpPr>
          <p:cNvPr id="32" name="Text 29"/>
          <p:cNvSpPr/>
          <p:nvPr/>
        </p:nvSpPr>
        <p:spPr>
          <a:xfrm>
            <a:off x="800100" y="2143125"/>
            <a:ext cx="2286000" cy="161925"/>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App de carteira para iOS e Android</a:t>
            </a:r>
            <a:endParaRPr lang="en-US" sz="998" dirty="0"/>
          </a:p>
        </p:txBody>
      </p:sp>
      <p:sp>
        <p:nvSpPr>
          <p:cNvPr id="33" name="Shape 30"/>
          <p:cNvSpPr/>
          <p:nvPr/>
        </p:nvSpPr>
        <p:spPr>
          <a:xfrm>
            <a:off x="3238500" y="2181225"/>
            <a:ext cx="114300" cy="114300"/>
          </a:xfrm>
          <a:prstGeom prst="roundRect">
            <a:avLst/>
          </a:prstGeom>
          <a:solidFill>
            <a:srgbClr val="BDF06B"/>
          </a:solidFill>
          <a:ln/>
        </p:spPr>
        <p:txBody>
          <a:bodyPr/>
          <a:p/>
        </p:txBody>
      </p:sp>
      <p:sp>
        <p:nvSpPr>
          <p:cNvPr id="34" name="Text 31"/>
          <p:cNvSpPr/>
          <p:nvPr/>
        </p:nvSpPr>
        <p:spPr>
          <a:xfrm>
            <a:off x="3467100" y="2143125"/>
            <a:ext cx="2286000" cy="161925"/>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PDV do lojista com QR e tags NFC</a:t>
            </a:r>
            <a:endParaRPr lang="en-US" sz="998" dirty="0"/>
          </a:p>
        </p:txBody>
      </p:sp>
      <p:sp>
        <p:nvSpPr>
          <p:cNvPr id="35" name="Shape 32"/>
          <p:cNvSpPr/>
          <p:nvPr/>
        </p:nvSpPr>
        <p:spPr>
          <a:xfrm>
            <a:off x="571500" y="2676525"/>
            <a:ext cx="114300" cy="114300"/>
          </a:xfrm>
          <a:prstGeom prst="roundRect">
            <a:avLst/>
          </a:prstGeom>
          <a:solidFill>
            <a:srgbClr val="BDF06B"/>
          </a:solidFill>
          <a:ln/>
        </p:spPr>
        <p:txBody>
          <a:bodyPr/>
          <a:p/>
        </p:txBody>
      </p:sp>
      <p:sp>
        <p:nvSpPr>
          <p:cNvPr id="36" name="Text 33"/>
          <p:cNvSpPr/>
          <p:nvPr/>
        </p:nvSpPr>
        <p:spPr>
          <a:xfrm>
            <a:off x="800100" y="26384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Compra via Pix, entregue na blockchain</a:t>
            </a:r>
            <a:endParaRPr lang="en-US" sz="998" dirty="0"/>
          </a:p>
        </p:txBody>
      </p:sp>
      <p:sp>
        <p:nvSpPr>
          <p:cNvPr id="37" name="Shape 34"/>
          <p:cNvSpPr/>
          <p:nvPr/>
        </p:nvSpPr>
        <p:spPr>
          <a:xfrm>
            <a:off x="3238500" y="2676525"/>
            <a:ext cx="114300" cy="114300"/>
          </a:xfrm>
          <a:prstGeom prst="roundRect">
            <a:avLst/>
          </a:prstGeom>
          <a:solidFill>
            <a:srgbClr val="BDF06B"/>
          </a:solidFill>
          <a:ln/>
        </p:spPr>
        <p:txBody>
          <a:bodyPr/>
          <a:p/>
        </p:txBody>
      </p:sp>
      <p:sp>
        <p:nvSpPr>
          <p:cNvPr id="38" name="Text 35"/>
          <p:cNvSpPr/>
          <p:nvPr/>
        </p:nvSpPr>
        <p:spPr>
          <a:xfrm>
            <a:off x="3467100" y="2638425"/>
            <a:ext cx="2286000" cy="161925"/>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Blinks da Solana em todo caixa</a:t>
            </a:r>
            <a:endParaRPr lang="en-US" sz="998" dirty="0"/>
          </a:p>
        </p:txBody>
      </p:sp>
      <p:sp>
        <p:nvSpPr>
          <p:cNvPr id="39" name="Shape 36"/>
          <p:cNvSpPr/>
          <p:nvPr/>
        </p:nvSpPr>
        <p:spPr>
          <a:xfrm>
            <a:off x="571500" y="3171825"/>
            <a:ext cx="114300" cy="114300"/>
          </a:xfrm>
          <a:prstGeom prst="roundRect">
            <a:avLst/>
          </a:prstGeom>
          <a:solidFill>
            <a:srgbClr val="BDF06B"/>
          </a:solidFill>
          <a:ln/>
        </p:spPr>
        <p:txBody>
          <a:bodyPr/>
          <a:p/>
        </p:txBody>
      </p:sp>
      <p:sp>
        <p:nvSpPr>
          <p:cNvPr id="40" name="Text 37"/>
          <p:cNvSpPr/>
          <p:nvPr/>
        </p:nvSpPr>
        <p:spPr>
          <a:xfrm>
            <a:off x="800100" y="31337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Programas de cashback e indicação</a:t>
            </a:r>
            <a:endParaRPr lang="en-US" sz="998" dirty="0"/>
          </a:p>
        </p:txBody>
      </p:sp>
      <p:sp>
        <p:nvSpPr>
          <p:cNvPr id="41" name="Shape 38"/>
          <p:cNvSpPr/>
          <p:nvPr/>
        </p:nvSpPr>
        <p:spPr>
          <a:xfrm>
            <a:off x="3238500" y="3171825"/>
            <a:ext cx="114300" cy="114300"/>
          </a:xfrm>
          <a:prstGeom prst="roundRect">
            <a:avLst/>
          </a:prstGeom>
          <a:solidFill>
            <a:srgbClr val="BDF06B"/>
          </a:solidFill>
          <a:ln/>
        </p:spPr>
        <p:txBody>
          <a:bodyPr/>
          <a:p/>
        </p:txBody>
      </p:sp>
      <p:sp>
        <p:nvSpPr>
          <p:cNvPr id="42" name="Text 39"/>
          <p:cNvSpPr/>
          <p:nvPr/>
        </p:nvSpPr>
        <p:spPr>
          <a:xfrm>
            <a:off x="3467100" y="31337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Painel administrativo com auditoria completa</a:t>
            </a:r>
            <a:endParaRPr lang="en-US" sz="998" dirty="0"/>
          </a:p>
        </p:txBody>
      </p:sp>
      <p:sp>
        <p:nvSpPr>
          <p:cNvPr id="43" name="Shape 40"/>
          <p:cNvSpPr/>
          <p:nvPr/>
        </p:nvSpPr>
        <p:spPr>
          <a:xfrm>
            <a:off x="571500" y="3667125"/>
            <a:ext cx="114300" cy="114300"/>
          </a:xfrm>
          <a:prstGeom prst="roundRect">
            <a:avLst/>
          </a:prstGeom>
          <a:solidFill>
            <a:srgbClr val="BDF06B"/>
          </a:solidFill>
          <a:ln/>
        </p:spPr>
        <p:txBody>
          <a:bodyPr/>
          <a:p/>
        </p:txBody>
      </p:sp>
      <p:sp>
        <p:nvSpPr>
          <p:cNvPr id="44" name="Text 41"/>
          <p:cNvSpPr/>
          <p:nvPr/>
        </p:nvSpPr>
        <p:spPr>
          <a:xfrm>
            <a:off x="800100" y="36290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Notificação quando o dinheiro chega</a:t>
            </a:r>
            <a:endParaRPr lang="en-US" sz="998" dirty="0"/>
          </a:p>
        </p:txBody>
      </p:sp>
      <p:sp>
        <p:nvSpPr>
          <p:cNvPr id="45" name="Shape 42"/>
          <p:cNvSpPr/>
          <p:nvPr/>
        </p:nvSpPr>
        <p:spPr>
          <a:xfrm>
            <a:off x="3238500" y="3667125"/>
            <a:ext cx="114300" cy="114300"/>
          </a:xfrm>
          <a:prstGeom prst="roundRect">
            <a:avLst/>
          </a:prstGeom>
          <a:solidFill>
            <a:srgbClr val="BDF06B"/>
          </a:solidFill>
          <a:ln/>
        </p:spPr>
        <p:txBody>
          <a:bodyPr/>
          <a:p/>
        </p:txBody>
      </p:sp>
      <p:sp>
        <p:nvSpPr>
          <p:cNvPr id="46" name="Text 43"/>
          <p:cNvSpPr/>
          <p:nvPr/>
        </p:nvSpPr>
        <p:spPr>
          <a:xfrm>
            <a:off x="3467100" y="3629025"/>
            <a:ext cx="2286000" cy="323850"/>
          </a:xfrm>
          <a:prstGeom prst="rect">
            <a:avLst/>
          </a:prstGeom>
          <a:noFill/>
          <a:ln/>
        </p:spPr>
        <p:txBody>
          <a:bodyPr wrap="square" lIns="0" tIns="0" rIns="0" bIns="0" rtlCol="0" anchor="t"/>
          <a:lstStyle/>
          <a:p>
            <a:pPr algn="l" indent="0" marL="0">
              <a:lnSpc>
                <a:spcPts val="1207"/>
              </a:lnSpc>
              <a:buNone/>
            </a:pPr>
            <a:r>
              <a:rPr lang="en-US" sz="998" dirty="0">
                <a:solidFill>
                  <a:srgbClr val="F7F7F2">
                    <a:alpha val="99000"/>
                  </a:srgbClr>
                </a:solidFill>
                <a:latin typeface="Inter" pitchFamily="34" charset="0"/>
                <a:ea typeface="Inter" pitchFamily="34" charset="-122"/>
                <a:cs typeface="Inter" pitchFamily="34" charset="-120"/>
              </a:rPr>
              <a:t>Metadados do token e whitepaper v2.0</a:t>
            </a:r>
            <a:endParaRPr lang="en-US" sz="998" dirty="0"/>
          </a:p>
        </p:txBody>
      </p:sp>
      <p:sp>
        <p:nvSpPr>
          <p:cNvPr id="62" name="TextBox 6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63" name="TextBox 6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13</a:t>
            </a:r>
          </a:p>
        </p:txBody>
      </p:sp>
      <p:sp>
        <p:nvSpPr>
          <p:cNvPr id="58" name="TextBox 57"/>
          <p:cNvSpPr txBox="1"/>
          <p:nvPr/>
        </p:nvSpPr>
        <p:spPr>
          <a:xfrm>
            <a:off x="6382512" y="1847088"/>
            <a:ext cx="2331720" cy="173736"/>
          </a:xfrm>
          <a:prstGeom prst="rect">
            <a:avLst/>
          </a:prstGeom>
          <a:noFill/>
        </p:spPr>
        <p:txBody>
          <a:bodyPr wrap="square" lIns="0" tIns="0" rIns="0" bIns="0">
            <a:noAutofit/>
          </a:bodyPr>
          <a:lstStyle/>
          <a:p>
            <a:pPr>
              <a:lnSpc>
                <a:spcPts val="976"/>
              </a:lnSpc>
              <a:defRPr sz="800" b="0">
                <a:solidFill>
                  <a:srgbClr val="BDF06B"/>
                </a:solidFill>
                <a:latin typeface="JetBrains Mono"/>
              </a:defRPr>
            </a:pPr>
            <a:r>
              <a:rPr/>
              <a:t>PIX → SUA CARTEIRA</a:t>
            </a:r>
          </a:p>
        </p:txBody>
      </p:sp>
      <p:pic>
        <p:nvPicPr>
          <p:cNvPr id="59" name="Picture 58" descr="pix-entry-pt.png"/>
          <p:cNvPicPr>
            <a:picLocks noChangeAspect="1"/>
          </p:cNvPicPr>
          <p:nvPr/>
        </p:nvPicPr>
        <p:blipFill>
          <a:blip r:embed="rId3"/>
          <a:stretch>
            <a:fillRect/>
          </a:stretch>
        </p:blipFill>
        <p:spPr>
          <a:xfrm>
            <a:off x="6382512" y="2103120"/>
            <a:ext cx="2176272" cy="2422642"/>
          </a:xfrm>
          <a:prstGeom prst="rect">
            <a:avLst/>
          </a:prstGeom>
        </p:spPr>
      </p:pic>
      <p:sp>
        <p:nvSpPr>
          <p:cNvPr id="60" name="TextBox 59"/>
          <p:cNvSpPr txBox="1"/>
          <p:nvPr/>
        </p:nvSpPr>
        <p:spPr>
          <a:xfrm>
            <a:off x="6382512" y="4562856"/>
            <a:ext cx="2240280" cy="146304"/>
          </a:xfrm>
          <a:prstGeom prst="rect">
            <a:avLst/>
          </a:prstGeom>
          <a:noFill/>
        </p:spPr>
        <p:txBody>
          <a:bodyPr wrap="square" lIns="0" tIns="0" rIns="0" bIns="0">
            <a:noAutofit/>
          </a:bodyPr>
          <a:lstStyle/>
          <a:p>
            <a:pPr>
              <a:lnSpc>
                <a:spcPts val="829"/>
              </a:lnSpc>
              <a:defRPr sz="680" b="0">
                <a:solidFill>
                  <a:srgbClr val="B2BDB2"/>
                </a:solidFill>
                <a:latin typeface="JetBrains Mono"/>
              </a:defRPr>
            </a:pPr>
            <a:r>
              <a:rPr/>
              <a:t>CHECKOUT WEB · FLUXO INICIAL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7F2"/>
        </a:solidFill>
      </p:bgPr>
    </p:bg>
    <p:spTree>
      <p:nvGrpSpPr>
        <p:cNvPr id="1" name=""/>
        <p:cNvGrpSpPr/>
        <p:nvPr/>
      </p:nvGrpSpPr>
      <p:grpSpPr>
        <a:xfrm>
          <a:off x="0" y="0"/>
          <a:ext cx="0" cy="0"/>
          <a:chOff x="0" y="0"/>
          <a:chExt cx="0" cy="0"/>
        </a:xfrm>
      </p:grpSpPr>
      <p:sp>
        <p:nvSpPr>
          <p:cNvPr id="53" name="TextBox 52"/>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13 — TOKEN</a:t>
            </a:r>
          </a:p>
        </p:txBody>
      </p:sp>
      <p:sp>
        <p:nvSpPr>
          <p:cNvPr id="54" name="TextBox 53"/>
          <p:cNvSpPr txBox="1"/>
          <p:nvPr/>
        </p:nvSpPr>
        <p:spPr>
          <a:xfrm>
            <a:off x="571500" y="809625"/>
            <a:ext cx="3343275" cy="210362"/>
          </a:xfrm>
          <a:prstGeom prst="rect">
            <a:avLst/>
          </a:prstGeom>
          <a:noFill/>
        </p:spPr>
        <p:txBody>
          <a:bodyPr wrap="none" lIns="0" tIns="0" rIns="0" bIns="0">
            <a:noAutofit/>
          </a:bodyPr>
          <a:lstStyle/>
          <a:p>
            <a:pPr>
              <a:lnSpc>
                <a:spcPts val="1129"/>
              </a:lnSpc>
              <a:defRPr sz="926" b="1">
                <a:solidFill>
                  <a:srgbClr val="545C54"/>
                </a:solidFill>
                <a:latin typeface="JetBrains Mono"/>
              </a:defRPr>
            </a:pPr>
            <a:r>
              <a:t>OFERTA FIXA  ·  TOKEN SPL  ·  SÍMBOLO SPY</a:t>
            </a:r>
          </a:p>
        </p:txBody>
      </p:sp>
      <p:sp>
        <p:nvSpPr>
          <p:cNvPr id="29" name="Text 26"/>
          <p:cNvSpPr/>
          <p:nvPr/>
        </p:nvSpPr>
        <p:spPr>
          <a:xfrm>
            <a:off x="523875" y="1000125"/>
            <a:ext cx="8572500" cy="1014413"/>
          </a:xfrm>
          <a:prstGeom prst="rect">
            <a:avLst/>
          </a:prstGeom>
          <a:noFill/>
          <a:ln/>
        </p:spPr>
        <p:txBody>
          <a:bodyPr wrap="square" lIns="0" tIns="0" rIns="0" bIns="0" rtlCol="0" anchor="t"/>
          <a:lstStyle/>
          <a:p>
            <a:pPr algn="l" indent="0" marL="0">
              <a:lnSpc>
                <a:spcPts val="7588"/>
              </a:lnSpc>
              <a:buNone/>
            </a:pPr>
            <a:r>
              <a:rPr lang="en-US" sz="6270" b="1" spc="-313" kern="0" dirty="0">
                <a:solidFill>
                  <a:srgbClr val="0E130F">
                    <a:alpha val="99000"/>
                  </a:srgbClr>
                </a:solidFill>
                <a:latin typeface="Inter" pitchFamily="34" charset="0"/>
                <a:ea typeface="Inter" pitchFamily="34" charset="-122"/>
                <a:cs typeface="Inter" pitchFamily="34" charset="-120"/>
              </a:rPr>
              <a:t>5.000.000.000</a:t>
            </a:r>
            <a:endParaRPr lang="en-US" sz="6270" dirty="0"/>
          </a:p>
        </p:txBody>
      </p:sp>
      <p:sp>
        <p:nvSpPr>
          <p:cNvPr id="30" name="Text 27"/>
          <p:cNvSpPr/>
          <p:nvPr/>
        </p:nvSpPr>
        <p:spPr>
          <a:xfrm>
            <a:off x="571500" y="2143125"/>
            <a:ext cx="6191250" cy="409575"/>
          </a:xfrm>
          <a:prstGeom prst="rect">
            <a:avLst/>
          </a:prstGeom>
          <a:noFill/>
          <a:ln/>
        </p:spPr>
        <p:txBody>
          <a:bodyPr wrap="square" lIns="0" tIns="0" rIns="0" bIns="0" rtlCol="0" anchor="t"/>
          <a:lstStyle/>
          <a:p>
            <a:pPr algn="l" indent="0" marL="0">
              <a:lnSpc>
                <a:spcPts val="1539"/>
              </a:lnSpc>
              <a:buNone/>
            </a:pPr>
            <a:r>
              <a:rPr lang="en-US" sz="1140" dirty="0">
                <a:solidFill>
                  <a:srgbClr val="545C54">
                    <a:alpha val="99000"/>
                  </a:srgbClr>
                </a:solidFill>
                <a:latin typeface="Inter" pitchFamily="34" charset="0"/>
                <a:ea typeface="Inter" pitchFamily="34" charset="-122"/>
                <a:cs typeface="Inter" pitchFamily="34" charset="-120"/>
              </a:rPr>
              <a:t>Emitido uma única vez. A autoridade de emissão será revogada no lançamento na mainnet: nenhum token novo poderá ser criado.</a:t>
            </a:r>
            <a:endParaRPr lang="en-US" sz="1140" dirty="0"/>
          </a:p>
        </p:txBody>
      </p:sp>
      <p:sp>
        <p:nvSpPr>
          <p:cNvPr id="31" name="Shape 28"/>
          <p:cNvSpPr/>
          <p:nvPr/>
        </p:nvSpPr>
        <p:spPr>
          <a:xfrm>
            <a:off x="571500" y="2809875"/>
            <a:ext cx="3962400" cy="342900"/>
          </a:xfrm>
          <a:prstGeom prst="rect">
            <a:avLst/>
          </a:prstGeom>
          <a:solidFill>
            <a:srgbClr val="0E130F"/>
          </a:solidFill>
          <a:ln/>
        </p:spPr>
        <p:txBody>
          <a:bodyPr/>
          <a:p/>
        </p:txBody>
      </p:sp>
      <p:sp>
        <p:nvSpPr>
          <p:cNvPr id="32" name="Text 29"/>
          <p:cNvSpPr/>
          <p:nvPr/>
        </p:nvSpPr>
        <p:spPr>
          <a:xfrm>
            <a:off x="571500" y="3286125"/>
            <a:ext cx="3962400" cy="323850"/>
          </a:xfrm>
          <a:prstGeom prst="rect">
            <a:avLst/>
          </a:prstGeom>
          <a:noFill/>
          <a:ln/>
        </p:spPr>
        <p:txBody>
          <a:bodyPr wrap="square" lIns="0" tIns="0" rIns="0" bIns="0" rtlCol="0" anchor="t"/>
          <a:lstStyle/>
          <a:p>
            <a:pPr algn="l" indent="0" marL="0">
              <a:lnSpc>
                <a:spcPts val="2414"/>
              </a:lnSpc>
              <a:buNone/>
            </a:pPr>
            <a:r>
              <a:rPr lang="en-US" sz="1995" b="1" spc="-40" kern="0" dirty="0">
                <a:solidFill>
                  <a:srgbClr val="0E130F">
                    <a:alpha val="99000"/>
                  </a:srgbClr>
                </a:solidFill>
                <a:latin typeface="Inter" pitchFamily="34" charset="0"/>
                <a:ea typeface="Inter" pitchFamily="34" charset="-122"/>
                <a:cs typeface="Inter" pitchFamily="34" charset="-120"/>
              </a:rPr>
              <a:t>50%</a:t>
            </a:r>
            <a:endParaRPr lang="en-US" sz="1995" dirty="0"/>
          </a:p>
        </p:txBody>
      </p:sp>
      <p:sp>
        <p:nvSpPr>
          <p:cNvPr id="33" name="Text 30"/>
          <p:cNvSpPr/>
          <p:nvPr/>
        </p:nvSpPr>
        <p:spPr>
          <a:xfrm>
            <a:off x="571500" y="3629025"/>
            <a:ext cx="3867150" cy="133350"/>
          </a:xfrm>
          <a:prstGeom prst="rect">
            <a:avLst/>
          </a:prstGeom>
          <a:noFill/>
          <a:ln/>
        </p:spPr>
        <p:txBody>
          <a:bodyPr wrap="square" lIns="0" tIns="0" rIns="0" bIns="0" rtlCol="0" anchor="t"/>
          <a:lstStyle/>
          <a:p>
            <a:pPr algn="l" indent="0" marL="0">
              <a:lnSpc>
                <a:spcPts val="983"/>
              </a:lnSpc>
              <a:buNone/>
            </a:pPr>
            <a:r>
              <a:rPr lang="en-US" sz="855" b="1" dirty="0">
                <a:solidFill>
                  <a:srgbClr val="0E130F">
                    <a:alpha val="99000"/>
                  </a:srgbClr>
                </a:solidFill>
                <a:latin typeface="Inter" pitchFamily="34" charset="0"/>
                <a:ea typeface="Inter" pitchFamily="34" charset="-122"/>
                <a:cs typeface="Inter" pitchFamily="34" charset="-120"/>
              </a:rPr>
              <a:t>Liquidez de mercado</a:t>
            </a:r>
            <a:endParaRPr lang="en-US" sz="855" dirty="0"/>
          </a:p>
        </p:txBody>
      </p:sp>
      <p:sp>
        <p:nvSpPr>
          <p:cNvPr id="34" name="Text 31"/>
          <p:cNvSpPr/>
          <p:nvPr/>
        </p:nvSpPr>
        <p:spPr>
          <a:xfrm>
            <a:off x="571500" y="3810000"/>
            <a:ext cx="3771900" cy="147638"/>
          </a:xfrm>
          <a:prstGeom prst="rect">
            <a:avLst/>
          </a:prstGeom>
          <a:noFill/>
          <a:ln/>
        </p:spPr>
        <p:txBody>
          <a:bodyPr wrap="square" lIns="0" tIns="0" rIns="0" bIns="0" rtlCol="0" anchor="t"/>
          <a:lstStyle/>
          <a:p>
            <a:pPr algn="l" indent="0" marL="0">
              <a:lnSpc>
                <a:spcPts val="1097"/>
              </a:lnSpc>
              <a:buNone/>
            </a:pPr>
            <a:r>
              <a:rPr lang="en-US" sz="784" dirty="0">
                <a:solidFill>
                  <a:srgbClr val="545C54">
                    <a:alpha val="99000"/>
                  </a:srgbClr>
                </a:solidFill>
                <a:latin typeface="Inter" pitchFamily="34" charset="0"/>
                <a:ea typeface="Inter" pitchFamily="34" charset="-122"/>
                <a:cs typeface="Inter" pitchFamily="34" charset="-120"/>
              </a:rPr>
              <a:t>Sustenta a compra via Pix, o saque dos lojistas e futuras listagens</a:t>
            </a:r>
            <a:endParaRPr lang="en-US" sz="784" dirty="0"/>
          </a:p>
        </p:txBody>
      </p:sp>
      <p:sp>
        <p:nvSpPr>
          <p:cNvPr id="35" name="Shape 32"/>
          <p:cNvSpPr/>
          <p:nvPr/>
        </p:nvSpPr>
        <p:spPr>
          <a:xfrm>
            <a:off x="4572000" y="2809875"/>
            <a:ext cx="1562100" cy="342900"/>
          </a:xfrm>
          <a:prstGeom prst="rect">
            <a:avLst/>
          </a:prstGeom>
          <a:solidFill>
            <a:srgbClr val="789E38"/>
          </a:solidFill>
          <a:ln/>
        </p:spPr>
        <p:txBody>
          <a:bodyPr/>
          <a:p/>
        </p:txBody>
      </p:sp>
      <p:sp>
        <p:nvSpPr>
          <p:cNvPr id="36" name="Text 33"/>
          <p:cNvSpPr/>
          <p:nvPr/>
        </p:nvSpPr>
        <p:spPr>
          <a:xfrm>
            <a:off x="4572000" y="3286125"/>
            <a:ext cx="1562100" cy="323850"/>
          </a:xfrm>
          <a:prstGeom prst="rect">
            <a:avLst/>
          </a:prstGeom>
          <a:noFill/>
          <a:ln/>
        </p:spPr>
        <p:txBody>
          <a:bodyPr wrap="square" lIns="0" tIns="0" rIns="0" bIns="0" rtlCol="0" anchor="t"/>
          <a:lstStyle/>
          <a:p>
            <a:pPr algn="l" indent="0" marL="0">
              <a:lnSpc>
                <a:spcPts val="2414"/>
              </a:lnSpc>
              <a:buNone/>
            </a:pPr>
            <a:r>
              <a:rPr lang="en-US" sz="1995" b="1" spc="-40" kern="0" dirty="0">
                <a:solidFill>
                  <a:srgbClr val="0E130F">
                    <a:alpha val="99000"/>
                  </a:srgbClr>
                </a:solidFill>
                <a:latin typeface="Inter" pitchFamily="34" charset="0"/>
                <a:ea typeface="Inter" pitchFamily="34" charset="-122"/>
                <a:cs typeface="Inter" pitchFamily="34" charset="-120"/>
              </a:rPr>
              <a:t>20%</a:t>
            </a:r>
            <a:endParaRPr lang="en-US" sz="1995" dirty="0"/>
          </a:p>
        </p:txBody>
      </p:sp>
      <p:sp>
        <p:nvSpPr>
          <p:cNvPr id="37" name="Text 34"/>
          <p:cNvSpPr/>
          <p:nvPr/>
        </p:nvSpPr>
        <p:spPr>
          <a:xfrm>
            <a:off x="4572000" y="3629025"/>
            <a:ext cx="1466850" cy="133350"/>
          </a:xfrm>
          <a:prstGeom prst="rect">
            <a:avLst/>
          </a:prstGeom>
          <a:noFill/>
          <a:ln/>
        </p:spPr>
        <p:txBody>
          <a:bodyPr wrap="square" lIns="0" tIns="0" rIns="0" bIns="0" rtlCol="0" anchor="t"/>
          <a:lstStyle/>
          <a:p>
            <a:pPr algn="l" indent="0" marL="0">
              <a:lnSpc>
                <a:spcPts val="983"/>
              </a:lnSpc>
              <a:buNone/>
            </a:pPr>
            <a:r>
              <a:rPr lang="en-US" sz="855" b="1" dirty="0">
                <a:solidFill>
                  <a:srgbClr val="0E130F">
                    <a:alpha val="99000"/>
                  </a:srgbClr>
                </a:solidFill>
                <a:latin typeface="Inter" pitchFamily="34" charset="0"/>
                <a:ea typeface="Inter" pitchFamily="34" charset="-122"/>
                <a:cs typeface="Inter" pitchFamily="34" charset="-120"/>
              </a:rPr>
              <a:t>Airdrop e recompensas</a:t>
            </a:r>
            <a:endParaRPr lang="en-US" sz="855" dirty="0"/>
          </a:p>
        </p:txBody>
      </p:sp>
      <p:sp>
        <p:nvSpPr>
          <p:cNvPr id="38" name="Text 35"/>
          <p:cNvSpPr/>
          <p:nvPr/>
        </p:nvSpPr>
        <p:spPr>
          <a:xfrm>
            <a:off x="4572000" y="3810000"/>
            <a:ext cx="1371600" cy="295275"/>
          </a:xfrm>
          <a:prstGeom prst="rect">
            <a:avLst/>
          </a:prstGeom>
          <a:noFill/>
          <a:ln/>
        </p:spPr>
        <p:txBody>
          <a:bodyPr wrap="square" lIns="0" tIns="0" rIns="0" bIns="0" rtlCol="0" anchor="t"/>
          <a:lstStyle/>
          <a:p>
            <a:pPr algn="l" indent="0" marL="0">
              <a:lnSpc>
                <a:spcPts val="1097"/>
              </a:lnSpc>
              <a:buNone/>
            </a:pPr>
            <a:r>
              <a:rPr lang="en-US" sz="784" dirty="0">
                <a:solidFill>
                  <a:srgbClr val="545C54">
                    <a:alpha val="99000"/>
                  </a:srgbClr>
                </a:solidFill>
                <a:latin typeface="Inter" pitchFamily="34" charset="0"/>
                <a:ea typeface="Inter" pitchFamily="34" charset="-122"/>
                <a:cs typeface="Inter" pitchFamily="34" charset="-120"/>
              </a:rPr>
              <a:t>Cashback, indicações e campanhas da comunidade</a:t>
            </a:r>
            <a:endParaRPr lang="en-US" sz="784" dirty="0"/>
          </a:p>
        </p:txBody>
      </p:sp>
      <p:sp>
        <p:nvSpPr>
          <p:cNvPr id="39" name="Shape 36"/>
          <p:cNvSpPr/>
          <p:nvPr/>
        </p:nvSpPr>
        <p:spPr>
          <a:xfrm>
            <a:off x="6172200" y="2809875"/>
            <a:ext cx="962025" cy="342900"/>
          </a:xfrm>
          <a:prstGeom prst="rect">
            <a:avLst/>
          </a:prstGeom>
          <a:solidFill>
            <a:srgbClr val="BDF06B"/>
          </a:solidFill>
          <a:ln/>
        </p:spPr>
        <p:txBody>
          <a:bodyPr/>
          <a:p/>
        </p:txBody>
      </p:sp>
      <p:sp>
        <p:nvSpPr>
          <p:cNvPr id="40" name="Shape 37"/>
          <p:cNvSpPr/>
          <p:nvPr/>
        </p:nvSpPr>
        <p:spPr>
          <a:xfrm>
            <a:off x="7172325" y="2809875"/>
            <a:ext cx="762000" cy="342900"/>
          </a:xfrm>
          <a:prstGeom prst="rect">
            <a:avLst/>
          </a:prstGeom>
          <a:solidFill>
            <a:srgbClr val="99A894"/>
          </a:solidFill>
          <a:ln/>
        </p:spPr>
        <p:txBody>
          <a:bodyPr/>
          <a:p/>
        </p:txBody>
      </p:sp>
      <p:sp>
        <p:nvSpPr>
          <p:cNvPr id="41" name="Shape 38"/>
          <p:cNvSpPr/>
          <p:nvPr/>
        </p:nvSpPr>
        <p:spPr>
          <a:xfrm>
            <a:off x="7972425" y="2809875"/>
            <a:ext cx="600075" cy="342900"/>
          </a:xfrm>
          <a:prstGeom prst="rect">
            <a:avLst/>
          </a:prstGeom>
          <a:solidFill>
            <a:srgbClr val="D9DBD1"/>
          </a:solidFill>
          <a:ln/>
        </p:spPr>
        <p:txBody>
          <a:bodyPr/>
          <a:p/>
        </p:txBody>
      </p:sp>
      <p:sp>
        <p:nvSpPr>
          <p:cNvPr id="55" name="TextBox 54"/>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56" name="TextBox 55"/>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14</a:t>
            </a:r>
          </a:p>
        </p:txBody>
      </p:sp>
      <p:sp>
        <p:nvSpPr>
          <p:cNvPr id="44" name="Shape 41"/>
          <p:cNvSpPr/>
          <p:nvPr/>
        </p:nvSpPr>
        <p:spPr>
          <a:xfrm>
            <a:off x="6172200" y="3362325"/>
            <a:ext cx="133350" cy="133350"/>
          </a:xfrm>
          <a:prstGeom prst="roundRect">
            <a:avLst/>
          </a:prstGeom>
          <a:solidFill>
            <a:srgbClr val="BDF06B"/>
          </a:solidFill>
          <a:ln/>
        </p:spPr>
        <p:txBody>
          <a:bodyPr/>
          <a:p/>
        </p:txBody>
      </p:sp>
      <p:sp>
        <p:nvSpPr>
          <p:cNvPr id="45" name="Text 42"/>
          <p:cNvSpPr/>
          <p:nvPr/>
        </p:nvSpPr>
        <p:spPr>
          <a:xfrm>
            <a:off x="6400800" y="33147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12,5%</a:t>
            </a:r>
            <a:endParaRPr lang="en-US" sz="1425" dirty="0"/>
          </a:p>
        </p:txBody>
      </p:sp>
      <p:sp>
        <p:nvSpPr>
          <p:cNvPr id="46" name="Text 43"/>
          <p:cNvSpPr/>
          <p:nvPr/>
        </p:nvSpPr>
        <p:spPr>
          <a:xfrm>
            <a:off x="7172325" y="33528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Marketing e expansão</a:t>
            </a:r>
            <a:endParaRPr lang="en-US" sz="926" dirty="0"/>
          </a:p>
        </p:txBody>
      </p:sp>
      <p:sp>
        <p:nvSpPr>
          <p:cNvPr id="47" name="Shape 44"/>
          <p:cNvSpPr/>
          <p:nvPr/>
        </p:nvSpPr>
        <p:spPr>
          <a:xfrm>
            <a:off x="6172200" y="3705225"/>
            <a:ext cx="133350" cy="133350"/>
          </a:xfrm>
          <a:prstGeom prst="roundRect">
            <a:avLst/>
          </a:prstGeom>
          <a:solidFill>
            <a:srgbClr val="99A894"/>
          </a:solidFill>
          <a:ln/>
        </p:spPr>
        <p:txBody>
          <a:bodyPr/>
          <a:p/>
        </p:txBody>
      </p:sp>
      <p:sp>
        <p:nvSpPr>
          <p:cNvPr id="48" name="Text 45"/>
          <p:cNvSpPr/>
          <p:nvPr/>
        </p:nvSpPr>
        <p:spPr>
          <a:xfrm>
            <a:off x="6400800" y="36576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10%</a:t>
            </a:r>
            <a:endParaRPr lang="en-US" sz="1425" dirty="0"/>
          </a:p>
        </p:txBody>
      </p:sp>
      <p:sp>
        <p:nvSpPr>
          <p:cNvPr id="49" name="Text 46"/>
          <p:cNvSpPr/>
          <p:nvPr/>
        </p:nvSpPr>
        <p:spPr>
          <a:xfrm>
            <a:off x="7172325" y="36957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Venda privada</a:t>
            </a:r>
            <a:endParaRPr lang="en-US" sz="926" dirty="0"/>
          </a:p>
        </p:txBody>
      </p:sp>
      <p:sp>
        <p:nvSpPr>
          <p:cNvPr id="50" name="Shape 47"/>
          <p:cNvSpPr/>
          <p:nvPr/>
        </p:nvSpPr>
        <p:spPr>
          <a:xfrm>
            <a:off x="6172200" y="4048125"/>
            <a:ext cx="133350" cy="133350"/>
          </a:xfrm>
          <a:prstGeom prst="roundRect">
            <a:avLst/>
          </a:prstGeom>
          <a:solidFill>
            <a:srgbClr val="D9DBD1"/>
          </a:solidFill>
          <a:ln/>
        </p:spPr>
        <p:txBody>
          <a:bodyPr/>
          <a:p/>
        </p:txBody>
      </p:sp>
      <p:sp>
        <p:nvSpPr>
          <p:cNvPr id="51" name="Text 48"/>
          <p:cNvSpPr/>
          <p:nvPr/>
        </p:nvSpPr>
        <p:spPr>
          <a:xfrm>
            <a:off x="6400800" y="4000500"/>
            <a:ext cx="714375" cy="228600"/>
          </a:xfrm>
          <a:prstGeom prst="rect">
            <a:avLst/>
          </a:prstGeom>
          <a:noFill/>
          <a:ln/>
        </p:spPr>
        <p:txBody>
          <a:bodyPr wrap="square" lIns="0" tIns="0" rIns="0" bIns="0" rtlCol="0" anchor="t"/>
          <a:lstStyle/>
          <a:p>
            <a:pPr algn="l" indent="0" marL="0">
              <a:lnSpc>
                <a:spcPts val="1725"/>
              </a:lnSpc>
              <a:buNone/>
            </a:pPr>
            <a:r>
              <a:rPr lang="en-US" sz="1425" b="1" spc="-21" kern="0" dirty="0">
                <a:solidFill>
                  <a:srgbClr val="0E130F">
                    <a:alpha val="99000"/>
                  </a:srgbClr>
                </a:solidFill>
                <a:latin typeface="Inter" pitchFamily="34" charset="0"/>
                <a:ea typeface="Inter" pitchFamily="34" charset="-122"/>
                <a:cs typeface="Inter" pitchFamily="34" charset="-120"/>
              </a:rPr>
              <a:t>7,5%</a:t>
            </a:r>
            <a:endParaRPr lang="en-US" sz="1425" dirty="0"/>
          </a:p>
        </p:txBody>
      </p:sp>
      <p:sp>
        <p:nvSpPr>
          <p:cNvPr id="52" name="Text 49"/>
          <p:cNvSpPr/>
          <p:nvPr/>
        </p:nvSpPr>
        <p:spPr>
          <a:xfrm>
            <a:off x="7172325" y="4038600"/>
            <a:ext cx="1619250" cy="147638"/>
          </a:xfrm>
          <a:prstGeom prst="rect">
            <a:avLst/>
          </a:prstGeom>
          <a:noFill/>
          <a:ln/>
        </p:spPr>
        <p:txBody>
          <a:bodyPr wrap="square" lIns="0" tIns="0" rIns="0" bIns="0" rtlCol="0" anchor="t"/>
          <a:lstStyle/>
          <a:p>
            <a:pPr algn="l" indent="0" marL="0">
              <a:lnSpc>
                <a:spcPts val="1121"/>
              </a:lnSpc>
              <a:buNone/>
            </a:pPr>
            <a:r>
              <a:rPr lang="en-US" sz="926" b="1" dirty="0">
                <a:solidFill>
                  <a:srgbClr val="0E130F">
                    <a:alpha val="99000"/>
                  </a:srgbClr>
                </a:solidFill>
                <a:latin typeface="Inter" pitchFamily="34" charset="0"/>
                <a:ea typeface="Inter" pitchFamily="34" charset="-122"/>
                <a:cs typeface="Inter" pitchFamily="34" charset="-120"/>
              </a:rPr>
              <a:t>Equipe fundadora</a:t>
            </a:r>
            <a:endParaRPr lang="en-US" sz="926"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30F"/>
        </a:solidFill>
      </p:bgPr>
    </p:bg>
    <p:spTree>
      <p:nvGrpSpPr>
        <p:cNvPr id="1" name=""/>
        <p:cNvGrpSpPr/>
        <p:nvPr/>
      </p:nvGrpSpPr>
      <p:grpSpPr>
        <a:xfrm>
          <a:off x="0" y="0"/>
          <a:ext cx="0" cy="0"/>
          <a:chOff x="0" y="0"/>
          <a:chExt cx="0" cy="0"/>
        </a:xfrm>
      </p:grpSpPr>
      <p:sp>
        <p:nvSpPr>
          <p:cNvPr id="48" name="TextBox 47"/>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BDF06B"/>
                </a:solidFill>
                <a:latin typeface="JetBrains Mono"/>
              </a:defRPr>
            </a:pPr>
            <a:r>
              <a:t>14 — ROADMAP</a:t>
            </a:r>
          </a:p>
        </p:txBody>
      </p:sp>
      <p:sp>
        <p:nvSpPr>
          <p:cNvPr id="25" name="Text 22"/>
          <p:cNvSpPr/>
          <p:nvPr/>
        </p:nvSpPr>
        <p:spPr>
          <a:xfrm>
            <a:off x="571500" y="809625"/>
            <a:ext cx="5715000" cy="723900"/>
          </a:xfrm>
          <a:prstGeom prst="rect">
            <a:avLst/>
          </a:prstGeom>
          <a:noFill/>
          <a:ln/>
        </p:spPr>
        <p:txBody>
          <a:bodyPr wrap="square" lIns="0" tIns="0" rIns="0" bIns="0" rtlCol="0" anchor="t"/>
          <a:lstStyle/>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Devnet hoje.</a:t>
            </a:r>
            <a:endParaRPr lang="en-US" sz="2708" dirty="0"/>
          </a:p>
          <a:p>
            <a:pPr algn="l" indent="0" marL="0">
              <a:lnSpc>
                <a:spcPts val="2708"/>
              </a:lnSpc>
              <a:buNone/>
            </a:pPr>
            <a:r>
              <a:rPr lang="en-US" sz="2708" b="1" spc="-81" kern="0" dirty="0">
                <a:solidFill>
                  <a:srgbClr val="F7F7F2">
                    <a:alpha val="99000"/>
                  </a:srgbClr>
                </a:solidFill>
                <a:latin typeface="Inter" pitchFamily="34" charset="0"/>
                <a:ea typeface="Inter" pitchFamily="34" charset="-122"/>
                <a:cs typeface="Inter" pitchFamily="34" charset="-120"/>
              </a:rPr>
              <a:t>Mainnet a seguir.</a:t>
            </a:r>
            <a:endParaRPr lang="en-US" sz="2708" dirty="0"/>
          </a:p>
        </p:txBody>
      </p:sp>
      <p:sp>
        <p:nvSpPr>
          <p:cNvPr id="26" name="Shape 23"/>
          <p:cNvSpPr/>
          <p:nvPr/>
        </p:nvSpPr>
        <p:spPr>
          <a:xfrm>
            <a:off x="571500" y="2476500"/>
            <a:ext cx="8001000" cy="19050"/>
          </a:xfrm>
          <a:prstGeom prst="rect">
            <a:avLst/>
          </a:prstGeom>
          <a:solidFill>
            <a:srgbClr val="333D33"/>
          </a:solidFill>
          <a:ln/>
        </p:spPr>
        <p:txBody>
          <a:bodyPr/>
          <a:p/>
        </p:txBody>
      </p:sp>
      <p:sp>
        <p:nvSpPr>
          <p:cNvPr id="27" name="Shape 24"/>
          <p:cNvSpPr/>
          <p:nvPr/>
        </p:nvSpPr>
        <p:spPr>
          <a:xfrm>
            <a:off x="571500" y="2476500"/>
            <a:ext cx="2476500" cy="19050"/>
          </a:xfrm>
          <a:prstGeom prst="rect">
            <a:avLst/>
          </a:prstGeom>
          <a:solidFill>
            <a:srgbClr val="BDF06B"/>
          </a:solidFill>
          <a:ln/>
        </p:spPr>
        <p:txBody>
          <a:bodyPr/>
          <a:p/>
        </p:txBody>
      </p:sp>
      <p:sp>
        <p:nvSpPr>
          <p:cNvPr id="28" name="Shape 25"/>
          <p:cNvSpPr/>
          <p:nvPr/>
        </p:nvSpPr>
        <p:spPr>
          <a:xfrm>
            <a:off x="571500" y="2400300"/>
            <a:ext cx="171450" cy="171450"/>
          </a:xfrm>
          <a:prstGeom prst="ellipse">
            <a:avLst/>
          </a:prstGeom>
          <a:solidFill>
            <a:srgbClr val="BDF06B"/>
          </a:solidFill>
          <a:ln w="13573">
            <a:solidFill>
              <a:srgbClr val="BDF06B"/>
            </a:solidFill>
            <a:prstDash val="solid"/>
          </a:ln>
        </p:spPr>
        <p:txBody>
          <a:bodyPr/>
          <a:p/>
        </p:txBody>
      </p:sp>
      <p:sp>
        <p:nvSpPr>
          <p:cNvPr id="49" name="TextBox 48"/>
          <p:cNvSpPr txBox="1"/>
          <p:nvPr/>
        </p:nvSpPr>
        <p:spPr>
          <a:xfrm>
            <a:off x="571500" y="2762250"/>
            <a:ext cx="962024" cy="185115"/>
          </a:xfrm>
          <a:prstGeom prst="rect">
            <a:avLst/>
          </a:prstGeom>
          <a:noFill/>
        </p:spPr>
        <p:txBody>
          <a:bodyPr wrap="none" lIns="0" tIns="0" rIns="0" bIns="0">
            <a:noAutofit/>
          </a:bodyPr>
          <a:lstStyle/>
          <a:p>
            <a:pPr>
              <a:lnSpc>
                <a:spcPts val="956"/>
              </a:lnSpc>
              <a:defRPr sz="784" b="1">
                <a:solidFill>
                  <a:srgbClr val="BDF06B"/>
                </a:solidFill>
                <a:latin typeface="JetBrains Mono"/>
              </a:defRPr>
            </a:pPr>
            <a:r>
              <a:t>FASE 1 · AGORA</a:t>
            </a:r>
          </a:p>
        </p:txBody>
      </p:sp>
      <p:sp>
        <p:nvSpPr>
          <p:cNvPr id="30" name="Text 27"/>
          <p:cNvSpPr/>
          <p:nvPr/>
        </p:nvSpPr>
        <p:spPr>
          <a:xfrm>
            <a:off x="57150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Devnet</a:t>
            </a:r>
            <a:endParaRPr lang="en-US" sz="1639" dirty="0"/>
          </a:p>
        </p:txBody>
      </p:sp>
      <p:sp>
        <p:nvSpPr>
          <p:cNvPr id="31" name="Text 28"/>
          <p:cNvSpPr/>
          <p:nvPr/>
        </p:nvSpPr>
        <p:spPr>
          <a:xfrm>
            <a:off x="571500" y="3333750"/>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Token ativo na devnet da Solana</a:t>
            </a:r>
            <a:endParaRPr lang="en-US" sz="855" dirty="0"/>
          </a:p>
        </p:txBody>
      </p:sp>
      <p:sp>
        <p:nvSpPr>
          <p:cNvPr id="32" name="Text 29"/>
          <p:cNvSpPr/>
          <p:nvPr/>
        </p:nvSpPr>
        <p:spPr>
          <a:xfrm>
            <a:off x="571500" y="3538538"/>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Produto completo entregue</a:t>
            </a:r>
            <a:endParaRPr lang="en-US" sz="855" dirty="0"/>
          </a:p>
        </p:txBody>
      </p:sp>
      <p:sp>
        <p:nvSpPr>
          <p:cNvPr id="33" name="Text 30"/>
          <p:cNvSpPr/>
          <p:nvPr/>
        </p:nvSpPr>
        <p:spPr>
          <a:xfrm>
            <a:off x="571500" y="3743325"/>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Pilotos e hackathon</a:t>
            </a:r>
            <a:endParaRPr lang="en-US" sz="855" dirty="0"/>
          </a:p>
        </p:txBody>
      </p:sp>
      <p:sp>
        <p:nvSpPr>
          <p:cNvPr id="34" name="Shape 31"/>
          <p:cNvSpPr/>
          <p:nvPr/>
        </p:nvSpPr>
        <p:spPr>
          <a:xfrm>
            <a:off x="3333750" y="2400300"/>
            <a:ext cx="171450" cy="171450"/>
          </a:xfrm>
          <a:prstGeom prst="ellipse">
            <a:avLst/>
          </a:prstGeom>
          <a:solidFill>
            <a:srgbClr val="0E130F"/>
          </a:solidFill>
          <a:ln w="13573">
            <a:solidFill>
              <a:srgbClr val="B2BDB2"/>
            </a:solidFill>
            <a:prstDash val="solid"/>
          </a:ln>
        </p:spPr>
        <p:txBody>
          <a:bodyPr/>
          <a:p/>
        </p:txBody>
      </p:sp>
      <p:sp>
        <p:nvSpPr>
          <p:cNvPr id="50" name="TextBox 49"/>
          <p:cNvSpPr txBox="1"/>
          <p:nvPr/>
        </p:nvSpPr>
        <p:spPr>
          <a:xfrm>
            <a:off x="3333750" y="2762250"/>
            <a:ext cx="1100138"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FASE 2 · PRÓXIMA</a:t>
            </a:r>
          </a:p>
        </p:txBody>
      </p:sp>
      <p:sp>
        <p:nvSpPr>
          <p:cNvPr id="36" name="Text 33"/>
          <p:cNvSpPr/>
          <p:nvPr/>
        </p:nvSpPr>
        <p:spPr>
          <a:xfrm>
            <a:off x="333375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Mainnet</a:t>
            </a:r>
            <a:endParaRPr lang="en-US" sz="1639" dirty="0"/>
          </a:p>
        </p:txBody>
      </p:sp>
      <p:sp>
        <p:nvSpPr>
          <p:cNvPr id="37" name="Text 34"/>
          <p:cNvSpPr/>
          <p:nvPr/>
        </p:nvSpPr>
        <p:spPr>
          <a:xfrm>
            <a:off x="3333750" y="3333750"/>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Auditoria de segurança independente</a:t>
            </a:r>
            <a:endParaRPr lang="en-US" sz="855" dirty="0"/>
          </a:p>
        </p:txBody>
      </p:sp>
      <p:sp>
        <p:nvSpPr>
          <p:cNvPr id="38" name="Text 35"/>
          <p:cNvSpPr/>
          <p:nvPr/>
        </p:nvSpPr>
        <p:spPr>
          <a:xfrm>
            <a:off x="3333750" y="3538538"/>
            <a:ext cx="2476500" cy="276225"/>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Emissão na mainnet e revogação da autoridade</a:t>
            </a:r>
            <a:endParaRPr lang="en-US" sz="855" dirty="0"/>
          </a:p>
        </p:txBody>
      </p:sp>
      <p:sp>
        <p:nvSpPr>
          <p:cNvPr id="39" name="Text 36"/>
          <p:cNvSpPr/>
          <p:nvPr/>
        </p:nvSpPr>
        <p:spPr>
          <a:xfrm>
            <a:off x="3333750" y="3881438"/>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Distribuição conforme o tokenomics</a:t>
            </a:r>
            <a:endParaRPr lang="en-US" sz="855" dirty="0"/>
          </a:p>
        </p:txBody>
      </p:sp>
      <p:sp>
        <p:nvSpPr>
          <p:cNvPr id="40" name="Shape 37"/>
          <p:cNvSpPr/>
          <p:nvPr/>
        </p:nvSpPr>
        <p:spPr>
          <a:xfrm>
            <a:off x="6096000" y="2400300"/>
            <a:ext cx="171450" cy="171450"/>
          </a:xfrm>
          <a:prstGeom prst="ellipse">
            <a:avLst/>
          </a:prstGeom>
          <a:solidFill>
            <a:srgbClr val="0E130F"/>
          </a:solidFill>
          <a:ln w="13573">
            <a:solidFill>
              <a:srgbClr val="B2BDB2"/>
            </a:solidFill>
            <a:prstDash val="solid"/>
          </a:ln>
        </p:spPr>
        <p:txBody>
          <a:bodyPr/>
          <a:p/>
        </p:txBody>
      </p:sp>
      <p:sp>
        <p:nvSpPr>
          <p:cNvPr id="51" name="TextBox 50"/>
          <p:cNvSpPr txBox="1"/>
          <p:nvPr/>
        </p:nvSpPr>
        <p:spPr>
          <a:xfrm>
            <a:off x="6096000" y="2762250"/>
            <a:ext cx="436753" cy="185115"/>
          </a:xfrm>
          <a:prstGeom prst="rect">
            <a:avLst/>
          </a:prstGeom>
          <a:noFill/>
        </p:spPr>
        <p:txBody>
          <a:bodyPr wrap="none" lIns="0" tIns="0" rIns="0" bIns="0">
            <a:noAutofit/>
          </a:bodyPr>
          <a:lstStyle/>
          <a:p>
            <a:pPr>
              <a:lnSpc>
                <a:spcPts val="956"/>
              </a:lnSpc>
              <a:defRPr sz="784" b="1">
                <a:solidFill>
                  <a:srgbClr val="B2BDB2"/>
                </a:solidFill>
                <a:latin typeface="JetBrains Mono"/>
              </a:defRPr>
            </a:pPr>
            <a:r>
              <a:t>FASE 3</a:t>
            </a:r>
          </a:p>
        </p:txBody>
      </p:sp>
      <p:sp>
        <p:nvSpPr>
          <p:cNvPr id="42" name="Text 39"/>
          <p:cNvSpPr/>
          <p:nvPr/>
        </p:nvSpPr>
        <p:spPr>
          <a:xfrm>
            <a:off x="6096000" y="2952750"/>
            <a:ext cx="2476500" cy="266700"/>
          </a:xfrm>
          <a:prstGeom prst="rect">
            <a:avLst/>
          </a:prstGeom>
          <a:noFill/>
          <a:ln/>
        </p:spPr>
        <p:txBody>
          <a:bodyPr wrap="square" lIns="0" tIns="0" rIns="0" bIns="0" rtlCol="0" anchor="t"/>
          <a:lstStyle/>
          <a:p>
            <a:pPr algn="l" indent="0" marL="0">
              <a:lnSpc>
                <a:spcPts val="1983"/>
              </a:lnSpc>
              <a:buNone/>
            </a:pPr>
            <a:r>
              <a:rPr lang="en-US" sz="1639" b="1" spc="-25" kern="0" dirty="0">
                <a:solidFill>
                  <a:srgbClr val="F7F7F2">
                    <a:alpha val="99000"/>
                  </a:srgbClr>
                </a:solidFill>
                <a:latin typeface="Inter" pitchFamily="34" charset="0"/>
                <a:ea typeface="Inter" pitchFamily="34" charset="-122"/>
                <a:cs typeface="Inter" pitchFamily="34" charset="-120"/>
              </a:rPr>
              <a:t>Escalar a rede</a:t>
            </a:r>
            <a:endParaRPr lang="en-US" sz="1639" dirty="0"/>
          </a:p>
        </p:txBody>
      </p:sp>
      <p:sp>
        <p:nvSpPr>
          <p:cNvPr id="43" name="Text 40"/>
          <p:cNvSpPr/>
          <p:nvPr/>
        </p:nvSpPr>
        <p:spPr>
          <a:xfrm>
            <a:off x="6096000" y="3333750"/>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Indicação e cashback em escala</a:t>
            </a:r>
            <a:endParaRPr lang="en-US" sz="855" dirty="0"/>
          </a:p>
        </p:txBody>
      </p:sp>
      <p:sp>
        <p:nvSpPr>
          <p:cNvPr id="44" name="Text 41"/>
          <p:cNvSpPr/>
          <p:nvPr/>
        </p:nvSpPr>
        <p:spPr>
          <a:xfrm>
            <a:off x="6096000" y="3538538"/>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Liquidez e listagens</a:t>
            </a:r>
            <a:endParaRPr lang="en-US" sz="855" dirty="0"/>
          </a:p>
        </p:txBody>
      </p:sp>
      <p:sp>
        <p:nvSpPr>
          <p:cNvPr id="45" name="Text 42"/>
          <p:cNvSpPr/>
          <p:nvPr/>
        </p:nvSpPr>
        <p:spPr>
          <a:xfrm>
            <a:off x="6096000" y="3743325"/>
            <a:ext cx="2476500" cy="138113"/>
          </a:xfrm>
          <a:prstGeom prst="rect">
            <a:avLst/>
          </a:prstGeom>
          <a:noFill/>
          <a:ln/>
        </p:spPr>
        <p:txBody>
          <a:bodyPr wrap="square" lIns="0" tIns="0" rIns="0" bIns="0" rtlCol="0" anchor="t"/>
          <a:lstStyle/>
          <a:p>
            <a:pPr algn="l" indent="0" marL="0">
              <a:lnSpc>
                <a:spcPts val="1035"/>
              </a:lnSpc>
              <a:buNone/>
            </a:pPr>
            <a:r>
              <a:rPr lang="en-US" sz="855" dirty="0">
                <a:solidFill>
                  <a:srgbClr val="B2BDB2">
                    <a:alpha val="99000"/>
                  </a:srgbClr>
                </a:solidFill>
                <a:latin typeface="Inter" pitchFamily="34" charset="0"/>
                <a:ea typeface="Inter" pitchFamily="34" charset="-122"/>
                <a:cs typeface="Inter" pitchFamily="34" charset="-120"/>
              </a:rPr>
              <a:t>Integrações abertas para qualquer app</a:t>
            </a:r>
            <a:endParaRPr lang="en-US" sz="855" dirty="0"/>
          </a:p>
        </p:txBody>
      </p:sp>
      <p:sp>
        <p:nvSpPr>
          <p:cNvPr id="52" name="TextBox 5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SIMPAY · COLOSSEUM 2026</a:t>
            </a:r>
          </a:p>
        </p:txBody>
      </p:sp>
      <p:sp>
        <p:nvSpPr>
          <p:cNvPr id="53" name="TextBox 5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B2BDB2"/>
                </a:solidFill>
                <a:latin typeface="JetBrains Mono"/>
              </a:defRPr>
            </a:pPr>
            <a:r>
              <a:t>15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2"/>
        </a:solidFill>
      </p:bgPr>
    </p:bg>
    <p:spTree>
      <p:nvGrpSpPr>
        <p:cNvPr id="1" name=""/>
        <p:cNvGrpSpPr/>
        <p:nvPr/>
      </p:nvGrpSpPr>
      <p:grpSpPr>
        <a:xfrm>
          <a:off x="0" y="0"/>
          <a:ext cx="0" cy="0"/>
          <a:chOff x="0" y="0"/>
          <a:chExt cx="0" cy="0"/>
        </a:xfrm>
      </p:grpSpPr>
      <p:sp>
        <p:nvSpPr>
          <p:cNvPr id="6" name="Shape 3"/>
          <p:cNvSpPr/>
          <p:nvPr/>
        </p:nvSpPr>
        <p:spPr>
          <a:xfrm>
            <a:off x="5905500" y="0"/>
            <a:ext cx="3238500" cy="5143500"/>
          </a:xfrm>
          <a:prstGeom prst="rect">
            <a:avLst/>
          </a:prstGeom>
          <a:solidFill>
            <a:srgbClr val="BDF06B"/>
          </a:solidFill>
          <a:ln/>
        </p:spPr>
        <p:txBody>
          <a:bodyPr/>
          <a:p/>
        </p:txBody>
      </p:sp>
      <p:sp>
        <p:nvSpPr>
          <p:cNvPr id="31" name="TextBox 30"/>
          <p:cNvSpPr txBox="1"/>
          <p:nvPr/>
        </p:nvSpPr>
        <p:spPr>
          <a:xfrm>
            <a:off x="571500" y="457200"/>
            <a:ext cx="2926080" cy="185115"/>
          </a:xfrm>
          <a:prstGeom prst="rect">
            <a:avLst/>
          </a:prstGeom>
          <a:noFill/>
        </p:spPr>
        <p:txBody>
          <a:bodyPr wrap="none" lIns="0" tIns="0" rIns="0" bIns="0">
            <a:noAutofit/>
          </a:bodyPr>
          <a:lstStyle/>
          <a:p>
            <a:pPr>
              <a:lnSpc>
                <a:spcPts val="956"/>
              </a:lnSpc>
              <a:defRPr sz="784" b="0">
                <a:solidFill>
                  <a:srgbClr val="545C54"/>
                </a:solidFill>
                <a:latin typeface="JetBrains Mono"/>
              </a:defRPr>
            </a:pPr>
            <a:r>
              <a:t>15 — POR QUE CONFIAR</a:t>
            </a:r>
          </a:p>
        </p:txBody>
      </p:sp>
      <p:sp>
        <p:nvSpPr>
          <p:cNvPr id="8" name="Text 5"/>
          <p:cNvSpPr/>
          <p:nvPr/>
        </p:nvSpPr>
        <p:spPr>
          <a:xfrm>
            <a:off x="571500" y="809625"/>
            <a:ext cx="4762500" cy="1085850"/>
          </a:xfrm>
          <a:prstGeom prst="rect">
            <a:avLst/>
          </a:prstGeom>
          <a:noFill/>
          <a:ln/>
        </p:spPr>
        <p:txBody>
          <a:bodyPr wrap="square" lIns="0" tIns="0" rIns="0" bIns="0" rtlCol="0" anchor="t"/>
          <a:lstStyle/>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Construído como</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infraestrutura</a:t>
            </a:r>
            <a:endParaRPr lang="en-US" sz="2708" dirty="0"/>
          </a:p>
          <a:p>
            <a:pPr algn="l" indent="0" marL="0">
              <a:lnSpc>
                <a:spcPts val="2708"/>
              </a:lnSpc>
              <a:buNone/>
            </a:pPr>
            <a:r>
              <a:rPr lang="en-US" sz="2708" b="1" spc="-81" kern="0" dirty="0">
                <a:solidFill>
                  <a:srgbClr val="0E130F">
                    <a:alpha val="99000"/>
                  </a:srgbClr>
                </a:solidFill>
                <a:latin typeface="Inter" pitchFamily="34" charset="0"/>
                <a:ea typeface="Inter" pitchFamily="34" charset="-122"/>
                <a:cs typeface="Inter" pitchFamily="34" charset="-120"/>
              </a:rPr>
              <a:t>financeira.</a:t>
            </a:r>
            <a:endParaRPr lang="en-US" sz="2708" dirty="0"/>
          </a:p>
        </p:txBody>
      </p:sp>
      <p:sp>
        <p:nvSpPr>
          <p:cNvPr id="9" name="Text 6"/>
          <p:cNvSpPr/>
          <p:nvPr/>
        </p:nvSpPr>
        <p:spPr>
          <a:xfrm>
            <a:off x="571500" y="2667000"/>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Segurança em primeiro lugar</a:t>
            </a:r>
            <a:endParaRPr lang="en-US" sz="1140" dirty="0"/>
          </a:p>
        </p:txBody>
      </p:sp>
      <p:sp>
        <p:nvSpPr>
          <p:cNvPr id="10" name="Text 7"/>
          <p:cNvSpPr/>
          <p:nvPr/>
        </p:nvSpPr>
        <p:spPr>
          <a:xfrm>
            <a:off x="571500" y="2886075"/>
            <a:ext cx="4762500" cy="333375"/>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Segredos no HashiCorp Vault, API bancária com mTLS e chaves que nunca saem do aparelho do usuário.</a:t>
            </a:r>
            <a:endParaRPr lang="en-US" sz="891" dirty="0"/>
          </a:p>
        </p:txBody>
      </p:sp>
      <p:sp>
        <p:nvSpPr>
          <p:cNvPr id="11" name="Text 8"/>
          <p:cNvSpPr/>
          <p:nvPr/>
        </p:nvSpPr>
        <p:spPr>
          <a:xfrm>
            <a:off x="571500" y="3286125"/>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Toda ação auditada</a:t>
            </a:r>
            <a:endParaRPr lang="en-US" sz="1140" dirty="0"/>
          </a:p>
        </p:txBody>
      </p:sp>
      <p:sp>
        <p:nvSpPr>
          <p:cNvPr id="12" name="Text 9"/>
          <p:cNvSpPr/>
          <p:nvPr/>
        </p:nvSpPr>
        <p:spPr>
          <a:xfrm>
            <a:off x="571500" y="3505200"/>
            <a:ext cx="4762500" cy="333375"/>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Alterações do admin, ajustes e bloqueios de recompensas ficam registrados com o antes e o depois.</a:t>
            </a:r>
            <a:endParaRPr lang="en-US" sz="891" dirty="0"/>
          </a:p>
        </p:txBody>
      </p:sp>
      <p:sp>
        <p:nvSpPr>
          <p:cNvPr id="13" name="Text 10"/>
          <p:cNvSpPr/>
          <p:nvPr/>
        </p:nvSpPr>
        <p:spPr>
          <a:xfrm>
            <a:off x="571500" y="3905250"/>
            <a:ext cx="4762500" cy="185738"/>
          </a:xfrm>
          <a:prstGeom prst="rect">
            <a:avLst/>
          </a:prstGeom>
          <a:noFill/>
          <a:ln/>
        </p:spPr>
        <p:txBody>
          <a:bodyPr wrap="square" lIns="0" tIns="0" rIns="0" bIns="0" rtlCol="0" anchor="t"/>
          <a:lstStyle/>
          <a:p>
            <a:pPr algn="l" indent="0" marL="0">
              <a:lnSpc>
                <a:spcPts val="1380"/>
              </a:lnSpc>
              <a:buNone/>
            </a:pPr>
            <a:r>
              <a:rPr lang="en-US" sz="1140" b="1" spc="-6" kern="0" dirty="0">
                <a:solidFill>
                  <a:srgbClr val="0E130F">
                    <a:alpha val="99000"/>
                  </a:srgbClr>
                </a:solidFill>
                <a:latin typeface="Inter" pitchFamily="34" charset="0"/>
                <a:ea typeface="Inter" pitchFamily="34" charset="-122"/>
                <a:cs typeface="Inter" pitchFamily="34" charset="-120"/>
              </a:rPr>
              <a:t>Testado de ponta a ponta</a:t>
            </a:r>
            <a:endParaRPr lang="en-US" sz="1140" dirty="0"/>
          </a:p>
        </p:txBody>
      </p:sp>
      <p:sp>
        <p:nvSpPr>
          <p:cNvPr id="14" name="Text 11"/>
          <p:cNvSpPr/>
          <p:nvPr/>
        </p:nvSpPr>
        <p:spPr>
          <a:xfrm>
            <a:off x="571500" y="4124325"/>
            <a:ext cx="4762500" cy="166688"/>
          </a:xfrm>
          <a:prstGeom prst="rect">
            <a:avLst/>
          </a:prstGeom>
          <a:noFill/>
          <a:ln/>
        </p:spPr>
        <p:txBody>
          <a:bodyPr wrap="square" lIns="0" tIns="0" rIns="0" bIns="0" rtlCol="0" anchor="t"/>
          <a:lstStyle/>
          <a:p>
            <a:pPr algn="l" indent="0" marL="0">
              <a:lnSpc>
                <a:spcPts val="1247"/>
              </a:lnSpc>
              <a:buNone/>
            </a:pPr>
            <a:r>
              <a:rPr lang="en-US" sz="891" dirty="0">
                <a:solidFill>
                  <a:srgbClr val="545C54">
                    <a:alpha val="99000"/>
                  </a:srgbClr>
                </a:solidFill>
                <a:latin typeface="Inter" pitchFamily="34" charset="0"/>
                <a:ea typeface="Inter" pitchFamily="34" charset="-122"/>
                <a:cs typeface="Inter" pitchFamily="34" charset="-120"/>
              </a:rPr>
              <a:t>Mais de 300 testes automatizados entre API, PDV e carteira.</a:t>
            </a:r>
            <a:endParaRPr lang="en-US" sz="891" dirty="0"/>
          </a:p>
        </p:txBody>
      </p:sp>
      <p:sp>
        <p:nvSpPr>
          <p:cNvPr id="32" name="TextBox 31"/>
          <p:cNvSpPr txBox="1"/>
          <p:nvPr/>
        </p:nvSpPr>
        <p:spPr>
          <a:xfrm>
            <a:off x="571500" y="4762500"/>
            <a:ext cx="237744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SIMPAY · COLOSSEUM 2026</a:t>
            </a:r>
          </a:p>
        </p:txBody>
      </p:sp>
      <p:sp>
        <p:nvSpPr>
          <p:cNvPr id="33" name="TextBox 32"/>
          <p:cNvSpPr txBox="1"/>
          <p:nvPr/>
        </p:nvSpPr>
        <p:spPr>
          <a:xfrm>
            <a:off x="8381999" y="4762500"/>
            <a:ext cx="190500" cy="159689"/>
          </a:xfrm>
          <a:prstGeom prst="rect">
            <a:avLst/>
          </a:prstGeom>
          <a:noFill/>
        </p:spPr>
        <p:txBody>
          <a:bodyPr wrap="none" lIns="0" tIns="0" rIns="0" bIns="0">
            <a:noAutofit/>
          </a:bodyPr>
          <a:lstStyle/>
          <a:p>
            <a:pPr>
              <a:lnSpc>
                <a:spcPts val="782"/>
              </a:lnSpc>
              <a:defRPr sz="641" b="0">
                <a:solidFill>
                  <a:srgbClr val="545C54"/>
                </a:solidFill>
                <a:latin typeface="JetBrains Mono"/>
              </a:defRPr>
            </a:pPr>
            <a:r>
              <a:t>16</a:t>
            </a:r>
          </a:p>
        </p:txBody>
      </p:sp>
      <p:sp>
        <p:nvSpPr>
          <p:cNvPr id="27" name="TextBox 26"/>
          <p:cNvSpPr txBox="1"/>
          <p:nvPr/>
        </p:nvSpPr>
        <p:spPr>
          <a:xfrm>
            <a:off x="6286500" y="813816"/>
            <a:ext cx="2468880" cy="192024"/>
          </a:xfrm>
          <a:prstGeom prst="rect">
            <a:avLst/>
          </a:prstGeom>
          <a:noFill/>
        </p:spPr>
        <p:txBody>
          <a:bodyPr wrap="square" lIns="0" tIns="0" rIns="0" bIns="0">
            <a:noAutofit/>
          </a:bodyPr>
          <a:lstStyle/>
          <a:p>
            <a:pPr>
              <a:lnSpc>
                <a:spcPts val="951"/>
              </a:lnSpc>
              <a:defRPr sz="780" b="0">
                <a:solidFill>
                  <a:srgbClr val="0E130F"/>
                </a:solidFill>
                <a:latin typeface="JetBrains Mono"/>
              </a:defRPr>
            </a:pPr>
            <a:r>
              <a:rPr/>
              <a:t>FEITO PARA O DIA A DIA</a:t>
            </a:r>
          </a:p>
        </p:txBody>
      </p:sp>
      <p:sp>
        <p:nvSpPr>
          <p:cNvPr id="28" name="TextBox 27"/>
          <p:cNvSpPr txBox="1"/>
          <p:nvPr/>
        </p:nvSpPr>
        <p:spPr>
          <a:xfrm>
            <a:off x="6286500" y="1225296"/>
            <a:ext cx="2487168" cy="1097280"/>
          </a:xfrm>
          <a:prstGeom prst="rect">
            <a:avLst/>
          </a:prstGeom>
          <a:noFill/>
        </p:spPr>
        <p:txBody>
          <a:bodyPr wrap="square" lIns="0" tIns="0" rIns="0" bIns="0">
            <a:noAutofit/>
          </a:bodyPr>
          <a:lstStyle/>
          <a:p>
            <a:pPr>
              <a:lnSpc>
                <a:spcPts val="2928"/>
              </a:lnSpc>
              <a:defRPr sz="2400" b="1">
                <a:solidFill>
                  <a:srgbClr val="0E130F"/>
                </a:solidFill>
                <a:latin typeface="Inter"/>
              </a:defRPr>
            </a:pPr>
            <a:r>
              <a:rPr/>
              <a:t>Suas chaves.</a:t>
            </a:r>
          </a:p>
          <a:p>
            <a:pPr>
              <a:lnSpc>
                <a:spcPts val="2928"/>
              </a:lnSpc>
              <a:defRPr sz="2400" b="1">
                <a:solidFill>
                  <a:srgbClr val="0E130F"/>
                </a:solidFill>
                <a:latin typeface="Inter"/>
              </a:defRPr>
            </a:pPr>
            <a:r>
              <a:t>Seu dinheiro.</a:t>
            </a:r>
          </a:p>
        </p:txBody>
      </p:sp>
      <p:sp>
        <p:nvSpPr>
          <p:cNvPr id="29" name="TextBox 28"/>
          <p:cNvSpPr txBox="1"/>
          <p:nvPr/>
        </p:nvSpPr>
        <p:spPr>
          <a:xfrm>
            <a:off x="6286500" y="2615184"/>
            <a:ext cx="2487168" cy="512064"/>
          </a:xfrm>
          <a:prstGeom prst="rect">
            <a:avLst/>
          </a:prstGeom>
          <a:noFill/>
        </p:spPr>
        <p:txBody>
          <a:bodyPr wrap="square" lIns="0" tIns="0" rIns="0" bIns="0">
            <a:noAutofit/>
          </a:bodyPr>
          <a:lstStyle/>
          <a:p>
            <a:pPr>
              <a:lnSpc>
                <a:spcPts val="1586"/>
              </a:lnSpc>
              <a:defRPr sz="1300" b="1">
                <a:solidFill>
                  <a:srgbClr val="0E130F"/>
                </a:solidFill>
                <a:latin typeface="Inter"/>
              </a:defRPr>
            </a:pPr>
            <a:r>
              <a:rPr/>
              <a:t>Entrada via Pix.</a:t>
            </a:r>
          </a:p>
          <a:p>
            <a:pPr>
              <a:lnSpc>
                <a:spcPts val="1586"/>
              </a:lnSpc>
              <a:defRPr sz="1300" b="1">
                <a:solidFill>
                  <a:srgbClr val="0E130F"/>
                </a:solidFill>
                <a:latin typeface="Inter"/>
              </a:defRPr>
            </a:pPr>
            <a:r>
              <a:t>Pagamentos por QR e NFC.</a:t>
            </a:r>
          </a:p>
        </p:txBody>
      </p:sp>
      <p:sp>
        <p:nvSpPr>
          <p:cNvPr id="30" name="TextBox 29"/>
          <p:cNvSpPr txBox="1"/>
          <p:nvPr/>
        </p:nvSpPr>
        <p:spPr>
          <a:xfrm>
            <a:off x="6286500" y="3511296"/>
            <a:ext cx="2487168" cy="457200"/>
          </a:xfrm>
          <a:prstGeom prst="rect">
            <a:avLst/>
          </a:prstGeom>
          <a:noFill/>
        </p:spPr>
        <p:txBody>
          <a:bodyPr wrap="square" lIns="0" tIns="0" rIns="0" bIns="0">
            <a:noAutofit/>
          </a:bodyPr>
          <a:lstStyle/>
          <a:p>
            <a:pPr>
              <a:lnSpc>
                <a:spcPts val="1220"/>
              </a:lnSpc>
              <a:defRPr sz="1000" b="0">
                <a:solidFill>
                  <a:srgbClr val="545C54"/>
                </a:solidFill>
                <a:latin typeface="Inter"/>
              </a:defRPr>
            </a:pPr>
            <a:r>
              <a:rPr/>
              <a:t>Uma experiência integrada.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30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12000" t="0" b="5440"/>
          <a:stretch/>
        </p:blipFill>
        <p:spPr>
          <a:xfrm>
            <a:off x="4953000" y="-285750"/>
            <a:ext cx="4191000" cy="4967288"/>
          </a:xfrm>
          <a:prstGeom prst="rect">
            <a:avLst/>
          </a:prstGeom>
        </p:spPr>
      </p:pic>
      <p:pic>
        <p:nvPicPr>
          <p:cNvPr id="4" name="Image 1" descr="preencoded.png">    </p:cNvPr>
          <p:cNvPicPr>
            <a:picLocks noChangeAspect="1"/>
          </p:cNvPicPr>
          <p:nvPr/>
        </p:nvPicPr>
        <p:blipFill>
          <a:blip r:embed="rId2"/>
          <a:srcRect l="0" r="0" t="0" b="0"/>
          <a:stretch/>
        </p:blipFill>
        <p:spPr>
          <a:xfrm>
            <a:off x="571500" y="457200"/>
            <a:ext cx="1514475" cy="381000"/>
          </a:xfrm>
          <a:prstGeom prst="rect">
            <a:avLst/>
          </a:prstGeom>
        </p:spPr>
      </p:pic>
      <p:sp>
        <p:nvSpPr>
          <p:cNvPr id="5" name="Text 0"/>
          <p:cNvSpPr/>
          <p:nvPr/>
        </p:nvSpPr>
        <p:spPr>
          <a:xfrm>
            <a:off x="571500" y="1428750"/>
            <a:ext cx="4762500" cy="1500188"/>
          </a:xfrm>
          <a:prstGeom prst="rect">
            <a:avLst/>
          </a:prstGeom>
          <a:noFill/>
          <a:ln/>
        </p:spPr>
        <p:txBody>
          <a:bodyPr wrap="square" lIns="0" tIns="0" rIns="0" bIns="0" rtlCol="0" anchor="t"/>
          <a:lstStyle/>
          <a:p>
            <a:pPr algn="l" indent="0" marL="0">
              <a:lnSpc>
                <a:spcPts val="3751"/>
              </a:lnSpc>
              <a:buNone/>
            </a:pPr>
            <a:r>
              <a:rPr lang="en-US" sz="3990" b="1" spc="-160" kern="0" dirty="0">
                <a:solidFill>
                  <a:srgbClr val="F7F7F2">
                    <a:alpha val="99000"/>
                  </a:srgbClr>
                </a:solidFill>
                <a:latin typeface="Inter" pitchFamily="34" charset="0"/>
                <a:ea typeface="Inter" pitchFamily="34" charset="-122"/>
                <a:cs typeface="Inter" pitchFamily="34" charset="-120"/>
              </a:rPr>
              <a:t>Pague como Pix.</a:t>
            </a:r>
            <a:endParaRPr lang="en-US" sz="3990" dirty="0"/>
          </a:p>
          <a:p>
            <a:pPr algn="l" indent="0" marL="0">
              <a:lnSpc>
                <a:spcPts val="3751"/>
              </a:lnSpc>
              <a:buNone/>
            </a:pPr>
            <a:r>
              <a:rPr lang="en-US" sz="3990" b="1" spc="-160" kern="0" dirty="0">
                <a:solidFill>
                  <a:srgbClr val="F7F7F2">
                    <a:alpha val="99000"/>
                  </a:srgbClr>
                </a:solidFill>
                <a:latin typeface="Inter" pitchFamily="34" charset="0"/>
                <a:ea typeface="Inter" pitchFamily="34" charset="-122"/>
                <a:cs typeface="Inter" pitchFamily="34" charset="-120"/>
              </a:rPr>
              <a:t>Seja dono</a:t>
            </a:r>
            <a:endParaRPr lang="en-US" sz="3990" dirty="0"/>
          </a:p>
          <a:p>
            <a:pPr algn="l" indent="0" marL="0">
              <a:lnSpc>
                <a:spcPts val="3751"/>
              </a:lnSpc>
              <a:buNone/>
            </a:pPr>
            <a:r>
              <a:rPr lang="en-US" sz="3990" b="1" spc="-160" kern="0" dirty="0">
                <a:solidFill>
                  <a:srgbClr val="F7F7F2">
                    <a:alpha val="99000"/>
                  </a:srgbClr>
                </a:solidFill>
                <a:latin typeface="Inter" pitchFamily="34" charset="0"/>
                <a:ea typeface="Inter" pitchFamily="34" charset="-122"/>
                <a:cs typeface="Inter" pitchFamily="34" charset="-120"/>
              </a:rPr>
              <a:t>como em cripto.</a:t>
            </a:r>
            <a:endParaRPr lang="en-US" sz="3990" dirty="0"/>
          </a:p>
        </p:txBody>
      </p:sp>
      <p:sp>
        <p:nvSpPr>
          <p:cNvPr id="6" name="Text 1"/>
          <p:cNvSpPr/>
          <p:nvPr/>
        </p:nvSpPr>
        <p:spPr>
          <a:xfrm>
            <a:off x="571500" y="3157538"/>
            <a:ext cx="4286250" cy="228600"/>
          </a:xfrm>
          <a:prstGeom prst="rect">
            <a:avLst/>
          </a:prstGeom>
          <a:noFill/>
          <a:ln/>
        </p:spPr>
        <p:txBody>
          <a:bodyPr wrap="square" lIns="0" tIns="0" rIns="0" bIns="0" rtlCol="0" anchor="t"/>
          <a:lstStyle/>
          <a:p>
            <a:pPr algn="l" indent="0" marL="0">
              <a:lnSpc>
                <a:spcPts val="1725"/>
              </a:lnSpc>
              <a:buNone/>
            </a:pPr>
            <a:r>
              <a:rPr lang="en-US" sz="1425" b="1" dirty="0">
                <a:solidFill>
                  <a:srgbClr val="BDF06B">
                    <a:alpha val="99000"/>
                  </a:srgbClr>
                </a:solidFill>
                <a:latin typeface="Inter" pitchFamily="34" charset="0"/>
                <a:ea typeface="Inter" pitchFamily="34" charset="-122"/>
                <a:cs typeface="Inter" pitchFamily="34" charset="-120"/>
              </a:rPr>
              <a:t>simpay.tech</a:t>
            </a:r>
            <a:endParaRPr lang="en-US" sz="1425" dirty="0"/>
          </a:p>
        </p:txBody>
      </p:sp>
      <p:sp>
        <p:nvSpPr>
          <p:cNvPr id="8" name="TextBox 7"/>
          <p:cNvSpPr txBox="1"/>
          <p:nvPr/>
        </p:nvSpPr>
        <p:spPr>
          <a:xfrm>
            <a:off x="571500" y="3490913"/>
            <a:ext cx="5029200" cy="185115"/>
          </a:xfrm>
          <a:prstGeom prst="rect">
            <a:avLst/>
          </a:prstGeom>
          <a:noFill/>
        </p:spPr>
        <p:txBody>
          <a:bodyPr wrap="none" lIns="0" tIns="0" rIns="0" bIns="0">
            <a:noAutofit/>
          </a:bodyPr>
          <a:lstStyle/>
          <a:p>
            <a:pPr>
              <a:lnSpc>
                <a:spcPts val="956"/>
              </a:lnSpc>
              <a:defRPr sz="784" b="0">
                <a:solidFill>
                  <a:srgbClr val="B2BDB2"/>
                </a:solidFill>
                <a:latin typeface="JetBrains Mono"/>
              </a:defRPr>
            </a:pPr>
            <a:r>
              <a:t>CONHEÇA A SIMPAY · HELLO@SIMPAY.COM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2026-10-08T11:52:12Z</dcterms:created>
  <dcterms:modified xsi:type="dcterms:W3CDTF">2026-10-08T11:52:12Z</dcterms:modified>
</cp:coreProperties>
</file>