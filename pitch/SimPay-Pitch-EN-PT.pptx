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embeddedFontLst>
    <p:embeddedFont>
      <p:font typeface="JetBrains Mono"/>
      <p:regular r:id="rId41"/>
    </p:embeddedFont>
    <p:embeddedFont>
      <p:font typeface="Inter"/>
      <p:regular r:id="rId4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font" Target="fonts/rId41.fntdata"/><Relationship Id="rId42" Type="http://schemas.openxmlformats.org/officeDocument/2006/relationships/font" Target="fonts/rId4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strong, ~10s: "This is SimPay."
One line: crypto you can actually spend at the counter, and that stays in your own wallet.
Name the event: Colosseum, Superteam Brasil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Brazil already has instant money: Pix.
But merchants still pay card machines, and crypto sits idle on exchanges.
Land it: instant is solved; ownership and utility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purpose, in one breath: simple, useful for everything, truly owned.
No bank, no middleman. This is the original promise of crypto; we make it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5s per step.
Emphasise step 2: the customer holds the keys.
Step 4: merchant is paid in about a second, 0% to receive.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right is live on devnet today.
If recording, cut to screen captures of each product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parts judges have not seen elsewhere.
Demo cue: tap phone on the NFC tag, then open the same till as a Blink in Phantom.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Solana: speed and cost make counter payments possible.
The pills show we built on real rails: Solana Pay, Actions, Pix over mTLS, 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merchants: they feel the card-fee pain every day.
Consumers come through Pix familiarity; crypto users through Blinks.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Narration cue: merchant receives the full amount in SIMPAY; a 5% fee applies only when converting to Pix. The screenshot is an illustrative R$25 sale from https://simpay.tech/comerciante, not an actual customer transaction. Click the simulator in slideshow mode to play the embedded five-second clip. The same video is supplied separately. In PDF the video is shown as a static poster frame.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is built into the product: every merchant and every customer can refer.
Rewards unlock only on real use, which keeps fake accounts out.
Fill in the 90-day targets before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SimPay grows beyond retail.
Same rails: the wallet, the token and Pix cash-out we already built.
Next: companies paying companies. Then: money coming from abroad.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B2B: large payments without bank cut-off times or weekend delays, with a receipt on-chain.
The loop matters: merchants paid in SIMPAY can pay suppliers without converting.
Remittances: fewer intermediaries, cash-out to Pix. Say clearly we will operate with licensed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https://simpay.tech/comprar. Real public purchase-entry form, wallet address empty and amount entered only locally. No Pix charge, token delivery or payment completion was executed. Empty metrics placeholders were removed because the user has not defined traction figures and is presenting the product first.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supply of 5 billion, minted once.
Half goes to market liquidity so purchases and cash-outs always work.
20% returns to the community as cashback and referral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in Phase 1 on devnet, on purpose: prove the product first.
Next: audit, mainnet, and revoking the mint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placeholders were replaced with product pillars because the user has not yet defined the team and wants to present the product before developing launch plans. Existing security and test statements are retained from the original user-provided deck, rather than independently verified in this environment.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line: "Pay like Pix. Own like crypto."
Invite judges to pay a till Blink on devnet.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Abra forte, ~10s: "Esta é a SimPay."
Uma frase: cripto que você gasta no balcão e que fica na sua própria carteira.
Cite o evento: Colosseum, trilha Superteam Brasil.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Brasil já tem dinheiro instantâneo: o Pix.
Mas o lojista ainda paga a maquininha, e a cripto fica parada na corretora.
Conclua: o instantâneo está resolvido; a posse e a utilidade, não.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Nosso propósito, num fôlego: simples, útil para tudo, de verdade seu.
Sem banco, sem intermediário. É a promessa original da cripto; nós a tornamos usável.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Percorra o fluxo da esquerda para a direita, ~5s por passo.
Destaque o passo 2: o cliente guarda as chaves.
Passo 4: o lojista recebe em ~1 segundo, 0% para receber.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Tudo à direita já está no ar na devnet.
Se estiver gravando, corte para capturas de tela de cada produto aqui.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o que os jurados não viram em outros projetos.
Deixa para a demo: encoste o celular na tag NFC e abra o mesmo caixa como Blink na Phantom.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que Solana: velocidade e custo tornam o pagamento no balcão possível.
As pílulas mostram a infraestrutura real: Solana Pay, Actions, Pix com mTLS, 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Começamos pelo lojista: ele sente a taxa do cartão todo dia.
O cliente vem pela familiaridade com o Pix; quem já tem cripto, pelos Blinks.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Narration cue: merchant receives the full amount in SIMPAY; a 5% fee applies only when converting to Pix. The screenshot is an illustrative R$25 sale from https://simpay.tech/comerciante, not an actual customer transaction. Click the simulator in slideshow mode to play the embedded five-second clip. The same video is supplied separately. In PDF the video is shown as a static poster frame.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crescimento está dentro do produto: todo lojista e todo cliente pode indicar.
A recompensa só sai no uso real, o que barra contas falsas.
Preencha as metas de 90 dias antes de gravar.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a SimPay vai além do varejo.
A mesma infraestrutura: carteira, token e saque via Pix que já construímos.
Depois: empresas pagando empresas. Em seguida: dinheiro vindo do exterior.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B2B: pagamentos altos sem horário de corte nem atraso no fim de semana, com comprovante na blockchain.
O ciclo importa: quem recebe em SIMPAY paga fornecedores sem converter.
Remessas: menos intermediários e saque via Pix. Diga claramente que vamos operar com parceiros autorizados.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https://simpay.tech/comprar. Real public purchase-entry form, wallet address empty and amount entered only locally. No Pix charge, token delivery or payment completion was executed. Empty metrics placeholders were removed because the user has not defined traction figures and is presenting the product first.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Oferta fixa de 5 bilhões, emitida uma vez.
Metade vai para liquidez, para compra e saque sempre funcionarem.
20% voltam para a comunidade como cashback e indicações.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Estamos na Fase 1, na devnet, de propósito: provar o produto primeiro.
Em seguida: auditoria, mainnet e revogação da autoridade de emissão.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placeholders were replaced with product pillars because the user has not yet defined the team and wants to present the product before developing launch plans. Existing security and test statements are retained from the original user-provided deck, rather than independently verified in this environment.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Feche com a frase: "Pague como Pix. Seja dono como em cripto."
Convide os jurados a pagar um Blink de caixa na devnet.
Obrigado.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30F"/>
        </a:solidFill>
      </p:bgPr>
    </p:bg>
    <p:spTree>
      <p:nvGrpSpPr>
        <p:cNvPr id="1" name=""/>
        <p:cNvGrpSpPr/>
        <p:nvPr/>
      </p:nvGrpSpPr>
      <p:grpSpPr>
        <a:xfrm>
          <a:off x="0" y="0"/>
          <a:ext cx="0" cy="0"/>
          <a:chOff x="0" y="0"/>
          <a:chExt cx="0" cy="0"/>
        </a:xfrm>
      </p:grpSpPr>
      <p:pic>
        <p:nvPicPr>
          <p:cNvPr id="20" name="Image 0" descr="preencoded.png">    </p:cNvPr>
          <p:cNvPicPr>
            <a:picLocks noChangeAspect="1"/>
          </p:cNvPicPr>
          <p:nvPr/>
        </p:nvPicPr>
        <p:blipFill>
          <a:blip r:embed="rId1"/>
          <a:srcRect l="0" r="0" t="0" b="0"/>
          <a:stretch/>
        </p:blipFill>
        <p:spPr>
          <a:xfrm>
            <a:off x="5619750" y="571500"/>
            <a:ext cx="4095750" cy="4519613"/>
          </a:xfrm>
          <a:prstGeom prst="rect">
            <a:avLst/>
          </a:prstGeom>
        </p:spPr>
      </p:pic>
      <p:pic>
        <p:nvPicPr>
          <p:cNvPr id="21" name="Image 1" descr="preencoded.png">    </p:cNvPr>
          <p:cNvPicPr>
            <a:picLocks noChangeAspect="1"/>
          </p:cNvPicPr>
          <p:nvPr/>
        </p:nvPicPr>
        <p:blipFill>
          <a:blip r:embed="rId2"/>
          <a:srcRect l="0" r="0" t="0" b="0"/>
          <a:stretch/>
        </p:blipFill>
        <p:spPr>
          <a:xfrm>
            <a:off x="571500" y="457200"/>
            <a:ext cx="1514475" cy="381000"/>
          </a:xfrm>
          <a:prstGeom prst="rect">
            <a:avLst/>
          </a:prstGeom>
        </p:spPr>
      </p:pic>
      <p:sp>
        <p:nvSpPr>
          <p:cNvPr id="25" name="TextBox 24"/>
          <p:cNvSpPr txBox="1"/>
          <p:nvPr/>
        </p:nvSpPr>
        <p:spPr>
          <a:xfrm>
            <a:off x="571500" y="1571625"/>
            <a:ext cx="457200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SOLANA  ·  COLOSSEUM 2026  ·  SUPERTEAM BRASIL</a:t>
            </a:r>
          </a:p>
        </p:txBody>
      </p:sp>
      <p:sp>
        <p:nvSpPr>
          <p:cNvPr id="23" name="Text 18"/>
          <p:cNvSpPr/>
          <p:nvPr/>
        </p:nvSpPr>
        <p:spPr>
          <a:xfrm>
            <a:off x="571500" y="1866900"/>
            <a:ext cx="5048250" cy="2114550"/>
          </a:xfrm>
          <a:prstGeom prst="rect">
            <a:avLst/>
          </a:prstGeom>
          <a:noFill/>
          <a:ln/>
        </p:spPr>
        <p:txBody>
          <a:bodyPr wrap="square" lIns="0" tIns="0" rIns="0" bIns="0" rtlCol="0" anchor="t"/>
          <a:lstStyle/>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Crypto with</a:t>
            </a:r>
            <a:endParaRPr lang="en-US" sz="4133" dirty="0"/>
          </a:p>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a real purpose,</a:t>
            </a:r>
            <a:endParaRPr lang="en-US" sz="4133" dirty="0"/>
          </a:p>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in its owner’s</a:t>
            </a:r>
            <a:endParaRPr lang="en-US" sz="4133" dirty="0"/>
          </a:p>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hands.</a:t>
            </a:r>
            <a:endParaRPr lang="en-US" sz="4133" dirty="0"/>
          </a:p>
        </p:txBody>
      </p:sp>
      <p:sp>
        <p:nvSpPr>
          <p:cNvPr id="24" name="Text 19"/>
          <p:cNvSpPr/>
          <p:nvPr/>
        </p:nvSpPr>
        <p:spPr>
          <a:xfrm>
            <a:off x="571500" y="4333875"/>
            <a:ext cx="4762500" cy="195263"/>
          </a:xfrm>
          <a:prstGeom prst="rect">
            <a:avLst/>
          </a:prstGeom>
          <a:noFill/>
          <a:ln/>
        </p:spPr>
        <p:txBody>
          <a:bodyPr wrap="square" lIns="0" tIns="0" rIns="0" bIns="0" rtlCol="0" anchor="t"/>
          <a:lstStyle/>
          <a:p>
            <a:pPr algn="l" indent="0" marL="0">
              <a:lnSpc>
                <a:spcPts val="1466"/>
              </a:lnSpc>
              <a:buNone/>
            </a:pPr>
            <a:r>
              <a:rPr lang="en-US" sz="1211" dirty="0">
                <a:solidFill>
                  <a:srgbClr val="B2BDB2">
                    <a:alpha val="99000"/>
                  </a:srgbClr>
                </a:solidFill>
                <a:latin typeface="Inter" pitchFamily="34" charset="0"/>
                <a:ea typeface="Inter" pitchFamily="34" charset="-122"/>
                <a:cs typeface="Inter" pitchFamily="34" charset="-120"/>
              </a:rPr>
              <a:t>Buy with Pix. Pay with a tap. Keep the keys.</a:t>
            </a:r>
            <a:endParaRPr lang="en-US" sz="121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2"/>
        </a:solidFill>
      </p:bgPr>
    </p:bg>
    <p:spTree>
      <p:nvGrpSpPr>
        <p:cNvPr id="1" name=""/>
        <p:cNvGrpSpPr/>
        <p:nvPr/>
      </p:nvGrpSpPr>
      <p:grpSpPr>
        <a:xfrm>
          <a:off x="0" y="0"/>
          <a:ext cx="0" cy="0"/>
          <a:chOff x="0" y="0"/>
          <a:chExt cx="0" cy="0"/>
        </a:xfrm>
      </p:grpSpPr>
      <p:sp>
        <p:nvSpPr>
          <p:cNvPr id="23" name="TextBox 22"/>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01 — THE PROBLEM</a:t>
            </a:r>
          </a:p>
        </p:txBody>
      </p:sp>
      <p:sp>
        <p:nvSpPr>
          <p:cNvPr id="8" name="Text 5"/>
          <p:cNvSpPr/>
          <p:nvPr/>
        </p:nvSpPr>
        <p:spPr>
          <a:xfrm>
            <a:off x="571500" y="809625"/>
            <a:ext cx="6191250" cy="1285875"/>
          </a:xfrm>
          <a:prstGeom prst="rect">
            <a:avLst/>
          </a:prstGeom>
          <a:noFill/>
          <a:ln/>
        </p:spPr>
        <p:txBody>
          <a:bodyPr wrap="square" lIns="0" tIns="0" rIns="0" bIns="0" rtlCol="0" anchor="t"/>
          <a:lstStyle/>
          <a:p>
            <a:pPr algn="l" indent="0" marL="0">
              <a:lnSpc>
                <a:spcPts val="3212"/>
              </a:lnSpc>
              <a:buNone/>
            </a:pPr>
            <a:r>
              <a:rPr lang="en-US" sz="3278" b="1" spc="-98" kern="0" dirty="0">
                <a:solidFill>
                  <a:srgbClr val="0E130F">
                    <a:alpha val="99000"/>
                  </a:srgbClr>
                </a:solidFill>
                <a:latin typeface="Inter" pitchFamily="34" charset="0"/>
                <a:ea typeface="Inter" pitchFamily="34" charset="-122"/>
                <a:cs typeface="Inter" pitchFamily="34" charset="-120"/>
              </a:rPr>
              <a:t>Brazil pays instantly.</a:t>
            </a:r>
            <a:endParaRPr lang="en-US" sz="3278" dirty="0"/>
          </a:p>
          <a:p>
            <a:pPr algn="l" indent="0" marL="0">
              <a:lnSpc>
                <a:spcPts val="3212"/>
              </a:lnSpc>
              <a:buNone/>
            </a:pPr>
            <a:r>
              <a:rPr lang="en-US" sz="3278" b="1" spc="-98" kern="0" dirty="0">
                <a:solidFill>
                  <a:srgbClr val="0E130F">
                    <a:alpha val="99000"/>
                  </a:srgbClr>
                </a:solidFill>
                <a:latin typeface="Inter" pitchFamily="34" charset="0"/>
                <a:ea typeface="Inter" pitchFamily="34" charset="-122"/>
                <a:cs typeface="Inter" pitchFamily="34" charset="-120"/>
              </a:rPr>
              <a:t>It still doesn’t own</a:t>
            </a:r>
            <a:endParaRPr lang="en-US" sz="3278" dirty="0"/>
          </a:p>
          <a:p>
            <a:pPr algn="l" indent="0" marL="0">
              <a:lnSpc>
                <a:spcPts val="3212"/>
              </a:lnSpc>
              <a:buNone/>
            </a:pPr>
            <a:r>
              <a:rPr lang="en-US" sz="3278" b="1" spc="-98" kern="0" dirty="0">
                <a:solidFill>
                  <a:srgbClr val="0E130F">
                    <a:alpha val="99000"/>
                  </a:srgbClr>
                </a:solidFill>
                <a:latin typeface="Inter" pitchFamily="34" charset="0"/>
                <a:ea typeface="Inter" pitchFamily="34" charset="-122"/>
                <a:cs typeface="Inter" pitchFamily="34" charset="-120"/>
              </a:rPr>
              <a:t>its money.</a:t>
            </a:r>
            <a:endParaRPr lang="en-US" sz="3278" dirty="0"/>
          </a:p>
        </p:txBody>
      </p:sp>
      <p:sp>
        <p:nvSpPr>
          <p:cNvPr id="9" name="Shape 6"/>
          <p:cNvSpPr/>
          <p:nvPr/>
        </p:nvSpPr>
        <p:spPr>
          <a:xfrm>
            <a:off x="571500" y="3143250"/>
            <a:ext cx="2286000" cy="19050"/>
          </a:xfrm>
          <a:prstGeom prst="rect">
            <a:avLst/>
          </a:prstGeom>
          <a:solidFill>
            <a:srgbClr val="0E130F"/>
          </a:solidFill>
          <a:ln/>
        </p:spPr>
        <p:txBody>
          <a:bodyPr/>
          <a:p/>
        </p:txBody>
      </p:sp>
      <p:sp>
        <p:nvSpPr>
          <p:cNvPr id="24" name="TextBox 23"/>
          <p:cNvSpPr txBox="1"/>
          <p:nvPr/>
        </p:nvSpPr>
        <p:spPr>
          <a:xfrm>
            <a:off x="571500" y="3276600"/>
            <a:ext cx="178308" cy="185115"/>
          </a:xfrm>
          <a:prstGeom prst="rect">
            <a:avLst/>
          </a:prstGeom>
          <a:noFill/>
        </p:spPr>
        <p:txBody>
          <a:bodyPr wrap="none" lIns="0" tIns="0" rIns="0" bIns="0">
            <a:noAutofit/>
          </a:bodyPr>
          <a:lstStyle/>
          <a:p>
            <a:pPr>
              <a:lnSpc>
                <a:spcPts val="956"/>
              </a:lnSpc>
              <a:defRPr sz="784" b="1">
                <a:solidFill>
                  <a:srgbClr val="545C54"/>
                </a:solidFill>
                <a:latin typeface="JetBrains Mono"/>
              </a:defRPr>
            </a:pPr>
            <a:r>
              <a:t>01</a:t>
            </a:r>
          </a:p>
        </p:txBody>
      </p:sp>
      <p:sp>
        <p:nvSpPr>
          <p:cNvPr id="11" name="Text 8"/>
          <p:cNvSpPr/>
          <p:nvPr/>
        </p:nvSpPr>
        <p:spPr>
          <a:xfrm>
            <a:off x="571500" y="3467100"/>
            <a:ext cx="2286000" cy="190500"/>
          </a:xfrm>
          <a:prstGeom prst="rect">
            <a:avLst/>
          </a:prstGeom>
          <a:noFill/>
          <a:ln/>
        </p:spPr>
        <p:txBody>
          <a:bodyPr wrap="square" lIns="0" tIns="0" rIns="0" bIns="0" rtlCol="0" anchor="t"/>
          <a:lstStyle/>
          <a:p>
            <a:pPr algn="l" indent="0" marL="0">
              <a:lnSpc>
                <a:spcPts val="1436"/>
              </a:lnSpc>
              <a:buNone/>
            </a:pPr>
            <a:r>
              <a:rPr lang="en-US" sz="1283" b="1" spc="-13" kern="0" dirty="0">
                <a:solidFill>
                  <a:srgbClr val="0E130F">
                    <a:alpha val="99000"/>
                  </a:srgbClr>
                </a:solidFill>
                <a:latin typeface="Inter" pitchFamily="34" charset="0"/>
                <a:ea typeface="Inter" pitchFamily="34" charset="-122"/>
                <a:cs typeface="Inter" pitchFamily="34" charset="-120"/>
              </a:rPr>
              <a:t>Middlemen in every sale</a:t>
            </a:r>
            <a:endParaRPr lang="en-US" sz="1283" dirty="0"/>
          </a:p>
        </p:txBody>
      </p:sp>
      <p:sp>
        <p:nvSpPr>
          <p:cNvPr id="12" name="Text 9"/>
          <p:cNvSpPr/>
          <p:nvPr/>
        </p:nvSpPr>
        <p:spPr>
          <a:xfrm>
            <a:off x="571500" y="3905250"/>
            <a:ext cx="2190750" cy="514350"/>
          </a:xfrm>
          <a:prstGeom prst="rect">
            <a:avLst/>
          </a:prstGeom>
          <a:noFill/>
          <a:ln/>
        </p:spPr>
        <p:txBody>
          <a:bodyPr wrap="square" lIns="0" tIns="0" rIns="0" bIns="0" rtlCol="0" anchor="t"/>
          <a:lstStyle/>
          <a:p>
            <a:pPr algn="l" indent="0" marL="0">
              <a:lnSpc>
                <a:spcPts val="1297"/>
              </a:lnSpc>
              <a:buNone/>
            </a:pPr>
            <a:r>
              <a:rPr lang="en-US" sz="926" dirty="0">
                <a:solidFill>
                  <a:srgbClr val="545C54">
                    <a:alpha val="99000"/>
                  </a:srgbClr>
                </a:solidFill>
                <a:latin typeface="Inter" pitchFamily="34" charset="0"/>
                <a:ea typeface="Inter" pitchFamily="34" charset="-122"/>
                <a:cs typeface="Inter" pitchFamily="34" charset="-120"/>
              </a:rPr>
              <a:t>Card machines take a cut of each payment and hold the merchant’s money for days.</a:t>
            </a:r>
            <a:endParaRPr lang="en-US" sz="926" dirty="0"/>
          </a:p>
        </p:txBody>
      </p:sp>
      <p:sp>
        <p:nvSpPr>
          <p:cNvPr id="13" name="Shape 10"/>
          <p:cNvSpPr/>
          <p:nvPr/>
        </p:nvSpPr>
        <p:spPr>
          <a:xfrm>
            <a:off x="3238500" y="3143250"/>
            <a:ext cx="2286000" cy="19050"/>
          </a:xfrm>
          <a:prstGeom prst="rect">
            <a:avLst/>
          </a:prstGeom>
          <a:solidFill>
            <a:srgbClr val="0E130F"/>
          </a:solidFill>
          <a:ln/>
        </p:spPr>
        <p:txBody>
          <a:bodyPr/>
          <a:p/>
        </p:txBody>
      </p:sp>
      <p:sp>
        <p:nvSpPr>
          <p:cNvPr id="25" name="TextBox 24"/>
          <p:cNvSpPr txBox="1"/>
          <p:nvPr/>
        </p:nvSpPr>
        <p:spPr>
          <a:xfrm>
            <a:off x="3238500" y="3276600"/>
            <a:ext cx="178308" cy="185115"/>
          </a:xfrm>
          <a:prstGeom prst="rect">
            <a:avLst/>
          </a:prstGeom>
          <a:noFill/>
        </p:spPr>
        <p:txBody>
          <a:bodyPr wrap="none" lIns="0" tIns="0" rIns="0" bIns="0">
            <a:noAutofit/>
          </a:bodyPr>
          <a:lstStyle/>
          <a:p>
            <a:pPr>
              <a:lnSpc>
                <a:spcPts val="956"/>
              </a:lnSpc>
              <a:defRPr sz="784" b="1">
                <a:solidFill>
                  <a:srgbClr val="545C54"/>
                </a:solidFill>
                <a:latin typeface="JetBrains Mono"/>
              </a:defRPr>
            </a:pPr>
            <a:r>
              <a:t>02</a:t>
            </a:r>
          </a:p>
        </p:txBody>
      </p:sp>
      <p:sp>
        <p:nvSpPr>
          <p:cNvPr id="15" name="Text 12"/>
          <p:cNvSpPr/>
          <p:nvPr/>
        </p:nvSpPr>
        <p:spPr>
          <a:xfrm>
            <a:off x="3238500" y="3467100"/>
            <a:ext cx="2286000" cy="190500"/>
          </a:xfrm>
          <a:prstGeom prst="rect">
            <a:avLst/>
          </a:prstGeom>
          <a:noFill/>
          <a:ln/>
        </p:spPr>
        <p:txBody>
          <a:bodyPr wrap="square" lIns="0" tIns="0" rIns="0" bIns="0" rtlCol="0" anchor="t"/>
          <a:lstStyle/>
          <a:p>
            <a:pPr algn="l" indent="0" marL="0">
              <a:lnSpc>
                <a:spcPts val="1436"/>
              </a:lnSpc>
              <a:buNone/>
            </a:pPr>
            <a:r>
              <a:rPr lang="en-US" sz="1283" b="1" spc="-13" kern="0" dirty="0">
                <a:solidFill>
                  <a:srgbClr val="0E130F">
                    <a:alpha val="99000"/>
                  </a:srgbClr>
                </a:solidFill>
                <a:latin typeface="Inter" pitchFamily="34" charset="0"/>
                <a:ea typeface="Inter" pitchFamily="34" charset="-122"/>
                <a:cs typeface="Inter" pitchFamily="34" charset="-120"/>
              </a:rPr>
              <a:t>Crypto with no real use</a:t>
            </a:r>
            <a:endParaRPr lang="en-US" sz="1283" dirty="0"/>
          </a:p>
        </p:txBody>
      </p:sp>
      <p:sp>
        <p:nvSpPr>
          <p:cNvPr id="16" name="Text 13"/>
          <p:cNvSpPr/>
          <p:nvPr/>
        </p:nvSpPr>
        <p:spPr>
          <a:xfrm>
            <a:off x="3238500" y="3905250"/>
            <a:ext cx="2190750" cy="342900"/>
          </a:xfrm>
          <a:prstGeom prst="rect">
            <a:avLst/>
          </a:prstGeom>
          <a:noFill/>
          <a:ln/>
        </p:spPr>
        <p:txBody>
          <a:bodyPr wrap="square" lIns="0" tIns="0" rIns="0" bIns="0" rtlCol="0" anchor="t"/>
          <a:lstStyle/>
          <a:p>
            <a:pPr algn="l" indent="0" marL="0">
              <a:lnSpc>
                <a:spcPts val="1297"/>
              </a:lnSpc>
              <a:buNone/>
            </a:pPr>
            <a:r>
              <a:rPr lang="en-US" sz="926" dirty="0">
                <a:solidFill>
                  <a:srgbClr val="545C54">
                    <a:alpha val="99000"/>
                  </a:srgbClr>
                </a:solidFill>
                <a:latin typeface="Inter" pitchFamily="34" charset="0"/>
                <a:ea typeface="Inter" pitchFamily="34" charset="-122"/>
                <a:cs typeface="Inter" pitchFamily="34" charset="-120"/>
              </a:rPr>
              <a:t>Most tokens sit idle on exchanges. You can’t buy a coffee with them.</a:t>
            </a:r>
            <a:endParaRPr lang="en-US" sz="926" dirty="0"/>
          </a:p>
        </p:txBody>
      </p:sp>
      <p:sp>
        <p:nvSpPr>
          <p:cNvPr id="17" name="Shape 14"/>
          <p:cNvSpPr/>
          <p:nvPr/>
        </p:nvSpPr>
        <p:spPr>
          <a:xfrm>
            <a:off x="5905500" y="3143250"/>
            <a:ext cx="2286000" cy="19050"/>
          </a:xfrm>
          <a:prstGeom prst="rect">
            <a:avLst/>
          </a:prstGeom>
          <a:solidFill>
            <a:srgbClr val="0E130F"/>
          </a:solidFill>
          <a:ln/>
        </p:spPr>
        <p:txBody>
          <a:bodyPr/>
          <a:p/>
        </p:txBody>
      </p:sp>
      <p:sp>
        <p:nvSpPr>
          <p:cNvPr id="26" name="TextBox 25"/>
          <p:cNvSpPr txBox="1"/>
          <p:nvPr/>
        </p:nvSpPr>
        <p:spPr>
          <a:xfrm>
            <a:off x="5905500" y="3276600"/>
            <a:ext cx="178308" cy="185115"/>
          </a:xfrm>
          <a:prstGeom prst="rect">
            <a:avLst/>
          </a:prstGeom>
          <a:noFill/>
        </p:spPr>
        <p:txBody>
          <a:bodyPr wrap="none" lIns="0" tIns="0" rIns="0" bIns="0">
            <a:noAutofit/>
          </a:bodyPr>
          <a:lstStyle/>
          <a:p>
            <a:pPr>
              <a:lnSpc>
                <a:spcPts val="956"/>
              </a:lnSpc>
              <a:defRPr sz="784" b="1">
                <a:solidFill>
                  <a:srgbClr val="545C54"/>
                </a:solidFill>
                <a:latin typeface="JetBrains Mono"/>
              </a:defRPr>
            </a:pPr>
            <a:r>
              <a:t>03</a:t>
            </a:r>
          </a:p>
        </p:txBody>
      </p:sp>
      <p:sp>
        <p:nvSpPr>
          <p:cNvPr id="19" name="Text 16"/>
          <p:cNvSpPr/>
          <p:nvPr/>
        </p:nvSpPr>
        <p:spPr>
          <a:xfrm>
            <a:off x="5905500" y="3467100"/>
            <a:ext cx="2286000" cy="190500"/>
          </a:xfrm>
          <a:prstGeom prst="rect">
            <a:avLst/>
          </a:prstGeom>
          <a:noFill/>
          <a:ln/>
        </p:spPr>
        <p:txBody>
          <a:bodyPr wrap="square" lIns="0" tIns="0" rIns="0" bIns="0" rtlCol="0" anchor="t"/>
          <a:lstStyle/>
          <a:p>
            <a:pPr algn="l" indent="0" marL="0">
              <a:lnSpc>
                <a:spcPts val="1436"/>
              </a:lnSpc>
              <a:buNone/>
            </a:pPr>
            <a:r>
              <a:rPr lang="en-US" sz="1283" b="1" spc="-13" kern="0" dirty="0">
                <a:solidFill>
                  <a:srgbClr val="0E130F">
                    <a:alpha val="99000"/>
                  </a:srgbClr>
                </a:solidFill>
                <a:latin typeface="Inter" pitchFamily="34" charset="0"/>
                <a:ea typeface="Inter" pitchFamily="34" charset="-122"/>
                <a:cs typeface="Inter" pitchFamily="34" charset="-120"/>
              </a:rPr>
              <a:t>Keys held by someone else</a:t>
            </a:r>
            <a:endParaRPr lang="en-US" sz="1283" dirty="0"/>
          </a:p>
        </p:txBody>
      </p:sp>
      <p:sp>
        <p:nvSpPr>
          <p:cNvPr id="20" name="Text 17"/>
          <p:cNvSpPr/>
          <p:nvPr/>
        </p:nvSpPr>
        <p:spPr>
          <a:xfrm>
            <a:off x="5905500" y="3905250"/>
            <a:ext cx="2190750" cy="514350"/>
          </a:xfrm>
          <a:prstGeom prst="rect">
            <a:avLst/>
          </a:prstGeom>
          <a:noFill/>
          <a:ln/>
        </p:spPr>
        <p:txBody>
          <a:bodyPr wrap="square" lIns="0" tIns="0" rIns="0" bIns="0" rtlCol="0" anchor="t"/>
          <a:lstStyle/>
          <a:p>
            <a:pPr algn="l" indent="0" marL="0">
              <a:lnSpc>
                <a:spcPts val="1297"/>
              </a:lnSpc>
              <a:buNone/>
            </a:pPr>
            <a:r>
              <a:rPr lang="en-US" sz="926" dirty="0">
                <a:solidFill>
                  <a:srgbClr val="545C54">
                    <a:alpha val="99000"/>
                  </a:srgbClr>
                </a:solidFill>
                <a:latin typeface="Inter" pitchFamily="34" charset="0"/>
                <a:ea typeface="Inter" pitchFamily="34" charset="-122"/>
                <a:cs typeface="Inter" pitchFamily="34" charset="-120"/>
              </a:rPr>
              <a:t>Buying crypto usually means leaving your keys, and your money, with an exchange.</a:t>
            </a:r>
            <a:endParaRPr lang="en-US" sz="926" dirty="0"/>
          </a:p>
        </p:txBody>
      </p:sp>
      <p:sp>
        <p:nvSpPr>
          <p:cNvPr id="27" name="TextBox 26"/>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28" name="TextBox 27"/>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BDF06B"/>
        </a:solidFill>
      </p:bgPr>
    </p:bg>
    <p:spTree>
      <p:nvGrpSpPr>
        <p:cNvPr id="1" name=""/>
        <p:cNvGrpSpPr/>
        <p:nvPr/>
      </p:nvGrpSpPr>
      <p:grpSpPr>
        <a:xfrm>
          <a:off x="0" y="0"/>
          <a:ext cx="0" cy="0"/>
          <a:chOff x="0" y="0"/>
          <a:chExt cx="0" cy="0"/>
        </a:xfrm>
      </p:grpSpPr>
      <p:pic>
        <p:nvPicPr>
          <p:cNvPr id="25" name="Image 0" descr="preencoded.png">    </p:cNvPr>
          <p:cNvPicPr>
            <a:picLocks noChangeAspect="1"/>
          </p:cNvPicPr>
          <p:nvPr/>
        </p:nvPicPr>
        <p:blipFill>
          <a:blip r:embed="rId1"/>
          <a:srcRect l="0" r="11429" t="0" b="20984"/>
          <a:stretch/>
        </p:blipFill>
        <p:spPr>
          <a:xfrm>
            <a:off x="6191250" y="2238375"/>
            <a:ext cx="2952750" cy="2905125"/>
          </a:xfrm>
          <a:prstGeom prst="rect">
            <a:avLst/>
          </a:prstGeom>
        </p:spPr>
      </p:pic>
      <p:sp>
        <p:nvSpPr>
          <p:cNvPr id="29" name="TextBox 28"/>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0E130F"/>
                </a:solidFill>
                <a:latin typeface="JetBrains Mono"/>
              </a:defRPr>
            </a:pPr>
            <a:r>
              <a:t>02 — OUR PURPOSE</a:t>
            </a:r>
          </a:p>
        </p:txBody>
      </p:sp>
      <p:sp>
        <p:nvSpPr>
          <p:cNvPr id="27" name="Text 23"/>
          <p:cNvSpPr/>
          <p:nvPr/>
        </p:nvSpPr>
        <p:spPr>
          <a:xfrm>
            <a:off x="571500" y="904875"/>
            <a:ext cx="6191250" cy="1866900"/>
          </a:xfrm>
          <a:prstGeom prst="rect">
            <a:avLst/>
          </a:prstGeom>
          <a:noFill/>
          <a:ln/>
        </p:spPr>
        <p:txBody>
          <a:bodyPr wrap="square" lIns="0" tIns="0" rIns="0" bIns="0" rtlCol="0" anchor="t"/>
          <a:lstStyle/>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Make crypto simple,</a:t>
            </a:r>
            <a:endParaRPr lang="en-US" sz="3563" dirty="0"/>
          </a:p>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useful for everything,</a:t>
            </a:r>
            <a:endParaRPr lang="en-US" sz="3563" dirty="0"/>
          </a:p>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and truly owned by</a:t>
            </a:r>
            <a:endParaRPr lang="en-US" sz="3563" dirty="0"/>
          </a:p>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the people who hold it.</a:t>
            </a:r>
            <a:endParaRPr lang="en-US" sz="3563" dirty="0"/>
          </a:p>
        </p:txBody>
      </p:sp>
      <p:sp>
        <p:nvSpPr>
          <p:cNvPr id="28" name="Text 24"/>
          <p:cNvSpPr/>
          <p:nvPr/>
        </p:nvSpPr>
        <p:spPr>
          <a:xfrm>
            <a:off x="571500" y="4095750"/>
            <a:ext cx="5238750" cy="209550"/>
          </a:xfrm>
          <a:prstGeom prst="rect">
            <a:avLst/>
          </a:prstGeom>
          <a:noFill/>
          <a:ln/>
        </p:spPr>
        <p:txBody>
          <a:bodyPr wrap="square" lIns="0" tIns="0" rIns="0" bIns="0" rtlCol="0" anchor="t"/>
          <a:lstStyle/>
          <a:p>
            <a:pPr algn="l" indent="0" marL="0">
              <a:lnSpc>
                <a:spcPts val="1552"/>
              </a:lnSpc>
              <a:buNone/>
            </a:pPr>
            <a:r>
              <a:rPr lang="en-US" sz="1283" b="1" dirty="0">
                <a:solidFill>
                  <a:srgbClr val="0E130F">
                    <a:alpha val="99000"/>
                  </a:srgbClr>
                </a:solidFill>
                <a:latin typeface="Inter" pitchFamily="34" charset="0"/>
                <a:ea typeface="Inter" pitchFamily="34" charset="-122"/>
                <a:cs typeface="Inter" pitchFamily="34" charset="-120"/>
              </a:rPr>
              <a:t>No bank. No middleman. Just you and your wallet.</a:t>
            </a:r>
            <a:endParaRPr lang="en-US" sz="128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30F"/>
        </a:solidFill>
      </p:bgPr>
    </p:bg>
    <p:spTree>
      <p:nvGrpSpPr>
        <p:cNvPr id="1" name=""/>
        <p:cNvGrpSpPr/>
        <p:nvPr/>
      </p:nvGrpSpPr>
      <p:grpSpPr>
        <a:xfrm>
          <a:off x="0" y="0"/>
          <a:ext cx="0" cy="0"/>
          <a:chOff x="0" y="0"/>
          <a:chExt cx="0" cy="0"/>
        </a:xfrm>
      </p:grpSpPr>
      <p:sp>
        <p:nvSpPr>
          <p:cNvPr id="46" name="TextBox 45"/>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03 — HOW IT WORKS</a:t>
            </a:r>
          </a:p>
        </p:txBody>
      </p:sp>
      <p:sp>
        <p:nvSpPr>
          <p:cNvPr id="25" name="Text 22"/>
          <p:cNvSpPr/>
          <p:nvPr/>
        </p:nvSpPr>
        <p:spPr>
          <a:xfrm>
            <a:off x="571500" y="809625"/>
            <a:ext cx="61912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From Pix to the counter</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in four steps.</a:t>
            </a:r>
            <a:endParaRPr lang="en-US" sz="2708" dirty="0"/>
          </a:p>
        </p:txBody>
      </p:sp>
      <p:sp>
        <p:nvSpPr>
          <p:cNvPr id="26" name="Shape 23"/>
          <p:cNvSpPr/>
          <p:nvPr/>
        </p:nvSpPr>
        <p:spPr>
          <a:xfrm>
            <a:off x="762000" y="2686050"/>
            <a:ext cx="7429500" cy="19050"/>
          </a:xfrm>
          <a:prstGeom prst="rect">
            <a:avLst/>
          </a:prstGeom>
          <a:solidFill>
            <a:srgbClr val="333D33"/>
          </a:solidFill>
          <a:ln/>
        </p:spPr>
        <p:txBody>
          <a:bodyPr/>
          <a:p/>
        </p:txBody>
      </p:sp>
      <p:sp>
        <p:nvSpPr>
          <p:cNvPr id="27" name="Shape 24"/>
          <p:cNvSpPr/>
          <p:nvPr/>
        </p:nvSpPr>
        <p:spPr>
          <a:xfrm>
            <a:off x="762000" y="2686050"/>
            <a:ext cx="5572125" cy="19050"/>
          </a:xfrm>
          <a:prstGeom prst="rect">
            <a:avLst/>
          </a:prstGeom>
          <a:solidFill>
            <a:srgbClr val="BDF06B"/>
          </a:solidFill>
          <a:ln/>
        </p:spPr>
        <p:txBody>
          <a:bodyPr/>
          <a:p/>
        </p:txBody>
      </p:sp>
      <p:sp>
        <p:nvSpPr>
          <p:cNvPr id="28" name="Shape 25"/>
          <p:cNvSpPr/>
          <p:nvPr/>
        </p:nvSpPr>
        <p:spPr>
          <a:xfrm>
            <a:off x="571500" y="2505075"/>
            <a:ext cx="381000" cy="381000"/>
          </a:xfrm>
          <a:prstGeom prst="ellipse">
            <a:avLst/>
          </a:prstGeom>
          <a:solidFill>
            <a:srgbClr val="0E130F"/>
          </a:solidFill>
          <a:ln w="13573">
            <a:solidFill>
              <a:srgbClr val="BDF06B"/>
            </a:solidFill>
            <a:prstDash val="solid"/>
          </a:ln>
        </p:spPr>
        <p:txBody>
          <a:bodyPr/>
          <a:p/>
        </p:txBody>
      </p:sp>
      <p:sp>
        <p:nvSpPr>
          <p:cNvPr id="47" name="TextBox 46"/>
          <p:cNvSpPr txBox="1"/>
          <p:nvPr/>
        </p:nvSpPr>
        <p:spPr>
          <a:xfrm>
            <a:off x="719138" y="2614613"/>
            <a:ext cx="138273" cy="223164"/>
          </a:xfrm>
          <a:prstGeom prst="rect">
            <a:avLst/>
          </a:prstGeom>
          <a:noFill/>
        </p:spPr>
        <p:txBody>
          <a:bodyPr wrap="none" lIns="0" tIns="0" rIns="0" bIns="0">
            <a:noAutofit/>
          </a:bodyPr>
          <a:lstStyle/>
          <a:p>
            <a:pPr>
              <a:lnSpc>
                <a:spcPts val="1217"/>
              </a:lnSpc>
              <a:defRPr sz="998" b="1">
                <a:solidFill>
                  <a:srgbClr val="BDF06B"/>
                </a:solidFill>
                <a:latin typeface="JetBrains Mono"/>
              </a:defRPr>
            </a:pPr>
            <a:r>
              <a:t>1</a:t>
            </a:r>
          </a:p>
        </p:txBody>
      </p:sp>
      <p:sp>
        <p:nvSpPr>
          <p:cNvPr id="30" name="Text 27"/>
          <p:cNvSpPr/>
          <p:nvPr/>
        </p:nvSpPr>
        <p:spPr>
          <a:xfrm>
            <a:off x="571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Buy with Pix</a:t>
            </a:r>
            <a:endParaRPr lang="en-US" sz="1354" dirty="0"/>
          </a:p>
        </p:txBody>
      </p:sp>
      <p:sp>
        <p:nvSpPr>
          <p:cNvPr id="31" name="Text 28"/>
          <p:cNvSpPr/>
          <p:nvPr/>
        </p:nvSpPr>
        <p:spPr>
          <a:xfrm>
            <a:off x="571500" y="3390900"/>
            <a:ext cx="1571625" cy="51435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Pay a Pix and receive SIMPAY in your own Solana wallet in seconds.</a:t>
            </a:r>
            <a:endParaRPr lang="en-US" sz="926" dirty="0"/>
          </a:p>
        </p:txBody>
      </p:sp>
      <p:sp>
        <p:nvSpPr>
          <p:cNvPr id="32" name="Shape 29"/>
          <p:cNvSpPr/>
          <p:nvPr/>
        </p:nvSpPr>
        <p:spPr>
          <a:xfrm>
            <a:off x="2476500" y="2505075"/>
            <a:ext cx="381000" cy="381000"/>
          </a:xfrm>
          <a:prstGeom prst="ellipse">
            <a:avLst/>
          </a:prstGeom>
          <a:solidFill>
            <a:srgbClr val="0E130F"/>
          </a:solidFill>
          <a:ln w="13573">
            <a:solidFill>
              <a:srgbClr val="BDF06B"/>
            </a:solidFill>
            <a:prstDash val="solid"/>
          </a:ln>
        </p:spPr>
        <p:txBody>
          <a:bodyPr/>
          <a:p/>
        </p:txBody>
      </p:sp>
      <p:sp>
        <p:nvSpPr>
          <p:cNvPr id="48" name="TextBox 47"/>
          <p:cNvSpPr txBox="1"/>
          <p:nvPr/>
        </p:nvSpPr>
        <p:spPr>
          <a:xfrm>
            <a:off x="2624138" y="2614613"/>
            <a:ext cx="138273" cy="223164"/>
          </a:xfrm>
          <a:prstGeom prst="rect">
            <a:avLst/>
          </a:prstGeom>
          <a:noFill/>
        </p:spPr>
        <p:txBody>
          <a:bodyPr wrap="none" lIns="0" tIns="0" rIns="0" bIns="0">
            <a:noAutofit/>
          </a:bodyPr>
          <a:lstStyle/>
          <a:p>
            <a:pPr>
              <a:lnSpc>
                <a:spcPts val="1217"/>
              </a:lnSpc>
              <a:defRPr sz="998" b="1">
                <a:solidFill>
                  <a:srgbClr val="BDF06B"/>
                </a:solidFill>
                <a:latin typeface="JetBrains Mono"/>
              </a:defRPr>
            </a:pPr>
            <a:r>
              <a:t>2</a:t>
            </a:r>
          </a:p>
        </p:txBody>
      </p:sp>
      <p:sp>
        <p:nvSpPr>
          <p:cNvPr id="34" name="Text 31"/>
          <p:cNvSpPr/>
          <p:nvPr/>
        </p:nvSpPr>
        <p:spPr>
          <a:xfrm>
            <a:off x="2476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Own it</a:t>
            </a:r>
            <a:endParaRPr lang="en-US" sz="1354" dirty="0"/>
          </a:p>
        </p:txBody>
      </p:sp>
      <p:sp>
        <p:nvSpPr>
          <p:cNvPr id="35" name="Text 32"/>
          <p:cNvSpPr/>
          <p:nvPr/>
        </p:nvSpPr>
        <p:spPr>
          <a:xfrm>
            <a:off x="2476500" y="3390900"/>
            <a:ext cx="1571625" cy="59436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Non-custodial wallet. Your keys, with six-digit PIN recovery.</a:t>
            </a:r>
            <a:endParaRPr lang="en-US" sz="926" dirty="0"/>
          </a:p>
        </p:txBody>
      </p:sp>
      <p:sp>
        <p:nvSpPr>
          <p:cNvPr id="36" name="Shape 33"/>
          <p:cNvSpPr/>
          <p:nvPr/>
        </p:nvSpPr>
        <p:spPr>
          <a:xfrm>
            <a:off x="4381500" y="2505075"/>
            <a:ext cx="381000" cy="381000"/>
          </a:xfrm>
          <a:prstGeom prst="ellipse">
            <a:avLst/>
          </a:prstGeom>
          <a:solidFill>
            <a:srgbClr val="0E130F"/>
          </a:solidFill>
          <a:ln w="13573">
            <a:solidFill>
              <a:srgbClr val="BDF06B"/>
            </a:solidFill>
            <a:prstDash val="solid"/>
          </a:ln>
        </p:spPr>
        <p:txBody>
          <a:bodyPr/>
          <a:p/>
        </p:txBody>
      </p:sp>
      <p:sp>
        <p:nvSpPr>
          <p:cNvPr id="49" name="TextBox 48"/>
          <p:cNvSpPr txBox="1"/>
          <p:nvPr/>
        </p:nvSpPr>
        <p:spPr>
          <a:xfrm>
            <a:off x="4529138" y="2614613"/>
            <a:ext cx="138273" cy="223164"/>
          </a:xfrm>
          <a:prstGeom prst="rect">
            <a:avLst/>
          </a:prstGeom>
          <a:noFill/>
        </p:spPr>
        <p:txBody>
          <a:bodyPr wrap="none" lIns="0" tIns="0" rIns="0" bIns="0">
            <a:noAutofit/>
          </a:bodyPr>
          <a:lstStyle/>
          <a:p>
            <a:pPr>
              <a:lnSpc>
                <a:spcPts val="1217"/>
              </a:lnSpc>
              <a:defRPr sz="998" b="1">
                <a:solidFill>
                  <a:srgbClr val="BDF06B"/>
                </a:solidFill>
                <a:latin typeface="JetBrains Mono"/>
              </a:defRPr>
            </a:pPr>
            <a:r>
              <a:t>3</a:t>
            </a:r>
          </a:p>
        </p:txBody>
      </p:sp>
      <p:sp>
        <p:nvSpPr>
          <p:cNvPr id="38" name="Text 35"/>
          <p:cNvSpPr/>
          <p:nvPr/>
        </p:nvSpPr>
        <p:spPr>
          <a:xfrm>
            <a:off x="4381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Tap to pay</a:t>
            </a:r>
            <a:endParaRPr lang="en-US" sz="1354" dirty="0"/>
          </a:p>
        </p:txBody>
      </p:sp>
      <p:sp>
        <p:nvSpPr>
          <p:cNvPr id="39" name="Text 36"/>
          <p:cNvSpPr/>
          <p:nvPr/>
        </p:nvSpPr>
        <p:spPr>
          <a:xfrm>
            <a:off x="4381500" y="3390900"/>
            <a:ext cx="1571625" cy="51435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Scan the QR, tap the NFC tag at the till, or pay a Blink from Phantom.</a:t>
            </a:r>
            <a:endParaRPr lang="en-US" sz="926" dirty="0"/>
          </a:p>
        </p:txBody>
      </p:sp>
      <p:sp>
        <p:nvSpPr>
          <p:cNvPr id="40" name="Shape 37"/>
          <p:cNvSpPr/>
          <p:nvPr/>
        </p:nvSpPr>
        <p:spPr>
          <a:xfrm>
            <a:off x="6286500" y="2505075"/>
            <a:ext cx="381000" cy="381000"/>
          </a:xfrm>
          <a:prstGeom prst="ellipse">
            <a:avLst/>
          </a:prstGeom>
          <a:solidFill>
            <a:srgbClr val="BDF06B"/>
          </a:solidFill>
          <a:ln w="13573">
            <a:solidFill>
              <a:srgbClr val="BDF06B"/>
            </a:solidFill>
            <a:prstDash val="solid"/>
          </a:ln>
        </p:spPr>
        <p:txBody>
          <a:bodyPr/>
          <a:p/>
        </p:txBody>
      </p:sp>
      <p:sp>
        <p:nvSpPr>
          <p:cNvPr id="50" name="TextBox 49"/>
          <p:cNvSpPr txBox="1"/>
          <p:nvPr/>
        </p:nvSpPr>
        <p:spPr>
          <a:xfrm>
            <a:off x="6434138" y="2614613"/>
            <a:ext cx="138273" cy="223164"/>
          </a:xfrm>
          <a:prstGeom prst="rect">
            <a:avLst/>
          </a:prstGeom>
          <a:noFill/>
        </p:spPr>
        <p:txBody>
          <a:bodyPr wrap="none" lIns="0" tIns="0" rIns="0" bIns="0">
            <a:noAutofit/>
          </a:bodyPr>
          <a:lstStyle/>
          <a:p>
            <a:pPr>
              <a:lnSpc>
                <a:spcPts val="1217"/>
              </a:lnSpc>
              <a:defRPr sz="998" b="1">
                <a:solidFill>
                  <a:srgbClr val="0E130F"/>
                </a:solidFill>
                <a:latin typeface="JetBrains Mono"/>
              </a:defRPr>
            </a:pPr>
            <a:r>
              <a:t>4</a:t>
            </a:r>
          </a:p>
        </p:txBody>
      </p:sp>
      <p:sp>
        <p:nvSpPr>
          <p:cNvPr id="42" name="Text 39"/>
          <p:cNvSpPr/>
          <p:nvPr/>
        </p:nvSpPr>
        <p:spPr>
          <a:xfrm>
            <a:off x="6286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Merchant settles</a:t>
            </a:r>
            <a:endParaRPr lang="en-US" sz="1354" dirty="0"/>
          </a:p>
        </p:txBody>
      </p:sp>
      <p:sp>
        <p:nvSpPr>
          <p:cNvPr id="43" name="Text 40"/>
          <p:cNvSpPr/>
          <p:nvPr/>
        </p:nvSpPr>
        <p:spPr>
          <a:xfrm>
            <a:off x="6286500" y="3390900"/>
            <a:ext cx="1571625" cy="51435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Confirmed in about a second. 0% to receive. Cash out to Pix anytime.</a:t>
            </a:r>
            <a:endParaRPr lang="en-US" sz="926" dirty="0"/>
          </a:p>
        </p:txBody>
      </p:sp>
      <p:sp>
        <p:nvSpPr>
          <p:cNvPr id="51" name="TextBox 50"/>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52" name="TextBox 51"/>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p:bgPr>
    </p:bg>
    <p:spTree>
      <p:nvGrpSpPr>
        <p:cNvPr id="1" name=""/>
        <p:cNvGrpSpPr/>
        <p:nvPr/>
      </p:nvGrpSpPr>
      <p:grpSpPr>
        <a:xfrm>
          <a:off x="0" y="0"/>
          <a:ext cx="0" cy="0"/>
          <a:chOff x="0" y="0"/>
          <a:chExt cx="0" cy="0"/>
        </a:xfrm>
      </p:grpSpPr>
      <p:sp>
        <p:nvSpPr>
          <p:cNvPr id="43" name="TextBox 42"/>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04 — THE PRODUCT</a:t>
            </a:r>
          </a:p>
        </p:txBody>
      </p:sp>
      <p:sp>
        <p:nvSpPr>
          <p:cNvPr id="23" name="Text 20"/>
          <p:cNvSpPr/>
          <p:nvPr/>
        </p:nvSpPr>
        <p:spPr>
          <a:xfrm>
            <a:off x="571500" y="809625"/>
            <a:ext cx="3048000" cy="1171575"/>
          </a:xfrm>
          <a:prstGeom prst="rect">
            <a:avLst/>
          </a:prstGeom>
          <a:noFill/>
          <a:ln/>
        </p:spPr>
        <p:txBody>
          <a:bodyPr wrap="square" lIns="0" tIns="0" rIns="0" bIns="0" rtlCol="0" anchor="t"/>
          <a:lstStyle/>
          <a:p>
            <a:pPr algn="l" indent="0" marL="0">
              <a:lnSpc>
                <a:spcPts val="2933"/>
              </a:lnSpc>
              <a:buNone/>
            </a:pPr>
            <a:r>
              <a:rPr lang="en-US" sz="2992" b="1" spc="-90" kern="0" dirty="0">
                <a:solidFill>
                  <a:srgbClr val="0E130F">
                    <a:alpha val="99000"/>
                  </a:srgbClr>
                </a:solidFill>
                <a:latin typeface="Inter" pitchFamily="34" charset="0"/>
                <a:ea typeface="Inter" pitchFamily="34" charset="-122"/>
                <a:cs typeface="Inter" pitchFamily="34" charset="-120"/>
              </a:rPr>
              <a:t>One network.</a:t>
            </a:r>
            <a:endParaRPr lang="en-US" sz="2992" dirty="0"/>
          </a:p>
          <a:p>
            <a:pPr algn="l" indent="0" marL="0">
              <a:lnSpc>
                <a:spcPts val="2933"/>
              </a:lnSpc>
              <a:buNone/>
            </a:pPr>
            <a:r>
              <a:rPr lang="en-US" sz="2992" b="1" spc="-90" kern="0" dirty="0">
                <a:solidFill>
                  <a:srgbClr val="0E130F">
                    <a:alpha val="99000"/>
                  </a:srgbClr>
                </a:solidFill>
                <a:latin typeface="Inter" pitchFamily="34" charset="0"/>
                <a:ea typeface="Inter" pitchFamily="34" charset="-122"/>
                <a:cs typeface="Inter" pitchFamily="34" charset="-120"/>
              </a:rPr>
              <a:t>Four products.</a:t>
            </a:r>
            <a:endParaRPr lang="en-US" sz="2992" dirty="0"/>
          </a:p>
          <a:p>
            <a:pPr algn="l" indent="0" marL="0">
              <a:lnSpc>
                <a:spcPts val="2933"/>
              </a:lnSpc>
              <a:buNone/>
            </a:pPr>
            <a:r>
              <a:rPr lang="en-US" sz="2992" b="1" spc="-90" kern="0" dirty="0">
                <a:solidFill>
                  <a:srgbClr val="0E130F">
                    <a:alpha val="99000"/>
                  </a:srgbClr>
                </a:solidFill>
                <a:latin typeface="Inter" pitchFamily="34" charset="0"/>
                <a:ea typeface="Inter" pitchFamily="34" charset="-122"/>
                <a:cs typeface="Inter" pitchFamily="34" charset="-120"/>
              </a:rPr>
              <a:t>All live.</a:t>
            </a:r>
            <a:endParaRPr lang="en-US" sz="2992" dirty="0"/>
          </a:p>
        </p:txBody>
      </p:sp>
      <p:sp>
        <p:nvSpPr>
          <p:cNvPr id="24" name="Text 21"/>
          <p:cNvSpPr/>
          <p:nvPr/>
        </p:nvSpPr>
        <p:spPr>
          <a:xfrm>
            <a:off x="571500" y="2476500"/>
            <a:ext cx="2667000" cy="371475"/>
          </a:xfrm>
          <a:prstGeom prst="rect">
            <a:avLst/>
          </a:prstGeom>
          <a:noFill/>
          <a:ln/>
        </p:spPr>
        <p:txBody>
          <a:bodyPr wrap="square" lIns="0" tIns="0" rIns="0" bIns="0" rtlCol="0" anchor="t"/>
          <a:lstStyle/>
          <a:p>
            <a:pPr algn="l" indent="0" marL="0">
              <a:lnSpc>
                <a:spcPts val="1397"/>
              </a:lnSpc>
              <a:buNone/>
            </a:pPr>
            <a:r>
              <a:rPr lang="en-US" sz="998" dirty="0">
                <a:solidFill>
                  <a:srgbClr val="545C54">
                    <a:alpha val="99000"/>
                  </a:srgbClr>
                </a:solidFill>
                <a:latin typeface="Inter" pitchFamily="34" charset="0"/>
                <a:ea typeface="Inter" pitchFamily="34" charset="-122"/>
                <a:cs typeface="Inter" pitchFamily="34" charset="-120"/>
              </a:rPr>
              <a:t>Built and shipped end to end: consumer, merchant, web and operations.</a:t>
            </a:r>
            <a:endParaRPr lang="en-US" sz="998" dirty="0"/>
          </a:p>
        </p:txBody>
      </p:sp>
      <p:sp>
        <p:nvSpPr>
          <p:cNvPr id="25" name="Shape 22"/>
          <p:cNvSpPr/>
          <p:nvPr/>
        </p:nvSpPr>
        <p:spPr>
          <a:xfrm>
            <a:off x="4095750" y="809625"/>
            <a:ext cx="2190750" cy="19050"/>
          </a:xfrm>
          <a:prstGeom prst="rect">
            <a:avLst/>
          </a:prstGeom>
          <a:solidFill>
            <a:srgbClr val="0E130F"/>
          </a:solidFill>
          <a:ln/>
        </p:spPr>
        <p:txBody>
          <a:bodyPr/>
          <a:p/>
        </p:txBody>
      </p:sp>
      <p:sp>
        <p:nvSpPr>
          <p:cNvPr id="44" name="TextBox 43"/>
          <p:cNvSpPr txBox="1"/>
          <p:nvPr/>
        </p:nvSpPr>
        <p:spPr>
          <a:xfrm>
            <a:off x="4095750" y="942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APP</a:t>
            </a:r>
          </a:p>
        </p:txBody>
      </p:sp>
      <p:sp>
        <p:nvSpPr>
          <p:cNvPr id="27" name="Text 24"/>
          <p:cNvSpPr/>
          <p:nvPr/>
        </p:nvSpPr>
        <p:spPr>
          <a:xfrm>
            <a:off x="4095750" y="1143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SimPay Wallet</a:t>
            </a:r>
            <a:endParaRPr lang="en-US" sz="1354" dirty="0"/>
          </a:p>
        </p:txBody>
      </p:sp>
      <p:sp>
        <p:nvSpPr>
          <p:cNvPr id="28" name="Text 25"/>
          <p:cNvSpPr/>
          <p:nvPr/>
        </p:nvSpPr>
        <p:spPr>
          <a:xfrm>
            <a:off x="4095750" y="1428750"/>
            <a:ext cx="2143125" cy="666750"/>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iOS and Android. Self-custody, QR and NFC tap to pay, cashback, referrals and push when money arrives.</a:t>
            </a:r>
            <a:endParaRPr lang="en-US" sz="891" dirty="0"/>
          </a:p>
        </p:txBody>
      </p:sp>
      <p:sp>
        <p:nvSpPr>
          <p:cNvPr id="29" name="Shape 26"/>
          <p:cNvSpPr/>
          <p:nvPr/>
        </p:nvSpPr>
        <p:spPr>
          <a:xfrm>
            <a:off x="6572250" y="809625"/>
            <a:ext cx="2190750" cy="19050"/>
          </a:xfrm>
          <a:prstGeom prst="rect">
            <a:avLst/>
          </a:prstGeom>
          <a:solidFill>
            <a:srgbClr val="0E130F"/>
          </a:solidFill>
          <a:ln/>
        </p:spPr>
        <p:txBody>
          <a:bodyPr/>
          <a:p/>
        </p:txBody>
      </p:sp>
      <p:sp>
        <p:nvSpPr>
          <p:cNvPr id="45" name="TextBox 44"/>
          <p:cNvSpPr txBox="1"/>
          <p:nvPr/>
        </p:nvSpPr>
        <p:spPr>
          <a:xfrm>
            <a:off x="6572250" y="942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PDV</a:t>
            </a:r>
          </a:p>
        </p:txBody>
      </p:sp>
      <p:sp>
        <p:nvSpPr>
          <p:cNvPr id="31" name="Text 28"/>
          <p:cNvSpPr/>
          <p:nvPr/>
        </p:nvSpPr>
        <p:spPr>
          <a:xfrm>
            <a:off x="6572250" y="1143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Merchant point of sale</a:t>
            </a:r>
            <a:endParaRPr lang="en-US" sz="1354" dirty="0"/>
          </a:p>
        </p:txBody>
      </p:sp>
      <p:sp>
        <p:nvSpPr>
          <p:cNvPr id="32" name="Text 29"/>
          <p:cNvSpPr/>
          <p:nvPr/>
        </p:nvSpPr>
        <p:spPr>
          <a:xfrm>
            <a:off x="6572250" y="1428750"/>
            <a:ext cx="2143125" cy="500063"/>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Charge in reais, show the QR, sell through NFC tags per till, cash out to Pix. Wallet restores with a PIN.</a:t>
            </a:r>
            <a:endParaRPr lang="en-US" sz="891" dirty="0"/>
          </a:p>
        </p:txBody>
      </p:sp>
      <p:sp>
        <p:nvSpPr>
          <p:cNvPr id="33" name="Shape 30"/>
          <p:cNvSpPr/>
          <p:nvPr/>
        </p:nvSpPr>
        <p:spPr>
          <a:xfrm>
            <a:off x="4095750" y="2714625"/>
            <a:ext cx="2190750" cy="19050"/>
          </a:xfrm>
          <a:prstGeom prst="rect">
            <a:avLst/>
          </a:prstGeom>
          <a:solidFill>
            <a:srgbClr val="0E130F"/>
          </a:solidFill>
          <a:ln/>
        </p:spPr>
        <p:txBody>
          <a:bodyPr/>
          <a:p/>
        </p:txBody>
      </p:sp>
      <p:sp>
        <p:nvSpPr>
          <p:cNvPr id="46" name="TextBox 45"/>
          <p:cNvSpPr txBox="1"/>
          <p:nvPr/>
        </p:nvSpPr>
        <p:spPr>
          <a:xfrm>
            <a:off x="4095750" y="2847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WEB</a:t>
            </a:r>
          </a:p>
        </p:txBody>
      </p:sp>
      <p:sp>
        <p:nvSpPr>
          <p:cNvPr id="35" name="Text 32"/>
          <p:cNvSpPr/>
          <p:nvPr/>
        </p:nvSpPr>
        <p:spPr>
          <a:xfrm>
            <a:off x="4095750" y="3048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simpay.tech + Blinks</a:t>
            </a:r>
            <a:endParaRPr lang="en-US" sz="1354" dirty="0"/>
          </a:p>
        </p:txBody>
      </p:sp>
      <p:sp>
        <p:nvSpPr>
          <p:cNvPr id="36" name="Text 33"/>
          <p:cNvSpPr/>
          <p:nvPr/>
        </p:nvSpPr>
        <p:spPr>
          <a:xfrm>
            <a:off x="4095750" y="3333750"/>
            <a:ext cx="2143125" cy="500063"/>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Buy SIMPAY with Pix to any wallet. Every till link is a Solana Blink payable from Phantom.</a:t>
            </a:r>
            <a:endParaRPr lang="en-US" sz="891" dirty="0"/>
          </a:p>
        </p:txBody>
      </p:sp>
      <p:sp>
        <p:nvSpPr>
          <p:cNvPr id="37" name="Shape 34"/>
          <p:cNvSpPr/>
          <p:nvPr/>
        </p:nvSpPr>
        <p:spPr>
          <a:xfrm>
            <a:off x="6572250" y="2714625"/>
            <a:ext cx="2190750" cy="19050"/>
          </a:xfrm>
          <a:prstGeom prst="rect">
            <a:avLst/>
          </a:prstGeom>
          <a:solidFill>
            <a:srgbClr val="0E130F"/>
          </a:solidFill>
          <a:ln/>
        </p:spPr>
        <p:txBody>
          <a:bodyPr/>
          <a:p/>
        </p:txBody>
      </p:sp>
      <p:sp>
        <p:nvSpPr>
          <p:cNvPr id="47" name="TextBox 46"/>
          <p:cNvSpPr txBox="1"/>
          <p:nvPr/>
        </p:nvSpPr>
        <p:spPr>
          <a:xfrm>
            <a:off x="6572250" y="2847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OPS</a:t>
            </a:r>
          </a:p>
        </p:txBody>
      </p:sp>
      <p:sp>
        <p:nvSpPr>
          <p:cNvPr id="39" name="Text 36"/>
          <p:cNvSpPr/>
          <p:nvPr/>
        </p:nvSpPr>
        <p:spPr>
          <a:xfrm>
            <a:off x="6572250" y="3048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Admin console</a:t>
            </a:r>
            <a:endParaRPr lang="en-US" sz="1354" dirty="0"/>
          </a:p>
        </p:txBody>
      </p:sp>
      <p:sp>
        <p:nvSpPr>
          <p:cNvPr id="40" name="Text 37"/>
          <p:cNvSpPr/>
          <p:nvPr/>
        </p:nvSpPr>
        <p:spPr>
          <a:xfrm>
            <a:off x="6572250" y="3333750"/>
            <a:ext cx="2143125" cy="666750"/>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Partner approval, cashback review, Pix webhooks, treasury costs on Solana, push campaigns, full audit log.</a:t>
            </a:r>
            <a:endParaRPr lang="en-US" sz="891" dirty="0"/>
          </a:p>
        </p:txBody>
      </p:sp>
      <p:sp>
        <p:nvSpPr>
          <p:cNvPr id="48" name="TextBox 47"/>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49" name="TextBox 48"/>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30F"/>
        </a:solidFill>
      </p:bgPr>
    </p:bg>
    <p:spTree>
      <p:nvGrpSpPr>
        <p:cNvPr id="1" name=""/>
        <p:cNvGrpSpPr/>
        <p:nvPr/>
      </p:nvGrpSpPr>
      <p:grpSpPr>
        <a:xfrm>
          <a:off x="0" y="0"/>
          <a:ext cx="0" cy="0"/>
          <a:chOff x="0" y="0"/>
          <a:chExt cx="0" cy="0"/>
        </a:xfrm>
      </p:grpSpPr>
      <p:pic>
        <p:nvPicPr>
          <p:cNvPr id="28" name="Image 0" descr="preencoded.png">    </p:cNvPr>
          <p:cNvPicPr>
            <a:picLocks noChangeAspect="1"/>
          </p:cNvPicPr>
          <p:nvPr/>
        </p:nvPicPr>
        <p:blipFill>
          <a:blip r:embed="rId1"/>
          <a:srcRect l="0" r="41935" t="0" b="0"/>
          <a:stretch/>
        </p:blipFill>
        <p:spPr>
          <a:xfrm>
            <a:off x="-1238250" y="1714500"/>
            <a:ext cx="1714500" cy="3257550"/>
          </a:xfrm>
          <a:prstGeom prst="rect">
            <a:avLst/>
          </a:prstGeom>
        </p:spPr>
      </p:pic>
      <p:sp>
        <p:nvSpPr>
          <p:cNvPr id="48" name="TextBox 47"/>
          <p:cNvSpPr txBox="1"/>
          <p:nvPr/>
        </p:nvSpPr>
        <p:spPr>
          <a:xfrm>
            <a:off x="2857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05 — WHAT’S NEW</a:t>
            </a:r>
          </a:p>
        </p:txBody>
      </p:sp>
      <p:sp>
        <p:nvSpPr>
          <p:cNvPr id="30" name="Text 26"/>
          <p:cNvSpPr/>
          <p:nvPr/>
        </p:nvSpPr>
        <p:spPr>
          <a:xfrm>
            <a:off x="2857500" y="762000"/>
            <a:ext cx="5715000" cy="685800"/>
          </a:xfrm>
          <a:prstGeom prst="rect">
            <a:avLst/>
          </a:prstGeom>
          <a:noFill/>
          <a:ln/>
        </p:spPr>
        <p:txBody>
          <a:bodyPr wrap="square" lIns="0" tIns="0" rIns="0" bIns="0" rtlCol="0" anchor="t"/>
          <a:lstStyle/>
          <a:p>
            <a:pPr algn="l" indent="0" marL="0">
              <a:lnSpc>
                <a:spcPts val="2565"/>
              </a:lnSpc>
              <a:buNone/>
            </a:pPr>
            <a:r>
              <a:rPr lang="en-US" sz="2565" b="1" spc="-77" kern="0" dirty="0">
                <a:solidFill>
                  <a:srgbClr val="F7F7F2">
                    <a:alpha val="99000"/>
                  </a:srgbClr>
                </a:solidFill>
                <a:latin typeface="Inter" pitchFamily="34" charset="0"/>
                <a:ea typeface="Inter" pitchFamily="34" charset="-122"/>
                <a:cs typeface="Inter" pitchFamily="34" charset="-120"/>
              </a:rPr>
              <a:t>Crypto that behaves</a:t>
            </a:r>
            <a:endParaRPr lang="en-US" sz="2565" dirty="0"/>
          </a:p>
          <a:p>
            <a:pPr algn="l" indent="0" marL="0">
              <a:lnSpc>
                <a:spcPts val="2565"/>
              </a:lnSpc>
              <a:buNone/>
            </a:pPr>
            <a:r>
              <a:rPr lang="en-US" sz="2565" b="1" spc="-77" kern="0" dirty="0">
                <a:solidFill>
                  <a:srgbClr val="F7F7F2">
                    <a:alpha val="99000"/>
                  </a:srgbClr>
                </a:solidFill>
                <a:latin typeface="Inter" pitchFamily="34" charset="0"/>
                <a:ea typeface="Inter" pitchFamily="34" charset="-122"/>
                <a:cs typeface="Inter" pitchFamily="34" charset="-120"/>
              </a:rPr>
              <a:t>like a payment app.</a:t>
            </a:r>
            <a:endParaRPr lang="en-US" sz="2565" dirty="0"/>
          </a:p>
        </p:txBody>
      </p:sp>
      <p:sp>
        <p:nvSpPr>
          <p:cNvPr id="31" name="Shape 27"/>
          <p:cNvSpPr/>
          <p:nvPr/>
        </p:nvSpPr>
        <p:spPr>
          <a:xfrm>
            <a:off x="2857500" y="2000250"/>
            <a:ext cx="5715000" cy="9525"/>
          </a:xfrm>
          <a:prstGeom prst="rect">
            <a:avLst/>
          </a:prstGeom>
          <a:solidFill>
            <a:srgbClr val="333D33"/>
          </a:solidFill>
          <a:ln/>
        </p:spPr>
        <p:txBody>
          <a:bodyPr/>
          <a:p/>
        </p:txBody>
      </p:sp>
      <p:sp>
        <p:nvSpPr>
          <p:cNvPr id="49" name="TextBox 48"/>
          <p:cNvSpPr txBox="1"/>
          <p:nvPr/>
        </p:nvSpPr>
        <p:spPr>
          <a:xfrm>
            <a:off x="2857500" y="214312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01</a:t>
            </a:r>
          </a:p>
        </p:txBody>
      </p:sp>
      <p:sp>
        <p:nvSpPr>
          <p:cNvPr id="33" name="Text 29"/>
          <p:cNvSpPr/>
          <p:nvPr/>
        </p:nvSpPr>
        <p:spPr>
          <a:xfrm>
            <a:off x="3238500" y="2114550"/>
            <a:ext cx="2476500"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Tap to pay on Solana</a:t>
            </a:r>
            <a:endParaRPr lang="en-US" sz="1211" dirty="0"/>
          </a:p>
        </p:txBody>
      </p:sp>
      <p:sp>
        <p:nvSpPr>
          <p:cNvPr id="34" name="Text 30"/>
          <p:cNvSpPr/>
          <p:nvPr/>
        </p:nvSpPr>
        <p:spPr>
          <a:xfrm>
            <a:off x="5810250" y="2124075"/>
            <a:ext cx="2762250" cy="323850"/>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NFC tags at each till open the live charge. No card machine, no app required on the merchant side.</a:t>
            </a:r>
            <a:endParaRPr lang="en-US" sz="855" dirty="0"/>
          </a:p>
        </p:txBody>
      </p:sp>
      <p:sp>
        <p:nvSpPr>
          <p:cNvPr id="35" name="Shape 31"/>
          <p:cNvSpPr/>
          <p:nvPr/>
        </p:nvSpPr>
        <p:spPr>
          <a:xfrm>
            <a:off x="2857500" y="2628900"/>
            <a:ext cx="5715000" cy="9525"/>
          </a:xfrm>
          <a:prstGeom prst="rect">
            <a:avLst/>
          </a:prstGeom>
          <a:solidFill>
            <a:srgbClr val="333D33"/>
          </a:solidFill>
          <a:ln/>
        </p:spPr>
        <p:txBody>
          <a:bodyPr/>
          <a:p/>
        </p:txBody>
      </p:sp>
      <p:sp>
        <p:nvSpPr>
          <p:cNvPr id="50" name="TextBox 49"/>
          <p:cNvSpPr txBox="1"/>
          <p:nvPr/>
        </p:nvSpPr>
        <p:spPr>
          <a:xfrm>
            <a:off x="2857500" y="277177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02</a:t>
            </a:r>
          </a:p>
        </p:txBody>
      </p:sp>
      <p:sp>
        <p:nvSpPr>
          <p:cNvPr id="37" name="Text 33"/>
          <p:cNvSpPr/>
          <p:nvPr/>
        </p:nvSpPr>
        <p:spPr>
          <a:xfrm>
            <a:off x="3238500" y="2743200"/>
            <a:ext cx="2476500"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Every till is a Blink</a:t>
            </a:r>
            <a:endParaRPr lang="en-US" sz="1211" dirty="0"/>
          </a:p>
        </p:txBody>
      </p:sp>
      <p:sp>
        <p:nvSpPr>
          <p:cNvPr id="38" name="Text 34"/>
          <p:cNvSpPr/>
          <p:nvPr/>
        </p:nvSpPr>
        <p:spPr>
          <a:xfrm>
            <a:off x="5810250" y="2752725"/>
            <a:ext cx="2762250" cy="323850"/>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The same link becomes a Solana Action: pay from Phantom or anywhere Blinks render.</a:t>
            </a:r>
            <a:endParaRPr lang="en-US" sz="855" dirty="0"/>
          </a:p>
        </p:txBody>
      </p:sp>
      <p:sp>
        <p:nvSpPr>
          <p:cNvPr id="39" name="Shape 35"/>
          <p:cNvSpPr/>
          <p:nvPr/>
        </p:nvSpPr>
        <p:spPr>
          <a:xfrm>
            <a:off x="2857500" y="3257550"/>
            <a:ext cx="5715000" cy="9525"/>
          </a:xfrm>
          <a:prstGeom prst="rect">
            <a:avLst/>
          </a:prstGeom>
          <a:solidFill>
            <a:srgbClr val="333D33"/>
          </a:solidFill>
          <a:ln/>
        </p:spPr>
        <p:txBody>
          <a:bodyPr/>
          <a:p/>
        </p:txBody>
      </p:sp>
      <p:sp>
        <p:nvSpPr>
          <p:cNvPr id="51" name="TextBox 50"/>
          <p:cNvSpPr txBox="1"/>
          <p:nvPr/>
        </p:nvSpPr>
        <p:spPr>
          <a:xfrm>
            <a:off x="2857500" y="340042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03</a:t>
            </a:r>
          </a:p>
        </p:txBody>
      </p:sp>
      <p:sp>
        <p:nvSpPr>
          <p:cNvPr id="41" name="Text 37"/>
          <p:cNvSpPr/>
          <p:nvPr/>
        </p:nvSpPr>
        <p:spPr>
          <a:xfrm>
            <a:off x="3238500" y="3371850"/>
            <a:ext cx="2476500"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Recover with a PIN</a:t>
            </a:r>
            <a:endParaRPr lang="en-US" sz="1211" dirty="0"/>
          </a:p>
        </p:txBody>
      </p:sp>
      <p:sp>
        <p:nvSpPr>
          <p:cNvPr id="42" name="Text 38"/>
          <p:cNvSpPr/>
          <p:nvPr/>
        </p:nvSpPr>
        <p:spPr>
          <a:xfrm>
            <a:off x="5810250" y="3381375"/>
            <a:ext cx="2762250" cy="485775"/>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Merchant wallets restore on a new device with only the PIN (Argon2id + server share). Keys never leave the device.</a:t>
            </a:r>
            <a:endParaRPr lang="en-US" sz="855" dirty="0"/>
          </a:p>
        </p:txBody>
      </p:sp>
      <p:sp>
        <p:nvSpPr>
          <p:cNvPr id="43" name="Shape 39"/>
          <p:cNvSpPr/>
          <p:nvPr/>
        </p:nvSpPr>
        <p:spPr>
          <a:xfrm>
            <a:off x="2857500" y="3886200"/>
            <a:ext cx="5715000" cy="9525"/>
          </a:xfrm>
          <a:prstGeom prst="rect">
            <a:avLst/>
          </a:prstGeom>
          <a:solidFill>
            <a:srgbClr val="333D33"/>
          </a:solidFill>
          <a:ln/>
        </p:spPr>
        <p:txBody>
          <a:bodyPr/>
          <a:p/>
        </p:txBody>
      </p:sp>
      <p:sp>
        <p:nvSpPr>
          <p:cNvPr id="52" name="TextBox 51"/>
          <p:cNvSpPr txBox="1"/>
          <p:nvPr/>
        </p:nvSpPr>
        <p:spPr>
          <a:xfrm>
            <a:off x="2857500" y="402907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04</a:t>
            </a:r>
          </a:p>
        </p:txBody>
      </p:sp>
      <p:sp>
        <p:nvSpPr>
          <p:cNvPr id="45" name="Text 41"/>
          <p:cNvSpPr/>
          <p:nvPr/>
        </p:nvSpPr>
        <p:spPr>
          <a:xfrm>
            <a:off x="3238500" y="4000500"/>
            <a:ext cx="2476500" cy="352425"/>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Rewards with a human in the loop</a:t>
            </a:r>
            <a:endParaRPr lang="en-US" sz="1211" dirty="0"/>
          </a:p>
        </p:txBody>
      </p:sp>
      <p:sp>
        <p:nvSpPr>
          <p:cNvPr id="46" name="Text 42"/>
          <p:cNvSpPr/>
          <p:nvPr/>
        </p:nvSpPr>
        <p:spPr>
          <a:xfrm>
            <a:off x="5810250" y="4010025"/>
            <a:ext cx="2762250" cy="323850"/>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Cashback and referrals are scheduled, reviewable by an admin, then paid automatically on-chain.</a:t>
            </a:r>
            <a:endParaRPr lang="en-US" sz="855" dirty="0"/>
          </a:p>
        </p:txBody>
      </p:sp>
      <p:sp>
        <p:nvSpPr>
          <p:cNvPr id="53" name="TextBox 5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2"/>
        </a:solidFill>
      </p:bgPr>
    </p:bg>
    <p:spTree>
      <p:nvGrpSpPr>
        <p:cNvPr id="1" name=""/>
        <p:cNvGrpSpPr/>
        <p:nvPr/>
      </p:nvGrpSpPr>
      <p:grpSpPr>
        <a:xfrm>
          <a:off x="0" y="0"/>
          <a:ext cx="0" cy="0"/>
          <a:chOff x="0" y="0"/>
          <a:chExt cx="0" cy="0"/>
        </a:xfrm>
      </p:grpSpPr>
      <p:sp>
        <p:nvSpPr>
          <p:cNvPr id="19" name="Shape 16"/>
          <p:cNvSpPr/>
          <p:nvPr/>
        </p:nvSpPr>
        <p:spPr>
          <a:xfrm>
            <a:off x="0" y="0"/>
            <a:ext cx="9144000" cy="2857500"/>
          </a:xfrm>
          <a:prstGeom prst="rect">
            <a:avLst/>
          </a:prstGeom>
          <a:solidFill>
            <a:srgbClr val="0E130F"/>
          </a:solidFill>
          <a:ln/>
        </p:spPr>
        <p:txBody>
          <a:bodyPr/>
          <a:p/>
        </p:txBody>
      </p:sp>
      <p:sp>
        <p:nvSpPr>
          <p:cNvPr id="44" name="TextBox 43"/>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06 — BUILT ON SOLANA</a:t>
            </a:r>
          </a:p>
        </p:txBody>
      </p:sp>
      <p:sp>
        <p:nvSpPr>
          <p:cNvPr id="21" name="Text 18"/>
          <p:cNvSpPr/>
          <p:nvPr/>
        </p:nvSpPr>
        <p:spPr>
          <a:xfrm>
            <a:off x="571500" y="809625"/>
            <a:ext cx="2476500" cy="1266825"/>
          </a:xfrm>
          <a:prstGeom prst="rect">
            <a:avLst/>
          </a:prstGeom>
          <a:noFill/>
          <a:ln/>
        </p:spPr>
        <p:txBody>
          <a:bodyPr wrap="square" lIns="0" tIns="0" rIns="0" bIns="0" rtlCol="0" anchor="t"/>
          <a:lstStyle/>
          <a:p>
            <a:pPr algn="l" indent="0" marL="0">
              <a:lnSpc>
                <a:spcPts val="9485"/>
              </a:lnSpc>
              <a:buNone/>
            </a:pPr>
            <a:r>
              <a:rPr lang="en-US" sz="7838" b="1" spc="-392" kern="0" dirty="0">
                <a:solidFill>
                  <a:srgbClr val="BDF06B">
                    <a:alpha val="99000"/>
                  </a:srgbClr>
                </a:solidFill>
                <a:latin typeface="Inter" pitchFamily="34" charset="0"/>
                <a:ea typeface="Inter" pitchFamily="34" charset="-122"/>
                <a:cs typeface="Inter" pitchFamily="34" charset="-120"/>
              </a:rPr>
              <a:t>~1s</a:t>
            </a:r>
            <a:endParaRPr lang="en-US" sz="7838" dirty="0"/>
          </a:p>
        </p:txBody>
      </p:sp>
      <p:sp>
        <p:nvSpPr>
          <p:cNvPr id="22" name="Text 19"/>
          <p:cNvSpPr/>
          <p:nvPr/>
        </p:nvSpPr>
        <p:spPr>
          <a:xfrm>
            <a:off x="571500" y="2238375"/>
            <a:ext cx="2476500" cy="371475"/>
          </a:xfrm>
          <a:prstGeom prst="rect">
            <a:avLst/>
          </a:prstGeom>
          <a:noFill/>
          <a:ln/>
        </p:spPr>
        <p:txBody>
          <a:bodyPr wrap="square" lIns="0" tIns="0" rIns="0" bIns="0" rtlCol="0" anchor="t"/>
          <a:lstStyle/>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to confirm a payment</a:t>
            </a:r>
            <a:endParaRPr lang="en-US" sz="1069" dirty="0"/>
          </a:p>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at the counter</a:t>
            </a:r>
            <a:endParaRPr lang="en-US" sz="1069" dirty="0"/>
          </a:p>
        </p:txBody>
      </p:sp>
      <p:sp>
        <p:nvSpPr>
          <p:cNvPr id="23" name="Text 20"/>
          <p:cNvSpPr/>
          <p:nvPr/>
        </p:nvSpPr>
        <p:spPr>
          <a:xfrm>
            <a:off x="3429000" y="809625"/>
            <a:ext cx="5238750" cy="1266825"/>
          </a:xfrm>
          <a:prstGeom prst="rect">
            <a:avLst/>
          </a:prstGeom>
          <a:noFill/>
          <a:ln/>
        </p:spPr>
        <p:txBody>
          <a:bodyPr wrap="square" lIns="0" tIns="0" rIns="0" bIns="0" rtlCol="0" anchor="t"/>
          <a:lstStyle/>
          <a:p>
            <a:pPr algn="l" indent="0" marL="0">
              <a:lnSpc>
                <a:spcPts val="9485"/>
              </a:lnSpc>
              <a:buNone/>
            </a:pPr>
            <a:r>
              <a:rPr lang="en-US" sz="7838" b="1" spc="-392" kern="0" dirty="0">
                <a:solidFill>
                  <a:srgbClr val="F7F7F2">
                    <a:alpha val="99000"/>
                  </a:srgbClr>
                </a:solidFill>
                <a:latin typeface="Inter" pitchFamily="34" charset="0"/>
                <a:ea typeface="Inter" pitchFamily="34" charset="-122"/>
                <a:cs typeface="Inter" pitchFamily="34" charset="-120"/>
              </a:rPr>
              <a:t>&lt;$0.001</a:t>
            </a:r>
            <a:endParaRPr lang="en-US" sz="7838" dirty="0"/>
          </a:p>
        </p:txBody>
      </p:sp>
      <p:sp>
        <p:nvSpPr>
          <p:cNvPr id="24" name="Text 21"/>
          <p:cNvSpPr/>
          <p:nvPr/>
        </p:nvSpPr>
        <p:spPr>
          <a:xfrm>
            <a:off x="3429000" y="2238375"/>
            <a:ext cx="3333750" cy="371475"/>
          </a:xfrm>
          <a:prstGeom prst="rect">
            <a:avLst/>
          </a:prstGeom>
          <a:noFill/>
          <a:ln/>
        </p:spPr>
        <p:txBody>
          <a:bodyPr wrap="square" lIns="0" tIns="0" rIns="0" bIns="0" rtlCol="0" anchor="t"/>
          <a:lstStyle/>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network fee per transaction,</a:t>
            </a:r>
            <a:endParaRPr lang="en-US" sz="1069" dirty="0"/>
          </a:p>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so micro-payments make sense</a:t>
            </a:r>
            <a:endParaRPr lang="en-US" sz="1069" dirty="0"/>
          </a:p>
        </p:txBody>
      </p:sp>
      <p:sp>
        <p:nvSpPr>
          <p:cNvPr id="25" name="Text 22"/>
          <p:cNvSpPr/>
          <p:nvPr/>
        </p:nvSpPr>
        <p:spPr>
          <a:xfrm>
            <a:off x="571500" y="3143250"/>
            <a:ext cx="6667500" cy="252413"/>
          </a:xfrm>
          <a:prstGeom prst="rect">
            <a:avLst/>
          </a:prstGeom>
          <a:noFill/>
          <a:ln/>
        </p:spPr>
        <p:txBody>
          <a:bodyPr wrap="square" lIns="0" tIns="0" rIns="0" bIns="0" rtlCol="0" anchor="t"/>
          <a:lstStyle/>
          <a:p>
            <a:pPr algn="l" indent="0" marL="0">
              <a:lnSpc>
                <a:spcPts val="1897"/>
              </a:lnSpc>
              <a:buNone/>
            </a:pPr>
            <a:r>
              <a:rPr lang="en-US" sz="1140" b="1" spc="-24" kern="0" dirty="0">
                <a:solidFill>
                  <a:srgbClr val="0E130F">
                    <a:alpha val="99000"/>
                  </a:srgbClr>
                </a:solidFill>
                <a:latin typeface="Inter" pitchFamily="34" charset="0"/>
                <a:ea typeface="Inter" pitchFamily="34" charset="-122"/>
                <a:cs typeface="Inter" pitchFamily="34" charset="-120"/>
              </a:rPr>
              <a:t>Built on Solana devnet.</a:t>
            </a:r>
            <a:endParaRPr lang="en-US" sz="1568" dirty="0"/>
          </a:p>
        </p:txBody>
      </p:sp>
      <p:sp>
        <p:nvSpPr>
          <p:cNvPr id="26" name="Shape 23"/>
          <p:cNvSpPr/>
          <p:nvPr/>
        </p:nvSpPr>
        <p:spPr>
          <a:xfrm>
            <a:off x="571500" y="3571875"/>
            <a:ext cx="866775" cy="304800"/>
          </a:xfrm>
          <a:prstGeom prst="roundRect">
            <a:avLst>
              <a:gd name="adj" fmla="val 2997000"/>
            </a:avLst>
          </a:prstGeom>
          <a:noFill/>
          <a:ln w="9049">
            <a:solidFill>
              <a:srgbClr val="0E130F"/>
            </a:solidFill>
            <a:prstDash val="solid"/>
          </a:ln>
        </p:spPr>
        <p:txBody>
          <a:bodyPr/>
          <a:p/>
        </p:txBody>
      </p:sp>
      <p:sp>
        <p:nvSpPr>
          <p:cNvPr id="45" name="TextBox 44"/>
          <p:cNvSpPr txBox="1"/>
          <p:nvPr/>
        </p:nvSpPr>
        <p:spPr>
          <a:xfrm>
            <a:off x="695325" y="3648075"/>
            <a:ext cx="629257"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SPL Token</a:t>
            </a:r>
          </a:p>
        </p:txBody>
      </p:sp>
      <p:sp>
        <p:nvSpPr>
          <p:cNvPr id="28" name="Shape 25"/>
          <p:cNvSpPr/>
          <p:nvPr/>
        </p:nvSpPr>
        <p:spPr>
          <a:xfrm>
            <a:off x="1514475" y="3571875"/>
            <a:ext cx="1690688" cy="304800"/>
          </a:xfrm>
          <a:prstGeom prst="roundRect">
            <a:avLst>
              <a:gd name="adj" fmla="val 2997000"/>
            </a:avLst>
          </a:prstGeom>
          <a:noFill/>
          <a:ln w="9049">
            <a:solidFill>
              <a:srgbClr val="0E130F"/>
            </a:solidFill>
            <a:prstDash val="solid"/>
          </a:ln>
        </p:spPr>
        <p:txBody>
          <a:bodyPr/>
          <a:p/>
        </p:txBody>
      </p:sp>
      <p:sp>
        <p:nvSpPr>
          <p:cNvPr id="46" name="TextBox 45"/>
          <p:cNvSpPr txBox="1"/>
          <p:nvPr/>
        </p:nvSpPr>
        <p:spPr>
          <a:xfrm>
            <a:off x="1638300" y="3648075"/>
            <a:ext cx="1443038"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Solana Pay references</a:t>
            </a:r>
          </a:p>
        </p:txBody>
      </p:sp>
      <p:sp>
        <p:nvSpPr>
          <p:cNvPr id="30" name="Shape 27"/>
          <p:cNvSpPr/>
          <p:nvPr/>
        </p:nvSpPr>
        <p:spPr>
          <a:xfrm>
            <a:off x="3281363" y="3571875"/>
            <a:ext cx="1824038" cy="304800"/>
          </a:xfrm>
          <a:prstGeom prst="roundRect">
            <a:avLst>
              <a:gd name="adj" fmla="val 2997000"/>
            </a:avLst>
          </a:prstGeom>
          <a:noFill/>
          <a:ln w="9049">
            <a:solidFill>
              <a:srgbClr val="0E130F"/>
            </a:solidFill>
            <a:prstDash val="solid"/>
          </a:ln>
        </p:spPr>
        <p:txBody>
          <a:bodyPr/>
          <a:p/>
        </p:txBody>
      </p:sp>
      <p:sp>
        <p:nvSpPr>
          <p:cNvPr id="47" name="TextBox 46"/>
          <p:cNvSpPr txBox="1"/>
          <p:nvPr/>
        </p:nvSpPr>
        <p:spPr>
          <a:xfrm>
            <a:off x="3405188" y="3648075"/>
            <a:ext cx="1576388"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Solana Actions / Blinks</a:t>
            </a:r>
          </a:p>
        </p:txBody>
      </p:sp>
      <p:sp>
        <p:nvSpPr>
          <p:cNvPr id="32" name="Shape 29"/>
          <p:cNvSpPr/>
          <p:nvPr/>
        </p:nvSpPr>
        <p:spPr>
          <a:xfrm>
            <a:off x="5181600" y="3571875"/>
            <a:ext cx="1414463" cy="304800"/>
          </a:xfrm>
          <a:prstGeom prst="roundRect">
            <a:avLst>
              <a:gd name="adj" fmla="val 2997000"/>
            </a:avLst>
          </a:prstGeom>
          <a:noFill/>
          <a:ln w="9049">
            <a:solidFill>
              <a:srgbClr val="0E130F"/>
            </a:solidFill>
            <a:prstDash val="solid"/>
          </a:ln>
        </p:spPr>
        <p:txBody>
          <a:bodyPr/>
          <a:p/>
        </p:txBody>
      </p:sp>
      <p:sp>
        <p:nvSpPr>
          <p:cNvPr id="48" name="TextBox 47"/>
          <p:cNvSpPr txBox="1"/>
          <p:nvPr/>
        </p:nvSpPr>
        <p:spPr>
          <a:xfrm>
            <a:off x="5305425" y="3648075"/>
            <a:ext cx="1166813"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Metaplex metadata</a:t>
            </a:r>
          </a:p>
        </p:txBody>
      </p:sp>
      <p:sp>
        <p:nvSpPr>
          <p:cNvPr id="34" name="Shape 31"/>
          <p:cNvSpPr/>
          <p:nvPr/>
        </p:nvSpPr>
        <p:spPr>
          <a:xfrm>
            <a:off x="571500" y="4010025"/>
            <a:ext cx="1962150" cy="304800"/>
          </a:xfrm>
          <a:prstGeom prst="roundRect">
            <a:avLst>
              <a:gd name="adj" fmla="val 2997000"/>
            </a:avLst>
          </a:prstGeom>
          <a:noFill/>
          <a:ln w="9049">
            <a:solidFill>
              <a:srgbClr val="0E130F"/>
            </a:solidFill>
            <a:prstDash val="solid"/>
          </a:ln>
        </p:spPr>
        <p:txBody>
          <a:bodyPr/>
          <a:p/>
        </p:txBody>
      </p:sp>
      <p:sp>
        <p:nvSpPr>
          <p:cNvPr id="49" name="TextBox 48"/>
          <p:cNvSpPr txBox="1"/>
          <p:nvPr/>
        </p:nvSpPr>
        <p:spPr>
          <a:xfrm>
            <a:off x="695325" y="4086225"/>
            <a:ext cx="171450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Pix via Delfinance (mTLS)</a:t>
            </a:r>
          </a:p>
        </p:txBody>
      </p:sp>
      <p:sp>
        <p:nvSpPr>
          <p:cNvPr id="36" name="Shape 33"/>
          <p:cNvSpPr/>
          <p:nvPr/>
        </p:nvSpPr>
        <p:spPr>
          <a:xfrm>
            <a:off x="2609850" y="4010025"/>
            <a:ext cx="1276350" cy="304800"/>
          </a:xfrm>
          <a:prstGeom prst="roundRect">
            <a:avLst>
              <a:gd name="adj" fmla="val 2997000"/>
            </a:avLst>
          </a:prstGeom>
          <a:noFill/>
          <a:ln w="9049">
            <a:solidFill>
              <a:srgbClr val="0E130F"/>
            </a:solidFill>
            <a:prstDash val="solid"/>
          </a:ln>
        </p:spPr>
        <p:txBody>
          <a:bodyPr/>
          <a:p/>
        </p:txBody>
      </p:sp>
      <p:sp>
        <p:nvSpPr>
          <p:cNvPr id="50" name="TextBox 49"/>
          <p:cNvSpPr txBox="1"/>
          <p:nvPr/>
        </p:nvSpPr>
        <p:spPr>
          <a:xfrm>
            <a:off x="2733675" y="4086225"/>
            <a:ext cx="102870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HashiCorp Vault</a:t>
            </a:r>
          </a:p>
        </p:txBody>
      </p:sp>
      <p:sp>
        <p:nvSpPr>
          <p:cNvPr id="38" name="Shape 35"/>
          <p:cNvSpPr/>
          <p:nvPr/>
        </p:nvSpPr>
        <p:spPr>
          <a:xfrm>
            <a:off x="3962400" y="4010025"/>
            <a:ext cx="1209675" cy="304800"/>
          </a:xfrm>
          <a:prstGeom prst="roundRect">
            <a:avLst>
              <a:gd name="adj" fmla="val 2997000"/>
            </a:avLst>
          </a:prstGeom>
          <a:noFill/>
          <a:ln w="9049">
            <a:solidFill>
              <a:srgbClr val="0E130F"/>
            </a:solidFill>
            <a:prstDash val="solid"/>
          </a:ln>
        </p:spPr>
        <p:txBody>
          <a:bodyPr/>
          <a:p/>
        </p:txBody>
      </p:sp>
      <p:sp>
        <p:nvSpPr>
          <p:cNvPr id="51" name="TextBox 50"/>
          <p:cNvSpPr txBox="1"/>
          <p:nvPr/>
        </p:nvSpPr>
        <p:spPr>
          <a:xfrm>
            <a:off x="4086225" y="4086225"/>
            <a:ext cx="962024"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OneSignal push</a:t>
            </a:r>
          </a:p>
        </p:txBody>
      </p:sp>
      <p:sp>
        <p:nvSpPr>
          <p:cNvPr id="40" name="Shape 37"/>
          <p:cNvSpPr/>
          <p:nvPr/>
        </p:nvSpPr>
        <p:spPr>
          <a:xfrm>
            <a:off x="5248275" y="4010025"/>
            <a:ext cx="1485900" cy="304800"/>
          </a:xfrm>
          <a:prstGeom prst="roundRect">
            <a:avLst>
              <a:gd name="adj" fmla="val 2997000"/>
            </a:avLst>
          </a:prstGeom>
          <a:noFill/>
          <a:ln w="9049">
            <a:solidFill>
              <a:srgbClr val="0E130F"/>
            </a:solidFill>
            <a:prstDash val="solid"/>
          </a:ln>
        </p:spPr>
        <p:txBody>
          <a:bodyPr/>
          <a:p/>
        </p:txBody>
      </p:sp>
      <p:sp>
        <p:nvSpPr>
          <p:cNvPr id="52" name="TextBox 51"/>
          <p:cNvSpPr txBox="1"/>
          <p:nvPr/>
        </p:nvSpPr>
        <p:spPr>
          <a:xfrm>
            <a:off x="5372100" y="4086225"/>
            <a:ext cx="123825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Non-custodial keys</a:t>
            </a:r>
          </a:p>
        </p:txBody>
      </p:sp>
      <p:sp>
        <p:nvSpPr>
          <p:cNvPr id="53" name="TextBox 52"/>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54" name="TextBox 53"/>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11B"/>
        </a:solidFill>
      </p:bgPr>
    </p:bg>
    <p:spTree>
      <p:nvGrpSpPr>
        <p:cNvPr id="1" name=""/>
        <p:cNvGrpSpPr/>
        <p:nvPr/>
      </p:nvGrpSpPr>
      <p:grpSpPr>
        <a:xfrm>
          <a:off x="0" y="0"/>
          <a:ext cx="0" cy="0"/>
          <a:chOff x="0" y="0"/>
          <a:chExt cx="0" cy="0"/>
        </a:xfrm>
      </p:grpSpPr>
      <p:sp>
        <p:nvSpPr>
          <p:cNvPr id="36" name="TextBox 35"/>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07 — WHO IT’S FOR</a:t>
            </a:r>
          </a:p>
        </p:txBody>
      </p:sp>
      <p:sp>
        <p:nvSpPr>
          <p:cNvPr id="21" name="Text 18"/>
          <p:cNvSpPr/>
          <p:nvPr/>
        </p:nvSpPr>
        <p:spPr>
          <a:xfrm>
            <a:off x="571500" y="809625"/>
            <a:ext cx="61912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Built for the counter,</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not the trading desk.</a:t>
            </a:r>
            <a:endParaRPr lang="en-US" sz="2708" dirty="0"/>
          </a:p>
        </p:txBody>
      </p:sp>
      <p:sp>
        <p:nvSpPr>
          <p:cNvPr id="22" name="Shape 19"/>
          <p:cNvSpPr/>
          <p:nvPr/>
        </p:nvSpPr>
        <p:spPr>
          <a:xfrm>
            <a:off x="571500" y="2476500"/>
            <a:ext cx="2476500" cy="28575"/>
          </a:xfrm>
          <a:prstGeom prst="rect">
            <a:avLst/>
          </a:prstGeom>
          <a:solidFill>
            <a:srgbClr val="BDF06B"/>
          </a:solidFill>
          <a:ln/>
        </p:spPr>
        <p:txBody>
          <a:bodyPr/>
          <a:p/>
        </p:txBody>
      </p:sp>
      <p:sp>
        <p:nvSpPr>
          <p:cNvPr id="37" name="TextBox 36"/>
          <p:cNvSpPr txBox="1"/>
          <p:nvPr/>
        </p:nvSpPr>
        <p:spPr>
          <a:xfrm>
            <a:off x="571500" y="2647950"/>
            <a:ext cx="512064"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PRIMARY</a:t>
            </a:r>
          </a:p>
        </p:txBody>
      </p:sp>
      <p:sp>
        <p:nvSpPr>
          <p:cNvPr id="24" name="Text 21"/>
          <p:cNvSpPr/>
          <p:nvPr/>
        </p:nvSpPr>
        <p:spPr>
          <a:xfrm>
            <a:off x="571500" y="2857500"/>
            <a:ext cx="2476500" cy="228600"/>
          </a:xfrm>
          <a:prstGeom prst="rect">
            <a:avLst/>
          </a:prstGeom>
          <a:noFill/>
          <a:ln/>
        </p:spPr>
        <p:txBody>
          <a:bodyPr wrap="square" lIns="0" tIns="0" rIns="0" bIns="0" rtlCol="0" anchor="t"/>
          <a:lstStyle/>
          <a:p>
            <a:pPr algn="l" indent="0" marL="0">
              <a:lnSpc>
                <a:spcPts val="1693"/>
              </a:lnSpc>
              <a:buNone/>
            </a:pPr>
            <a:r>
              <a:rPr lang="en-US" sz="1568" b="1" spc="-24" kern="0" dirty="0">
                <a:solidFill>
                  <a:srgbClr val="F7F7F2">
                    <a:alpha val="99000"/>
                  </a:srgbClr>
                </a:solidFill>
                <a:latin typeface="Inter" pitchFamily="34" charset="0"/>
                <a:ea typeface="Inter" pitchFamily="34" charset="-122"/>
                <a:cs typeface="Inter" pitchFamily="34" charset="-120"/>
              </a:rPr>
              <a:t>Small merchants</a:t>
            </a:r>
            <a:endParaRPr lang="en-US" sz="1568" dirty="0"/>
          </a:p>
        </p:txBody>
      </p:sp>
      <p:sp>
        <p:nvSpPr>
          <p:cNvPr id="25" name="Text 22"/>
          <p:cNvSpPr/>
          <p:nvPr/>
        </p:nvSpPr>
        <p:spPr>
          <a:xfrm>
            <a:off x="571500" y="3219450"/>
            <a:ext cx="2381250" cy="528638"/>
          </a:xfrm>
          <a:prstGeom prst="rect">
            <a:avLst/>
          </a:prstGeom>
          <a:noFill/>
          <a:ln/>
        </p:spPr>
        <p:txBody>
          <a:bodyPr wrap="square" lIns="0" tIns="0" rIns="0" bIns="0" rtlCol="0" anchor="t"/>
          <a:lstStyle/>
          <a:p>
            <a:pPr algn="l" indent="0" marL="0">
              <a:lnSpc>
                <a:spcPts val="1315"/>
              </a:lnSpc>
              <a:buNone/>
            </a:pPr>
            <a:r>
              <a:rPr lang="en-US" sz="926" dirty="0">
                <a:solidFill>
                  <a:srgbClr val="B2BDB2">
                    <a:alpha val="99000"/>
                  </a:srgbClr>
                </a:solidFill>
                <a:latin typeface="Inter" pitchFamily="34" charset="0"/>
                <a:ea typeface="Inter" pitchFamily="34" charset="-122"/>
                <a:cs typeface="Inter" pitchFamily="34" charset="-120"/>
              </a:rPr>
              <a:t>Cafés, restaurants and local services in Brazil that lose margin to card fees and wait days for their money.</a:t>
            </a:r>
            <a:endParaRPr lang="en-US" sz="926" dirty="0"/>
          </a:p>
        </p:txBody>
      </p:sp>
      <p:sp>
        <p:nvSpPr>
          <p:cNvPr id="26" name="Shape 23"/>
          <p:cNvSpPr/>
          <p:nvPr/>
        </p:nvSpPr>
        <p:spPr>
          <a:xfrm>
            <a:off x="3333750" y="2476500"/>
            <a:ext cx="2476500" cy="28575"/>
          </a:xfrm>
          <a:prstGeom prst="rect">
            <a:avLst/>
          </a:prstGeom>
          <a:solidFill>
            <a:srgbClr val="F7F7F2"/>
          </a:solidFill>
          <a:ln/>
        </p:spPr>
        <p:txBody>
          <a:bodyPr/>
          <a:p/>
        </p:txBody>
      </p:sp>
      <p:sp>
        <p:nvSpPr>
          <p:cNvPr id="38" name="TextBox 37"/>
          <p:cNvSpPr txBox="1"/>
          <p:nvPr/>
        </p:nvSpPr>
        <p:spPr>
          <a:xfrm>
            <a:off x="3333750" y="2647950"/>
            <a:ext cx="446913" cy="185115"/>
          </a:xfrm>
          <a:prstGeom prst="rect">
            <a:avLst/>
          </a:prstGeom>
          <a:noFill/>
        </p:spPr>
        <p:txBody>
          <a:bodyPr wrap="none" lIns="0" tIns="0" rIns="0" bIns="0">
            <a:noAutofit/>
          </a:bodyPr>
          <a:lstStyle/>
          <a:p>
            <a:pPr>
              <a:lnSpc>
                <a:spcPts val="956"/>
              </a:lnSpc>
              <a:defRPr sz="784" b="1">
                <a:solidFill>
                  <a:srgbClr val="F7F7F2"/>
                </a:solidFill>
                <a:latin typeface="JetBrains Mono"/>
              </a:defRPr>
            </a:pPr>
            <a:r>
              <a:t>GROWTH</a:t>
            </a:r>
          </a:p>
        </p:txBody>
      </p:sp>
      <p:sp>
        <p:nvSpPr>
          <p:cNvPr id="28" name="Text 25"/>
          <p:cNvSpPr/>
          <p:nvPr/>
        </p:nvSpPr>
        <p:spPr>
          <a:xfrm>
            <a:off x="3333750" y="2857500"/>
            <a:ext cx="2476500" cy="228600"/>
          </a:xfrm>
          <a:prstGeom prst="rect">
            <a:avLst/>
          </a:prstGeom>
          <a:noFill/>
          <a:ln/>
        </p:spPr>
        <p:txBody>
          <a:bodyPr wrap="square" lIns="0" tIns="0" rIns="0" bIns="0" rtlCol="0" anchor="t"/>
          <a:lstStyle/>
          <a:p>
            <a:pPr algn="l" indent="0" marL="0">
              <a:lnSpc>
                <a:spcPts val="1693"/>
              </a:lnSpc>
              <a:buNone/>
            </a:pPr>
            <a:r>
              <a:rPr lang="en-US" sz="1568" b="1" spc="-24" kern="0" dirty="0">
                <a:solidFill>
                  <a:srgbClr val="F7F7F2">
                    <a:alpha val="99000"/>
                  </a:srgbClr>
                </a:solidFill>
                <a:latin typeface="Inter" pitchFamily="34" charset="0"/>
                <a:ea typeface="Inter" pitchFamily="34" charset="-122"/>
                <a:cs typeface="Inter" pitchFamily="34" charset="-120"/>
              </a:rPr>
              <a:t>Pix-native consumers</a:t>
            </a:r>
            <a:endParaRPr lang="en-US" sz="1568" dirty="0"/>
          </a:p>
        </p:txBody>
      </p:sp>
      <p:sp>
        <p:nvSpPr>
          <p:cNvPr id="29" name="Text 26"/>
          <p:cNvSpPr/>
          <p:nvPr/>
        </p:nvSpPr>
        <p:spPr>
          <a:xfrm>
            <a:off x="3333750" y="3219450"/>
            <a:ext cx="2381250" cy="528638"/>
          </a:xfrm>
          <a:prstGeom prst="rect">
            <a:avLst/>
          </a:prstGeom>
          <a:noFill/>
          <a:ln/>
        </p:spPr>
        <p:txBody>
          <a:bodyPr wrap="square" lIns="0" tIns="0" rIns="0" bIns="0" rtlCol="0" anchor="t"/>
          <a:lstStyle/>
          <a:p>
            <a:pPr algn="l" indent="0" marL="0">
              <a:lnSpc>
                <a:spcPts val="1315"/>
              </a:lnSpc>
              <a:buNone/>
            </a:pPr>
            <a:r>
              <a:rPr lang="en-US" sz="926" dirty="0">
                <a:solidFill>
                  <a:srgbClr val="B2BDB2">
                    <a:alpha val="99000"/>
                  </a:srgbClr>
                </a:solidFill>
                <a:latin typeface="Inter" pitchFamily="34" charset="0"/>
                <a:ea typeface="Inter" pitchFamily="34" charset="-122"/>
                <a:cs typeface="Inter" pitchFamily="34" charset="-120"/>
              </a:rPr>
              <a:t>People 18–35 who already pay everything by phone and are curious about crypto but want it simple.</a:t>
            </a:r>
            <a:endParaRPr lang="en-US" sz="926" dirty="0"/>
          </a:p>
        </p:txBody>
      </p:sp>
      <p:sp>
        <p:nvSpPr>
          <p:cNvPr id="30" name="Shape 27"/>
          <p:cNvSpPr/>
          <p:nvPr/>
        </p:nvSpPr>
        <p:spPr>
          <a:xfrm>
            <a:off x="6096000" y="2476500"/>
            <a:ext cx="2476500" cy="28575"/>
          </a:xfrm>
          <a:prstGeom prst="rect">
            <a:avLst/>
          </a:prstGeom>
          <a:solidFill>
            <a:srgbClr val="B2BDB2"/>
          </a:solidFill>
          <a:ln/>
        </p:spPr>
        <p:txBody>
          <a:bodyPr/>
          <a:p/>
        </p:txBody>
      </p:sp>
      <p:sp>
        <p:nvSpPr>
          <p:cNvPr id="39" name="TextBox 38"/>
          <p:cNvSpPr txBox="1"/>
          <p:nvPr/>
        </p:nvSpPr>
        <p:spPr>
          <a:xfrm>
            <a:off x="6096000" y="2647950"/>
            <a:ext cx="381762" cy="185115"/>
          </a:xfrm>
          <a:prstGeom prst="rect">
            <a:avLst/>
          </a:prstGeom>
          <a:noFill/>
        </p:spPr>
        <p:txBody>
          <a:bodyPr wrap="none" lIns="0" tIns="0" rIns="0" bIns="0">
            <a:noAutofit/>
          </a:bodyPr>
          <a:lstStyle/>
          <a:p>
            <a:pPr>
              <a:lnSpc>
                <a:spcPts val="956"/>
              </a:lnSpc>
              <a:defRPr sz="784" b="1">
                <a:solidFill>
                  <a:srgbClr val="B2BDB2"/>
                </a:solidFill>
                <a:latin typeface="JetBrains Mono"/>
              </a:defRPr>
            </a:pPr>
            <a:r>
              <a:t>EARLY</a:t>
            </a:r>
          </a:p>
        </p:txBody>
      </p:sp>
      <p:sp>
        <p:nvSpPr>
          <p:cNvPr id="32" name="Text 29"/>
          <p:cNvSpPr/>
          <p:nvPr/>
        </p:nvSpPr>
        <p:spPr>
          <a:xfrm>
            <a:off x="6096000" y="2857500"/>
            <a:ext cx="2476500" cy="228600"/>
          </a:xfrm>
          <a:prstGeom prst="rect">
            <a:avLst/>
          </a:prstGeom>
          <a:noFill/>
          <a:ln/>
        </p:spPr>
        <p:txBody>
          <a:bodyPr wrap="square" lIns="0" tIns="0" rIns="0" bIns="0" rtlCol="0" anchor="t"/>
          <a:lstStyle/>
          <a:p>
            <a:pPr algn="l" indent="0" marL="0">
              <a:lnSpc>
                <a:spcPts val="1693"/>
              </a:lnSpc>
              <a:buNone/>
            </a:pPr>
            <a:r>
              <a:rPr lang="en-US" sz="1568" b="1" spc="-24" kern="0" dirty="0">
                <a:solidFill>
                  <a:srgbClr val="F7F7F2">
                    <a:alpha val="99000"/>
                  </a:srgbClr>
                </a:solidFill>
                <a:latin typeface="Inter" pitchFamily="34" charset="0"/>
                <a:ea typeface="Inter" pitchFamily="34" charset="-122"/>
                <a:cs typeface="Inter" pitchFamily="34" charset="-120"/>
              </a:rPr>
              <a:t>Crypto holders</a:t>
            </a:r>
            <a:endParaRPr lang="en-US" sz="1568" dirty="0"/>
          </a:p>
        </p:txBody>
      </p:sp>
      <p:sp>
        <p:nvSpPr>
          <p:cNvPr id="33" name="Text 30"/>
          <p:cNvSpPr/>
          <p:nvPr/>
        </p:nvSpPr>
        <p:spPr>
          <a:xfrm>
            <a:off x="6096000" y="3219450"/>
            <a:ext cx="2381250" cy="528638"/>
          </a:xfrm>
          <a:prstGeom prst="rect">
            <a:avLst/>
          </a:prstGeom>
          <a:noFill/>
          <a:ln/>
        </p:spPr>
        <p:txBody>
          <a:bodyPr wrap="square" lIns="0" tIns="0" rIns="0" bIns="0" rtlCol="0" anchor="t"/>
          <a:lstStyle/>
          <a:p>
            <a:pPr algn="l" indent="0" marL="0">
              <a:lnSpc>
                <a:spcPts val="1315"/>
              </a:lnSpc>
              <a:buNone/>
            </a:pPr>
            <a:r>
              <a:rPr lang="en-US" sz="926" dirty="0">
                <a:solidFill>
                  <a:srgbClr val="B2BDB2">
                    <a:alpha val="99000"/>
                  </a:srgbClr>
                </a:solidFill>
                <a:latin typeface="Inter" pitchFamily="34" charset="0"/>
                <a:ea typeface="Inter" pitchFamily="34" charset="-122"/>
                <a:cs typeface="Inter" pitchFamily="34" charset="-120"/>
              </a:rPr>
              <a:t>Solana users who want to actually spend: pay a Blink from Phantom, earn cashback on real purchases.</a:t>
            </a:r>
            <a:endParaRPr lang="en-US" sz="926" dirty="0"/>
          </a:p>
        </p:txBody>
      </p:sp>
      <p:sp>
        <p:nvSpPr>
          <p:cNvPr id="40" name="TextBox 39"/>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41" name="TextBox 40"/>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2"/>
        </a:solidFill>
      </p:bgPr>
    </p:bg>
    <p:spTree>
      <p:nvGrpSpPr>
        <p:cNvPr id="1" name=""/>
        <p:cNvGrpSpPr/>
        <p:nvPr/>
      </p:nvGrpSpPr>
      <p:grpSpPr>
        <a:xfrm>
          <a:off x="0" y="0"/>
          <a:ext cx="0" cy="0"/>
          <a:chOff x="0" y="0"/>
          <a:chExt cx="0" cy="0"/>
        </a:xfrm>
      </p:grpSpPr>
      <p:sp>
        <p:nvSpPr>
          <p:cNvPr id="41" name="TextBox 40"/>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08 — BUSINESS MODEL</a:t>
            </a:r>
          </a:p>
        </p:txBody>
      </p:sp>
      <p:sp>
        <p:nvSpPr>
          <p:cNvPr id="23" name="Text 20"/>
          <p:cNvSpPr/>
          <p:nvPr/>
        </p:nvSpPr>
        <p:spPr>
          <a:xfrm>
            <a:off x="571500" y="809625"/>
            <a:ext cx="3619500" cy="14478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Cheaper for the</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merchant. Sustainable</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for the network.</a:t>
            </a:r>
            <a:endParaRPr lang="en-US" sz="2708" dirty="0"/>
          </a:p>
        </p:txBody>
      </p:sp>
      <p:sp>
        <p:nvSpPr>
          <p:cNvPr id="24" name="Shape 21"/>
          <p:cNvSpPr/>
          <p:nvPr/>
        </p:nvSpPr>
        <p:spPr>
          <a:xfrm>
            <a:off x="4572000" y="809625"/>
            <a:ext cx="4000500" cy="14288"/>
          </a:xfrm>
          <a:prstGeom prst="rect">
            <a:avLst/>
          </a:prstGeom>
          <a:solidFill>
            <a:srgbClr val="0E130F"/>
          </a:solidFill>
          <a:ln/>
        </p:spPr>
        <p:txBody>
          <a:bodyPr/>
          <a:p/>
        </p:txBody>
      </p:sp>
      <p:sp>
        <p:nvSpPr>
          <p:cNvPr id="25" name="Text 22"/>
          <p:cNvSpPr/>
          <p:nvPr/>
        </p:nvSpPr>
        <p:spPr>
          <a:xfrm>
            <a:off x="4572000" y="904875"/>
            <a:ext cx="1428750" cy="762000"/>
          </a:xfrm>
          <a:prstGeom prst="rect">
            <a:avLst/>
          </a:prstGeom>
          <a:noFill/>
          <a:ln/>
        </p:spPr>
        <p:txBody>
          <a:bodyPr wrap="square" lIns="0" tIns="0" rIns="0" bIns="0" rtlCol="0" anchor="t"/>
          <a:lstStyle/>
          <a:p>
            <a:pPr algn="l" indent="0" marL="0">
              <a:lnSpc>
                <a:spcPts val="5691"/>
              </a:lnSpc>
              <a:buNone/>
            </a:pPr>
            <a:r>
              <a:rPr lang="en-US" sz="4703" b="1" spc="-188" kern="0" dirty="0">
                <a:solidFill>
                  <a:srgbClr val="0E130F">
                    <a:alpha val="99000"/>
                  </a:srgbClr>
                </a:solidFill>
                <a:latin typeface="Inter" pitchFamily="34" charset="0"/>
                <a:ea typeface="Inter" pitchFamily="34" charset="-122"/>
                <a:cs typeface="Inter" pitchFamily="34" charset="-120"/>
              </a:rPr>
              <a:t>0%</a:t>
            </a:r>
            <a:endParaRPr lang="en-US" sz="4703" dirty="0"/>
          </a:p>
        </p:txBody>
      </p:sp>
      <p:sp>
        <p:nvSpPr>
          <p:cNvPr id="26" name="Text 23"/>
          <p:cNvSpPr/>
          <p:nvPr/>
        </p:nvSpPr>
        <p:spPr>
          <a:xfrm>
            <a:off x="6096000" y="1019175"/>
            <a:ext cx="2476500" cy="176213"/>
          </a:xfrm>
          <a:prstGeom prst="rect">
            <a:avLst/>
          </a:prstGeom>
          <a:noFill/>
          <a:ln/>
        </p:spPr>
        <p:txBody>
          <a:bodyPr wrap="square" lIns="0" tIns="0" rIns="0" bIns="0" rtlCol="0" anchor="t"/>
          <a:lstStyle/>
          <a:p>
            <a:pPr algn="l" indent="0" marL="0">
              <a:lnSpc>
                <a:spcPts val="1311"/>
              </a:lnSpc>
              <a:buNone/>
            </a:pPr>
            <a:r>
              <a:rPr lang="en-US" sz="1140" b="1" spc="-6" kern="0" dirty="0">
                <a:solidFill>
                  <a:srgbClr val="0E130F">
                    <a:alpha val="99000"/>
                  </a:srgbClr>
                </a:solidFill>
                <a:latin typeface="Inter" pitchFamily="34" charset="0"/>
                <a:ea typeface="Inter" pitchFamily="34" charset="-122"/>
                <a:cs typeface="Inter" pitchFamily="34" charset="-120"/>
              </a:rPr>
              <a:t>to receive a payment</a:t>
            </a:r>
            <a:endParaRPr lang="en-US" sz="1140" dirty="0"/>
          </a:p>
        </p:txBody>
      </p:sp>
      <p:sp>
        <p:nvSpPr>
          <p:cNvPr id="27" name="Text 24"/>
          <p:cNvSpPr/>
          <p:nvPr/>
        </p:nvSpPr>
        <p:spPr>
          <a:xfrm>
            <a:off x="6096000" y="1266825"/>
            <a:ext cx="2476500" cy="323850"/>
          </a:xfrm>
          <a:prstGeom prst="rect">
            <a:avLst/>
          </a:prstGeom>
          <a:noFill/>
          <a:ln/>
        </p:spPr>
        <p:txBody>
          <a:bodyPr wrap="square" lIns="0" tIns="0" rIns="0" bIns="0" rtlCol="0" anchor="t"/>
          <a:lstStyle/>
          <a:p>
            <a:pPr algn="l" indent="0" marL="0">
              <a:lnSpc>
                <a:spcPts val="1197"/>
              </a:lnSpc>
              <a:buNone/>
            </a:pPr>
            <a:r>
              <a:rPr lang="en-US" sz="855" dirty="0">
                <a:solidFill>
                  <a:srgbClr val="545C54">
                    <a:alpha val="99000"/>
                  </a:srgbClr>
                </a:solidFill>
                <a:latin typeface="Inter" pitchFamily="34" charset="0"/>
                <a:ea typeface="Inter" pitchFamily="34" charset="-122"/>
                <a:cs typeface="Inter" pitchFamily="34" charset="-120"/>
              </a:rPr>
              <a:t>Merchants keep the full sale. No machine rental, no waiting days.</a:t>
            </a:r>
            <a:endParaRPr lang="en-US" sz="855" dirty="0"/>
          </a:p>
        </p:txBody>
      </p:sp>
      <p:sp>
        <p:nvSpPr>
          <p:cNvPr id="28" name="Shape 25"/>
          <p:cNvSpPr/>
          <p:nvPr/>
        </p:nvSpPr>
        <p:spPr>
          <a:xfrm>
            <a:off x="4572000" y="2000250"/>
            <a:ext cx="4000500" cy="14288"/>
          </a:xfrm>
          <a:prstGeom prst="rect">
            <a:avLst/>
          </a:prstGeom>
          <a:solidFill>
            <a:srgbClr val="0E130F"/>
          </a:solidFill>
          <a:ln/>
        </p:spPr>
        <p:txBody>
          <a:bodyPr/>
          <a:p/>
        </p:txBody>
      </p:sp>
      <p:sp>
        <p:nvSpPr>
          <p:cNvPr id="29" name="Text 26"/>
          <p:cNvSpPr/>
          <p:nvPr/>
        </p:nvSpPr>
        <p:spPr>
          <a:xfrm>
            <a:off x="4572000" y="2095500"/>
            <a:ext cx="1428750" cy="762000"/>
          </a:xfrm>
          <a:prstGeom prst="rect">
            <a:avLst/>
          </a:prstGeom>
          <a:noFill/>
          <a:ln/>
        </p:spPr>
        <p:txBody>
          <a:bodyPr wrap="square" lIns="0" tIns="0" rIns="0" bIns="0" rtlCol="0" anchor="t"/>
          <a:lstStyle/>
          <a:p>
            <a:pPr algn="l" indent="0" marL="0">
              <a:lnSpc>
                <a:spcPts val="5691"/>
              </a:lnSpc>
              <a:buNone/>
            </a:pPr>
            <a:r>
              <a:rPr lang="en-US" sz="4703" b="1" spc="-188" kern="0" dirty="0">
                <a:solidFill>
                  <a:srgbClr val="0E130F">
                    <a:alpha val="99000"/>
                  </a:srgbClr>
                </a:solidFill>
                <a:latin typeface="Inter" pitchFamily="34" charset="0"/>
                <a:ea typeface="Inter" pitchFamily="34" charset="-122"/>
                <a:cs typeface="Inter" pitchFamily="34" charset="-120"/>
              </a:rPr>
              <a:t>5%</a:t>
            </a:r>
            <a:endParaRPr lang="en-US" sz="4703" dirty="0"/>
          </a:p>
        </p:txBody>
      </p:sp>
      <p:sp>
        <p:nvSpPr>
          <p:cNvPr id="30" name="Text 27"/>
          <p:cNvSpPr/>
          <p:nvPr/>
        </p:nvSpPr>
        <p:spPr>
          <a:xfrm>
            <a:off x="6096000" y="2209800"/>
            <a:ext cx="2476500" cy="176213"/>
          </a:xfrm>
          <a:prstGeom prst="rect">
            <a:avLst/>
          </a:prstGeom>
          <a:noFill/>
          <a:ln/>
        </p:spPr>
        <p:txBody>
          <a:bodyPr wrap="square" lIns="0" tIns="0" rIns="0" bIns="0" rtlCol="0" anchor="t"/>
          <a:lstStyle/>
          <a:p>
            <a:pPr algn="l" indent="0" marL="0">
              <a:lnSpc>
                <a:spcPts val="1311"/>
              </a:lnSpc>
              <a:buNone/>
            </a:pPr>
            <a:r>
              <a:rPr lang="en-US" sz="1140" b="1" spc="-6" kern="0" dirty="0">
                <a:solidFill>
                  <a:srgbClr val="0E130F">
                    <a:alpha val="99000"/>
                  </a:srgbClr>
                </a:solidFill>
                <a:latin typeface="Inter" pitchFamily="34" charset="0"/>
                <a:ea typeface="Inter" pitchFamily="34" charset="-122"/>
                <a:cs typeface="Inter" pitchFamily="34" charset="-120"/>
              </a:rPr>
              <a:t>only when cashing out to Pix</a:t>
            </a:r>
            <a:endParaRPr lang="en-US" sz="1140" dirty="0"/>
          </a:p>
        </p:txBody>
      </p:sp>
      <p:sp>
        <p:nvSpPr>
          <p:cNvPr id="31" name="Text 28"/>
          <p:cNvSpPr/>
          <p:nvPr/>
        </p:nvSpPr>
        <p:spPr>
          <a:xfrm>
            <a:off x="6096000" y="2457450"/>
            <a:ext cx="2476500" cy="323850"/>
          </a:xfrm>
          <a:prstGeom prst="rect">
            <a:avLst/>
          </a:prstGeom>
          <a:noFill/>
          <a:ln/>
        </p:spPr>
        <p:txBody>
          <a:bodyPr wrap="square" lIns="0" tIns="0" rIns="0" bIns="0" rtlCol="0" anchor="t"/>
          <a:lstStyle/>
          <a:p>
            <a:pPr algn="l" indent="0" marL="0">
              <a:lnSpc>
                <a:spcPts val="1197"/>
              </a:lnSpc>
              <a:buNone/>
            </a:pPr>
            <a:r>
              <a:rPr lang="en-US" sz="855" dirty="0">
                <a:solidFill>
                  <a:srgbClr val="545C54">
                    <a:alpha val="99000"/>
                  </a:srgbClr>
                </a:solidFill>
                <a:latin typeface="Inter" pitchFamily="34" charset="0"/>
                <a:ea typeface="Inter" pitchFamily="34" charset="-122"/>
                <a:cs typeface="Inter" pitchFamily="34" charset="-120"/>
              </a:rPr>
              <a:t>Merchants choose when to convert. Many keep SIMPAY to spend in the network.</a:t>
            </a:r>
            <a:endParaRPr lang="en-US" sz="855" dirty="0"/>
          </a:p>
        </p:txBody>
      </p:sp>
      <p:sp>
        <p:nvSpPr>
          <p:cNvPr id="32" name="Shape 29"/>
          <p:cNvSpPr/>
          <p:nvPr/>
        </p:nvSpPr>
        <p:spPr>
          <a:xfrm>
            <a:off x="4572000" y="3190875"/>
            <a:ext cx="4000500" cy="14288"/>
          </a:xfrm>
          <a:prstGeom prst="rect">
            <a:avLst/>
          </a:prstGeom>
          <a:solidFill>
            <a:srgbClr val="0E130F"/>
          </a:solidFill>
          <a:ln/>
        </p:spPr>
        <p:txBody>
          <a:bodyPr/>
          <a:p/>
        </p:txBody>
      </p:sp>
      <p:sp>
        <p:nvSpPr>
          <p:cNvPr id="33" name="Text 30"/>
          <p:cNvSpPr/>
          <p:nvPr/>
        </p:nvSpPr>
        <p:spPr>
          <a:xfrm>
            <a:off x="4572000" y="3286125"/>
            <a:ext cx="1428750" cy="762000"/>
          </a:xfrm>
          <a:prstGeom prst="rect">
            <a:avLst/>
          </a:prstGeom>
          <a:noFill/>
          <a:ln/>
        </p:spPr>
        <p:txBody>
          <a:bodyPr wrap="square" lIns="0" tIns="0" rIns="0" bIns="0" rtlCol="0" anchor="t"/>
          <a:lstStyle/>
          <a:p>
            <a:pPr algn="l" indent="0" marL="0">
              <a:lnSpc>
                <a:spcPts val="5691"/>
              </a:lnSpc>
              <a:buNone/>
            </a:pPr>
            <a:r>
              <a:rPr lang="en-US" sz="4703" b="1" spc="-188" kern="0" dirty="0">
                <a:solidFill>
                  <a:srgbClr val="0E130F">
                    <a:alpha val="99000"/>
                  </a:srgbClr>
                </a:solidFill>
                <a:latin typeface="Inter" pitchFamily="34" charset="0"/>
                <a:ea typeface="Inter" pitchFamily="34" charset="-122"/>
                <a:cs typeface="Inter" pitchFamily="34" charset="-120"/>
              </a:rPr>
              <a:t>+</a:t>
            </a:r>
            <a:endParaRPr lang="en-US" sz="4703" dirty="0"/>
          </a:p>
        </p:txBody>
      </p:sp>
      <p:sp>
        <p:nvSpPr>
          <p:cNvPr id="34" name="Text 31"/>
          <p:cNvSpPr/>
          <p:nvPr/>
        </p:nvSpPr>
        <p:spPr>
          <a:xfrm>
            <a:off x="6096000" y="3400425"/>
            <a:ext cx="2476500" cy="176213"/>
          </a:xfrm>
          <a:prstGeom prst="rect">
            <a:avLst/>
          </a:prstGeom>
          <a:noFill/>
          <a:ln/>
        </p:spPr>
        <p:txBody>
          <a:bodyPr wrap="square" lIns="0" tIns="0" rIns="0" bIns="0" rtlCol="0" anchor="t"/>
          <a:lstStyle/>
          <a:p>
            <a:pPr algn="l" indent="0" marL="0">
              <a:lnSpc>
                <a:spcPts val="1311"/>
              </a:lnSpc>
              <a:buNone/>
            </a:pPr>
            <a:r>
              <a:rPr lang="en-US" sz="1140" b="1" spc="-6" kern="0" dirty="0">
                <a:solidFill>
                  <a:srgbClr val="0E130F">
                    <a:alpha val="99000"/>
                  </a:srgbClr>
                </a:solidFill>
                <a:latin typeface="Inter" pitchFamily="34" charset="0"/>
                <a:ea typeface="Inter" pitchFamily="34" charset="-122"/>
                <a:cs typeface="Inter" pitchFamily="34" charset="-120"/>
              </a:rPr>
              <a:t>service fee on Pix purchases</a:t>
            </a:r>
            <a:endParaRPr lang="en-US" sz="1140" dirty="0"/>
          </a:p>
        </p:txBody>
      </p:sp>
      <p:sp>
        <p:nvSpPr>
          <p:cNvPr id="35" name="Text 32"/>
          <p:cNvSpPr/>
          <p:nvPr/>
        </p:nvSpPr>
        <p:spPr>
          <a:xfrm>
            <a:off x="6096000" y="3648075"/>
            <a:ext cx="2476500" cy="323850"/>
          </a:xfrm>
          <a:prstGeom prst="rect">
            <a:avLst/>
          </a:prstGeom>
          <a:noFill/>
          <a:ln/>
        </p:spPr>
        <p:txBody>
          <a:bodyPr wrap="square" lIns="0" tIns="0" rIns="0" bIns="0" rtlCol="0" anchor="t"/>
          <a:lstStyle/>
          <a:p>
            <a:pPr algn="l" indent="0" marL="0">
              <a:lnSpc>
                <a:spcPts val="1197"/>
              </a:lnSpc>
              <a:buNone/>
            </a:pPr>
            <a:r>
              <a:rPr lang="en-US" sz="855" dirty="0">
                <a:solidFill>
                  <a:srgbClr val="545C54">
                    <a:alpha val="99000"/>
                  </a:srgbClr>
                </a:solidFill>
                <a:latin typeface="Inter" pitchFamily="34" charset="0"/>
                <a:ea typeface="Inter" pitchFamily="34" charset="-122"/>
                <a:cs typeface="Inter" pitchFamily="34" charset="-120"/>
              </a:rPr>
              <a:t>Consumers buy SIMPAY with Pix; a small fee funds operations.</a:t>
            </a:r>
            <a:endParaRPr lang="en-US" sz="855" dirty="0"/>
          </a:p>
        </p:txBody>
      </p:sp>
      <p:sp>
        <p:nvSpPr>
          <p:cNvPr id="36" name="Text 33"/>
          <p:cNvSpPr/>
          <p:nvPr/>
        </p:nvSpPr>
        <p:spPr>
          <a:xfrm>
            <a:off x="571500" y="4142232"/>
            <a:ext cx="3611880" cy="557213"/>
          </a:xfrm>
          <a:prstGeom prst="rect">
            <a:avLst/>
          </a:prstGeom>
          <a:noFill/>
          <a:ln/>
        </p:spPr>
        <p:txBody>
          <a:bodyPr wrap="square" lIns="0" tIns="0" rIns="0" bIns="0" rtlCol="0" anchor="t"/>
          <a:lstStyle/>
          <a:p>
            <a:pPr algn="l" indent="0" marL="0">
              <a:lnSpc>
                <a:spcPts val="1397"/>
              </a:lnSpc>
              <a:buNone/>
            </a:pPr>
            <a:r>
              <a:rPr lang="en-US" sz="855" dirty="0">
                <a:solidFill>
                  <a:srgbClr val="545C54">
                    <a:alpha val="99000"/>
                  </a:srgbClr>
                </a:solidFill>
                <a:latin typeface="Inter" pitchFamily="34" charset="0"/>
                <a:ea typeface="Inter" pitchFamily="34" charset="-122"/>
                <a:cs typeface="Inter" pitchFamily="34" charset="-120"/>
              </a:rPr>
              <a:t>Cashback and referrals: funded by the 20% rewards allocation.</a:t>
            </a:r>
            <a:endParaRPr lang="en-US" sz="998" dirty="0"/>
          </a:p>
        </p:txBody>
      </p:sp>
      <p:sp>
        <p:nvSpPr>
          <p:cNvPr id="42" name="TextBox 4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43" name="TextBox 4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09</a:t>
            </a:r>
          </a:p>
        </p:txBody>
      </p:sp>
      <p:pic>
        <p:nvPicPr>
          <p:cNvPr id="39" name="simulator-en.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71500" y="2395728"/>
            <a:ext cx="3611880" cy="1473906"/>
          </a:xfrm>
          <a:prstGeom prst="rect">
            <a:avLst/>
          </a:prstGeom>
        </p:spPr>
      </p:pic>
      <p:sp>
        <p:nvSpPr>
          <p:cNvPr id="40" name="TextBox 39"/>
          <p:cNvSpPr txBox="1"/>
          <p:nvPr/>
        </p:nvSpPr>
        <p:spPr>
          <a:xfrm>
            <a:off x="571500" y="2185416"/>
            <a:ext cx="3611880" cy="137160"/>
          </a:xfrm>
          <a:prstGeom prst="rect">
            <a:avLst/>
          </a:prstGeom>
          <a:noFill/>
        </p:spPr>
        <p:txBody>
          <a:bodyPr wrap="square" lIns="0" tIns="0" rIns="0" bIns="0">
            <a:noAutofit/>
          </a:bodyPr>
          <a:lstStyle/>
          <a:p>
            <a:pPr>
              <a:lnSpc>
                <a:spcPts val="878"/>
              </a:lnSpc>
              <a:defRPr sz="720" b="0">
                <a:solidFill>
                  <a:srgbClr val="545C54"/>
                </a:solidFill>
                <a:latin typeface="JetBrains Mono"/>
              </a:defRPr>
            </a:pPr>
            <a:r>
              <a:rPr/>
              <a:t>WEBSITE SIMULATOR · 5s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9"/>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BDF06B"/>
        </a:solidFill>
      </p:bgPr>
    </p:bg>
    <p:spTree>
      <p:nvGrpSpPr>
        <p:cNvPr id="1" name=""/>
        <p:cNvGrpSpPr/>
        <p:nvPr/>
      </p:nvGrpSpPr>
      <p:grpSpPr>
        <a:xfrm>
          <a:off x="0" y="0"/>
          <a:ext cx="0" cy="0"/>
          <a:chOff x="0" y="0"/>
          <a:chExt cx="0" cy="0"/>
        </a:xfrm>
      </p:grpSpPr>
      <p:sp>
        <p:nvSpPr>
          <p:cNvPr id="38" name="TextBox 37"/>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0E130F"/>
                </a:solidFill>
                <a:latin typeface="JetBrains Mono"/>
              </a:defRPr>
            </a:pPr>
            <a:r>
              <a:t>09 — TRACTION PLAN</a:t>
            </a:r>
          </a:p>
        </p:txBody>
      </p:sp>
      <p:sp>
        <p:nvSpPr>
          <p:cNvPr id="20" name="Text 17"/>
          <p:cNvSpPr/>
          <p:nvPr/>
        </p:nvSpPr>
        <p:spPr>
          <a:xfrm>
            <a:off x="571500" y="809625"/>
            <a:ext cx="6667500" cy="762000"/>
          </a:xfrm>
          <a:prstGeom prst="rect">
            <a:avLst/>
          </a:prstGeom>
          <a:noFill/>
          <a:ln/>
        </p:spPr>
        <p:txBody>
          <a:bodyPr wrap="square" lIns="0" tIns="0" rIns="0" bIns="0" rtlCol="0" anchor="t"/>
          <a:lstStyle/>
          <a:p>
            <a:pPr algn="l" indent="0" marL="0">
              <a:lnSpc>
                <a:spcPts val="2850"/>
              </a:lnSpc>
              <a:buNone/>
            </a:pPr>
            <a:r>
              <a:rPr lang="en-US" sz="2850" b="1" spc="-85" kern="0" dirty="0">
                <a:solidFill>
                  <a:srgbClr val="0E130F">
                    <a:alpha val="99000"/>
                  </a:srgbClr>
                </a:solidFill>
                <a:latin typeface="Inter" pitchFamily="34" charset="0"/>
                <a:ea typeface="Inter" pitchFamily="34" charset="-122"/>
                <a:cs typeface="Inter" pitchFamily="34" charset="-120"/>
              </a:rPr>
              <a:t>A growth loop built</a:t>
            </a:r>
            <a:endParaRPr lang="en-US" sz="2850" dirty="0"/>
          </a:p>
          <a:p>
            <a:pPr algn="l" indent="0" marL="0">
              <a:lnSpc>
                <a:spcPts val="2850"/>
              </a:lnSpc>
              <a:buNone/>
            </a:pPr>
            <a:r>
              <a:rPr lang="en-US" sz="2850" b="1" spc="-85" kern="0" dirty="0">
                <a:solidFill>
                  <a:srgbClr val="0E130F">
                    <a:alpha val="99000"/>
                  </a:srgbClr>
                </a:solidFill>
                <a:latin typeface="Inter" pitchFamily="34" charset="0"/>
                <a:ea typeface="Inter" pitchFamily="34" charset="-122"/>
                <a:cs typeface="Inter" pitchFamily="34" charset="-120"/>
              </a:rPr>
              <a:t>into the product.</a:t>
            </a:r>
            <a:endParaRPr lang="en-US" sz="2850" dirty="0"/>
          </a:p>
        </p:txBody>
      </p:sp>
      <p:sp>
        <p:nvSpPr>
          <p:cNvPr id="21" name="Text 18"/>
          <p:cNvSpPr/>
          <p:nvPr/>
        </p:nvSpPr>
        <p:spPr>
          <a:xfrm>
            <a:off x="571500"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1</a:t>
            </a:r>
            <a:endParaRPr lang="en-US" sz="4275" dirty="0"/>
          </a:p>
        </p:txBody>
      </p:sp>
      <p:sp>
        <p:nvSpPr>
          <p:cNvPr id="22" name="Text 19"/>
          <p:cNvSpPr/>
          <p:nvPr/>
        </p:nvSpPr>
        <p:spPr>
          <a:xfrm>
            <a:off x="571500"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Pilot merchants</a:t>
            </a:r>
            <a:endParaRPr lang="en-US" sz="1211" dirty="0"/>
          </a:p>
        </p:txBody>
      </p:sp>
      <p:sp>
        <p:nvSpPr>
          <p:cNvPr id="23" name="Text 20"/>
          <p:cNvSpPr/>
          <p:nvPr/>
        </p:nvSpPr>
        <p:spPr>
          <a:xfrm>
            <a:off x="571500" y="3333750"/>
            <a:ext cx="1714500" cy="485775"/>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Hand-onboard cafés and local shops with NFC tags and a 5-minute setup.</a:t>
            </a:r>
            <a:endParaRPr lang="en-US" sz="855" dirty="0"/>
          </a:p>
        </p:txBody>
      </p:sp>
      <p:sp>
        <p:nvSpPr>
          <p:cNvPr id="24" name="Text 21"/>
          <p:cNvSpPr/>
          <p:nvPr/>
        </p:nvSpPr>
        <p:spPr>
          <a:xfrm>
            <a:off x="2143125" y="2381250"/>
            <a:ext cx="295275" cy="366713"/>
          </a:xfrm>
          <a:prstGeom prst="rect">
            <a:avLst/>
          </a:prstGeom>
          <a:noFill/>
          <a:ln/>
        </p:spPr>
        <p:txBody>
          <a:bodyPr wrap="square" lIns="0" tIns="0" rIns="0" bIns="0" rtlCol="0" anchor="t"/>
          <a:lstStyle/>
          <a:p>
            <a:pPr algn="l" indent="0" marL="0">
              <a:lnSpc>
                <a:spcPts val="2759"/>
              </a:lnSpc>
              <a:buNone/>
            </a:pPr>
            <a:r>
              <a:rPr lang="en-US" sz="2280" b="1" dirty="0">
                <a:solidFill>
                  <a:srgbClr val="0E130F">
                    <a:alpha val="99000"/>
                  </a:srgbClr>
                </a:solidFill>
                <a:latin typeface="Inter" pitchFamily="34" charset="0"/>
                <a:ea typeface="Inter" pitchFamily="34" charset="-122"/>
                <a:cs typeface="Inter" pitchFamily="34" charset="-120"/>
              </a:rPr>
              <a:t>→</a:t>
            </a:r>
            <a:endParaRPr lang="en-US" sz="2280" dirty="0"/>
          </a:p>
        </p:txBody>
      </p:sp>
      <p:sp>
        <p:nvSpPr>
          <p:cNvPr id="25" name="Text 22"/>
          <p:cNvSpPr/>
          <p:nvPr/>
        </p:nvSpPr>
        <p:spPr>
          <a:xfrm>
            <a:off x="2619375"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2</a:t>
            </a:r>
            <a:endParaRPr lang="en-US" sz="4275" dirty="0"/>
          </a:p>
        </p:txBody>
      </p:sp>
      <p:sp>
        <p:nvSpPr>
          <p:cNvPr id="26" name="Text 23"/>
          <p:cNvSpPr/>
          <p:nvPr/>
        </p:nvSpPr>
        <p:spPr>
          <a:xfrm>
            <a:off x="2619375"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Merchant → merchant</a:t>
            </a:r>
            <a:endParaRPr lang="en-US" sz="1211" dirty="0"/>
          </a:p>
        </p:txBody>
      </p:sp>
      <p:sp>
        <p:nvSpPr>
          <p:cNvPr id="27" name="Text 24"/>
          <p:cNvSpPr/>
          <p:nvPr/>
        </p:nvSpPr>
        <p:spPr>
          <a:xfrm>
            <a:off x="2619375" y="3333750"/>
            <a:ext cx="1714500" cy="485775"/>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Each merchant gets a code. Both earn SIMPAY after the new shop’s first sales.</a:t>
            </a:r>
            <a:endParaRPr lang="en-US" sz="855" dirty="0"/>
          </a:p>
        </p:txBody>
      </p:sp>
      <p:sp>
        <p:nvSpPr>
          <p:cNvPr id="28" name="Text 25"/>
          <p:cNvSpPr/>
          <p:nvPr/>
        </p:nvSpPr>
        <p:spPr>
          <a:xfrm>
            <a:off x="4191000" y="2381250"/>
            <a:ext cx="295275" cy="366713"/>
          </a:xfrm>
          <a:prstGeom prst="rect">
            <a:avLst/>
          </a:prstGeom>
          <a:noFill/>
          <a:ln/>
        </p:spPr>
        <p:txBody>
          <a:bodyPr wrap="square" lIns="0" tIns="0" rIns="0" bIns="0" rtlCol="0" anchor="t"/>
          <a:lstStyle/>
          <a:p>
            <a:pPr algn="l" indent="0" marL="0">
              <a:lnSpc>
                <a:spcPts val="2759"/>
              </a:lnSpc>
              <a:buNone/>
            </a:pPr>
            <a:r>
              <a:rPr lang="en-US" sz="2280" b="1" dirty="0">
                <a:solidFill>
                  <a:srgbClr val="0E130F">
                    <a:alpha val="99000"/>
                  </a:srgbClr>
                </a:solidFill>
                <a:latin typeface="Inter" pitchFamily="34" charset="0"/>
                <a:ea typeface="Inter" pitchFamily="34" charset="-122"/>
                <a:cs typeface="Inter" pitchFamily="34" charset="-120"/>
              </a:rPr>
              <a:t>→</a:t>
            </a:r>
            <a:endParaRPr lang="en-US" sz="2280" dirty="0"/>
          </a:p>
        </p:txBody>
      </p:sp>
      <p:sp>
        <p:nvSpPr>
          <p:cNvPr id="29" name="Text 26"/>
          <p:cNvSpPr/>
          <p:nvPr/>
        </p:nvSpPr>
        <p:spPr>
          <a:xfrm>
            <a:off x="4667250"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3</a:t>
            </a:r>
            <a:endParaRPr lang="en-US" sz="4275" dirty="0"/>
          </a:p>
        </p:txBody>
      </p:sp>
      <p:sp>
        <p:nvSpPr>
          <p:cNvPr id="30" name="Text 27"/>
          <p:cNvSpPr/>
          <p:nvPr/>
        </p:nvSpPr>
        <p:spPr>
          <a:xfrm>
            <a:off x="4667250"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Customer → customer</a:t>
            </a:r>
            <a:endParaRPr lang="en-US" sz="1211" dirty="0"/>
          </a:p>
        </p:txBody>
      </p:sp>
      <p:sp>
        <p:nvSpPr>
          <p:cNvPr id="31" name="Text 28"/>
          <p:cNvSpPr/>
          <p:nvPr/>
        </p:nvSpPr>
        <p:spPr>
          <a:xfrm>
            <a:off x="4667250" y="3333750"/>
            <a:ext cx="1714500" cy="647700"/>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Cashback on every purchase plus invite codes. Rewards unlock on the first real payment.</a:t>
            </a:r>
            <a:endParaRPr lang="en-US" sz="855" dirty="0"/>
          </a:p>
        </p:txBody>
      </p:sp>
      <p:sp>
        <p:nvSpPr>
          <p:cNvPr id="32" name="Text 29"/>
          <p:cNvSpPr/>
          <p:nvPr/>
        </p:nvSpPr>
        <p:spPr>
          <a:xfrm>
            <a:off x="6238875" y="2381250"/>
            <a:ext cx="295275" cy="366713"/>
          </a:xfrm>
          <a:prstGeom prst="rect">
            <a:avLst/>
          </a:prstGeom>
          <a:noFill/>
          <a:ln/>
        </p:spPr>
        <p:txBody>
          <a:bodyPr wrap="square" lIns="0" tIns="0" rIns="0" bIns="0" rtlCol="0" anchor="t"/>
          <a:lstStyle/>
          <a:p>
            <a:pPr algn="l" indent="0" marL="0">
              <a:lnSpc>
                <a:spcPts val="2759"/>
              </a:lnSpc>
              <a:buNone/>
            </a:pPr>
            <a:r>
              <a:rPr lang="en-US" sz="2280" b="1" dirty="0">
                <a:solidFill>
                  <a:srgbClr val="0E130F">
                    <a:alpha val="99000"/>
                  </a:srgbClr>
                </a:solidFill>
                <a:latin typeface="Inter" pitchFamily="34" charset="0"/>
                <a:ea typeface="Inter" pitchFamily="34" charset="-122"/>
                <a:cs typeface="Inter" pitchFamily="34" charset="-120"/>
              </a:rPr>
              <a:t>→</a:t>
            </a:r>
            <a:endParaRPr lang="en-US" sz="2280" dirty="0"/>
          </a:p>
        </p:txBody>
      </p:sp>
      <p:sp>
        <p:nvSpPr>
          <p:cNvPr id="33" name="Text 30"/>
          <p:cNvSpPr/>
          <p:nvPr/>
        </p:nvSpPr>
        <p:spPr>
          <a:xfrm>
            <a:off x="6715125"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4</a:t>
            </a:r>
            <a:endParaRPr lang="en-US" sz="4275" dirty="0"/>
          </a:p>
        </p:txBody>
      </p:sp>
      <p:sp>
        <p:nvSpPr>
          <p:cNvPr id="34" name="Text 31"/>
          <p:cNvSpPr/>
          <p:nvPr/>
        </p:nvSpPr>
        <p:spPr>
          <a:xfrm>
            <a:off x="6715125"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Blinks everywhere</a:t>
            </a:r>
            <a:endParaRPr lang="en-US" sz="1211" dirty="0"/>
          </a:p>
        </p:txBody>
      </p:sp>
      <p:sp>
        <p:nvSpPr>
          <p:cNvPr id="35" name="Text 32"/>
          <p:cNvSpPr/>
          <p:nvPr/>
        </p:nvSpPr>
        <p:spPr>
          <a:xfrm>
            <a:off x="6715125" y="3333750"/>
            <a:ext cx="1714500" cy="485775"/>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Till links shared on X, WhatsApp and Phantom bring crypto users to the counter.</a:t>
            </a:r>
            <a:endParaRPr lang="en-US" sz="855" dirty="0"/>
          </a:p>
        </p:txBody>
      </p:sp>
      <p:sp>
        <p:nvSpPr>
          <p:cNvPr id="36" name="Shape 33"/>
          <p:cNvSpPr/>
          <p:nvPr/>
        </p:nvSpPr>
        <p:spPr>
          <a:xfrm>
            <a:off x="571500" y="4286250"/>
            <a:ext cx="8001000" cy="14288"/>
          </a:xfrm>
          <a:prstGeom prst="rect">
            <a:avLst/>
          </a:prstGeom>
          <a:solidFill>
            <a:srgbClr val="0E130F"/>
          </a:solidFill>
          <a:ln/>
        </p:spPr>
        <p:txBody>
          <a:bodyPr/>
          <a:p/>
        </p:txBody>
      </p:sp>
      <p:sp>
        <p:nvSpPr>
          <p:cNvPr id="39" name="TextBox 38"/>
          <p:cNvSpPr txBox="1"/>
          <p:nvPr/>
        </p:nvSpPr>
        <p:spPr>
          <a:xfrm>
            <a:off x="571500" y="4429125"/>
            <a:ext cx="8001000" cy="179070"/>
          </a:xfrm>
          <a:prstGeom prst="rect">
            <a:avLst/>
          </a:prstGeom>
          <a:noFill/>
        </p:spPr>
        <p:txBody>
          <a:bodyPr wrap="none" lIns="0" tIns="0" rIns="0" bIns="0">
            <a:noAutofit/>
          </a:bodyPr>
          <a:lstStyle/>
          <a:p>
            <a:pPr>
              <a:lnSpc>
                <a:spcPts val="915"/>
              </a:lnSpc>
              <a:defRPr sz="750" b="1">
                <a:solidFill>
                  <a:srgbClr val="0E130F"/>
                </a:solidFill>
                <a:latin typeface="JetBrains Mono"/>
              </a:defRPr>
            </a:pPr>
            <a:r>
              <a:t>NEXT: PILOT MERCHANTS → FIRST PAYMENTS → NETWORK GROWTH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30F"/>
        </a:solidFill>
      </p:bgPr>
    </p:bg>
    <p:spTree>
      <p:nvGrpSpPr>
        <p:cNvPr id="1" name=""/>
        <p:cNvGrpSpPr/>
        <p:nvPr/>
      </p:nvGrpSpPr>
      <p:grpSpPr>
        <a:xfrm>
          <a:off x="0" y="0"/>
          <a:ext cx="0" cy="0"/>
          <a:chOff x="0" y="0"/>
          <a:chExt cx="0" cy="0"/>
        </a:xfrm>
      </p:grpSpPr>
      <p:sp>
        <p:nvSpPr>
          <p:cNvPr id="42" name="TextBox 41"/>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10 — BEYOND THE COUNTER</a:t>
            </a:r>
          </a:p>
        </p:txBody>
      </p:sp>
      <p:sp>
        <p:nvSpPr>
          <p:cNvPr id="26" name="Text 23"/>
          <p:cNvSpPr/>
          <p:nvPr/>
        </p:nvSpPr>
        <p:spPr>
          <a:xfrm>
            <a:off x="571500" y="809625"/>
            <a:ext cx="71437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The same rails, for</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every payment that hurts.</a:t>
            </a:r>
            <a:endParaRPr lang="en-US" sz="2708" dirty="0"/>
          </a:p>
        </p:txBody>
      </p:sp>
      <p:sp>
        <p:nvSpPr>
          <p:cNvPr id="27" name="Shape 24"/>
          <p:cNvSpPr/>
          <p:nvPr/>
        </p:nvSpPr>
        <p:spPr>
          <a:xfrm>
            <a:off x="571500" y="3143250"/>
            <a:ext cx="2476500" cy="1428750"/>
          </a:xfrm>
          <a:prstGeom prst="rect">
            <a:avLst/>
          </a:prstGeom>
          <a:solidFill>
            <a:srgbClr val="BDF06B"/>
          </a:solidFill>
          <a:ln/>
        </p:spPr>
        <p:txBody>
          <a:bodyPr/>
          <a:p/>
        </p:txBody>
      </p:sp>
      <p:sp>
        <p:nvSpPr>
          <p:cNvPr id="43" name="TextBox 42"/>
          <p:cNvSpPr txBox="1"/>
          <p:nvPr/>
        </p:nvSpPr>
        <p:spPr>
          <a:xfrm>
            <a:off x="742950" y="3314700"/>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NOW</a:t>
            </a:r>
          </a:p>
        </p:txBody>
      </p:sp>
      <p:sp>
        <p:nvSpPr>
          <p:cNvPr id="29" name="Text 26"/>
          <p:cNvSpPr/>
          <p:nvPr/>
        </p:nvSpPr>
        <p:spPr>
          <a:xfrm>
            <a:off x="742950" y="3524250"/>
            <a:ext cx="2133600" cy="204788"/>
          </a:xfrm>
          <a:prstGeom prst="rect">
            <a:avLst/>
          </a:prstGeom>
          <a:noFill/>
          <a:ln/>
        </p:spPr>
        <p:txBody>
          <a:bodyPr wrap="square" lIns="0" tIns="0" rIns="0" bIns="0" rtlCol="0" anchor="t"/>
          <a:lstStyle/>
          <a:p>
            <a:pPr algn="l" indent="0" marL="0">
              <a:lnSpc>
                <a:spcPts val="1539"/>
              </a:lnSpc>
              <a:buNone/>
            </a:pPr>
            <a:r>
              <a:rPr lang="en-US" sz="1425" b="1" spc="-17" kern="0" dirty="0">
                <a:solidFill>
                  <a:srgbClr val="0E130F">
                    <a:alpha val="99000"/>
                  </a:srgbClr>
                </a:solidFill>
                <a:latin typeface="Inter" pitchFamily="34" charset="0"/>
                <a:ea typeface="Inter" pitchFamily="34" charset="-122"/>
                <a:cs typeface="Inter" pitchFamily="34" charset="-120"/>
              </a:rPr>
              <a:t>Counter payments</a:t>
            </a:r>
            <a:endParaRPr lang="en-US" sz="1425" dirty="0"/>
          </a:p>
        </p:txBody>
      </p:sp>
      <p:sp>
        <p:nvSpPr>
          <p:cNvPr id="30" name="Text 27"/>
          <p:cNvSpPr/>
          <p:nvPr/>
        </p:nvSpPr>
        <p:spPr>
          <a:xfrm>
            <a:off x="742950" y="4048125"/>
            <a:ext cx="2133600" cy="333375"/>
          </a:xfrm>
          <a:prstGeom prst="rect">
            <a:avLst/>
          </a:prstGeom>
          <a:noFill/>
          <a:ln/>
        </p:spPr>
        <p:txBody>
          <a:bodyPr wrap="square" lIns="0" tIns="0" rIns="0" bIns="0" rtlCol="0" anchor="t"/>
          <a:lstStyle/>
          <a:p>
            <a:pPr algn="l" indent="0" marL="0">
              <a:lnSpc>
                <a:spcPts val="1247"/>
              </a:lnSpc>
              <a:buNone/>
            </a:pPr>
            <a:r>
              <a:rPr lang="en-US" sz="891" dirty="0">
                <a:solidFill>
                  <a:srgbClr val="0E130F">
                    <a:alpha val="99000"/>
                  </a:srgbClr>
                </a:solidFill>
                <a:latin typeface="Inter" pitchFamily="34" charset="0"/>
                <a:ea typeface="Inter" pitchFamily="34" charset="-122"/>
                <a:cs typeface="Inter" pitchFamily="34" charset="-120"/>
              </a:rPr>
              <a:t>Consumers pay local merchants by QR, NFC and Blinks.</a:t>
            </a:r>
            <a:endParaRPr lang="en-US" sz="891" dirty="0"/>
          </a:p>
        </p:txBody>
      </p:sp>
      <p:sp>
        <p:nvSpPr>
          <p:cNvPr id="31" name="Shape 28"/>
          <p:cNvSpPr/>
          <p:nvPr/>
        </p:nvSpPr>
        <p:spPr>
          <a:xfrm>
            <a:off x="3333750" y="2762250"/>
            <a:ext cx="2476500" cy="1809750"/>
          </a:xfrm>
          <a:prstGeom prst="rect">
            <a:avLst/>
          </a:prstGeom>
          <a:solidFill>
            <a:srgbClr val="789E38"/>
          </a:solidFill>
          <a:ln/>
        </p:spPr>
        <p:txBody>
          <a:bodyPr/>
          <a:p/>
        </p:txBody>
      </p:sp>
      <p:sp>
        <p:nvSpPr>
          <p:cNvPr id="44" name="TextBox 43"/>
          <p:cNvSpPr txBox="1"/>
          <p:nvPr/>
        </p:nvSpPr>
        <p:spPr>
          <a:xfrm>
            <a:off x="3505200" y="2933700"/>
            <a:ext cx="316611"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NEXT</a:t>
            </a:r>
          </a:p>
        </p:txBody>
      </p:sp>
      <p:sp>
        <p:nvSpPr>
          <p:cNvPr id="33" name="Text 30"/>
          <p:cNvSpPr/>
          <p:nvPr/>
        </p:nvSpPr>
        <p:spPr>
          <a:xfrm>
            <a:off x="3505200" y="3143250"/>
            <a:ext cx="2133600" cy="204788"/>
          </a:xfrm>
          <a:prstGeom prst="rect">
            <a:avLst/>
          </a:prstGeom>
          <a:noFill/>
          <a:ln/>
        </p:spPr>
        <p:txBody>
          <a:bodyPr wrap="square" lIns="0" tIns="0" rIns="0" bIns="0" rtlCol="0" anchor="t"/>
          <a:lstStyle/>
          <a:p>
            <a:pPr algn="l" indent="0" marL="0">
              <a:lnSpc>
                <a:spcPts val="1539"/>
              </a:lnSpc>
              <a:buNone/>
            </a:pPr>
            <a:r>
              <a:rPr lang="en-US" sz="1425" b="1" spc="-17" kern="0" dirty="0">
                <a:solidFill>
                  <a:srgbClr val="0E130F">
                    <a:alpha val="99000"/>
                  </a:srgbClr>
                </a:solidFill>
                <a:latin typeface="Inter" pitchFamily="34" charset="0"/>
                <a:ea typeface="Inter" pitchFamily="34" charset="-122"/>
                <a:cs typeface="Inter" pitchFamily="34" charset="-120"/>
              </a:rPr>
              <a:t>Business-to-business</a:t>
            </a:r>
            <a:endParaRPr lang="en-US" sz="1425" dirty="0"/>
          </a:p>
        </p:txBody>
      </p:sp>
      <p:sp>
        <p:nvSpPr>
          <p:cNvPr id="34" name="Text 31"/>
          <p:cNvSpPr/>
          <p:nvPr/>
        </p:nvSpPr>
        <p:spPr>
          <a:xfrm>
            <a:off x="3505200" y="3667125"/>
            <a:ext cx="2133600" cy="500063"/>
          </a:xfrm>
          <a:prstGeom prst="rect">
            <a:avLst/>
          </a:prstGeom>
          <a:noFill/>
          <a:ln/>
        </p:spPr>
        <p:txBody>
          <a:bodyPr wrap="square" lIns="0" tIns="0" rIns="0" bIns="0" rtlCol="0" anchor="t"/>
          <a:lstStyle/>
          <a:p>
            <a:pPr algn="l" indent="0" marL="0">
              <a:lnSpc>
                <a:spcPts val="1247"/>
              </a:lnSpc>
              <a:buNone/>
            </a:pPr>
            <a:r>
              <a:rPr lang="en-US" sz="891" dirty="0">
                <a:solidFill>
                  <a:srgbClr val="0E130F">
                    <a:alpha val="99000"/>
                  </a:srgbClr>
                </a:solidFill>
                <a:latin typeface="Inter" pitchFamily="34" charset="0"/>
                <a:ea typeface="Inter" pitchFamily="34" charset="-122"/>
                <a:cs typeface="Inter" pitchFamily="34" charset="-120"/>
              </a:rPr>
              <a:t>Companies pay suppliers and each other: large amounts, settled in seconds, any day, any hour.</a:t>
            </a:r>
            <a:endParaRPr lang="en-US" sz="891" dirty="0"/>
          </a:p>
        </p:txBody>
      </p:sp>
      <p:sp>
        <p:nvSpPr>
          <p:cNvPr id="35" name="Shape 32"/>
          <p:cNvSpPr/>
          <p:nvPr/>
        </p:nvSpPr>
        <p:spPr>
          <a:xfrm>
            <a:off x="6096000" y="2381250"/>
            <a:ext cx="2476500" cy="2190750"/>
          </a:xfrm>
          <a:prstGeom prst="rect">
            <a:avLst/>
          </a:prstGeom>
          <a:solidFill>
            <a:srgbClr val="333D33"/>
          </a:solidFill>
          <a:ln/>
        </p:spPr>
        <p:txBody>
          <a:bodyPr/>
          <a:p/>
        </p:txBody>
      </p:sp>
      <p:sp>
        <p:nvSpPr>
          <p:cNvPr id="45" name="TextBox 44"/>
          <p:cNvSpPr txBox="1"/>
          <p:nvPr/>
        </p:nvSpPr>
        <p:spPr>
          <a:xfrm>
            <a:off x="6267450" y="2552700"/>
            <a:ext cx="316611" cy="185115"/>
          </a:xfrm>
          <a:prstGeom prst="rect">
            <a:avLst/>
          </a:prstGeom>
          <a:noFill/>
        </p:spPr>
        <p:txBody>
          <a:bodyPr wrap="none" lIns="0" tIns="0" rIns="0" bIns="0">
            <a:noAutofit/>
          </a:bodyPr>
          <a:lstStyle/>
          <a:p>
            <a:pPr>
              <a:lnSpc>
                <a:spcPts val="956"/>
              </a:lnSpc>
              <a:defRPr sz="784" b="1">
                <a:solidFill>
                  <a:srgbClr val="F7F7F2"/>
                </a:solidFill>
                <a:latin typeface="JetBrains Mono"/>
              </a:defRPr>
            </a:pPr>
            <a:r>
              <a:t>THEN</a:t>
            </a:r>
          </a:p>
        </p:txBody>
      </p:sp>
      <p:sp>
        <p:nvSpPr>
          <p:cNvPr id="37" name="Text 34"/>
          <p:cNvSpPr/>
          <p:nvPr/>
        </p:nvSpPr>
        <p:spPr>
          <a:xfrm>
            <a:off x="6267450" y="2762250"/>
            <a:ext cx="2133600" cy="409575"/>
          </a:xfrm>
          <a:prstGeom prst="rect">
            <a:avLst/>
          </a:prstGeom>
          <a:noFill/>
          <a:ln/>
        </p:spPr>
        <p:txBody>
          <a:bodyPr wrap="square" lIns="0" tIns="0" rIns="0" bIns="0" rtlCol="0" anchor="t"/>
          <a:lstStyle/>
          <a:p>
            <a:pPr algn="l" indent="0" marL="0">
              <a:lnSpc>
                <a:spcPts val="1539"/>
              </a:lnSpc>
              <a:buNone/>
            </a:pPr>
            <a:r>
              <a:rPr lang="en-US" sz="1425" b="1" spc="-17" kern="0" dirty="0">
                <a:solidFill>
                  <a:srgbClr val="F7F7F2">
                    <a:alpha val="99000"/>
                  </a:srgbClr>
                </a:solidFill>
                <a:latin typeface="Inter" pitchFamily="34" charset="0"/>
                <a:ea typeface="Inter" pitchFamily="34" charset="-122"/>
                <a:cs typeface="Inter" pitchFamily="34" charset="-120"/>
              </a:rPr>
              <a:t>Cross-border remittances</a:t>
            </a:r>
            <a:endParaRPr lang="en-US" sz="1425" dirty="0"/>
          </a:p>
        </p:txBody>
      </p:sp>
      <p:sp>
        <p:nvSpPr>
          <p:cNvPr id="38" name="Text 35"/>
          <p:cNvSpPr/>
          <p:nvPr/>
        </p:nvSpPr>
        <p:spPr>
          <a:xfrm>
            <a:off x="6267450" y="3286125"/>
            <a:ext cx="2133600" cy="500063"/>
          </a:xfrm>
          <a:prstGeom prst="rect">
            <a:avLst/>
          </a:prstGeom>
          <a:noFill/>
          <a:ln/>
        </p:spPr>
        <p:txBody>
          <a:bodyPr wrap="square" lIns="0" tIns="0" rIns="0" bIns="0" rtlCol="0" anchor="t"/>
          <a:lstStyle/>
          <a:p>
            <a:pPr algn="l" indent="0" marL="0">
              <a:lnSpc>
                <a:spcPts val="1247"/>
              </a:lnSpc>
              <a:buNone/>
            </a:pPr>
            <a:r>
              <a:rPr lang="en-US" sz="891" dirty="0">
                <a:solidFill>
                  <a:srgbClr val="B2BDB2">
                    <a:alpha val="99000"/>
                  </a:srgbClr>
                </a:solidFill>
                <a:latin typeface="Inter" pitchFamily="34" charset="0"/>
                <a:ea typeface="Inter" pitchFamily="34" charset="-122"/>
                <a:cs typeface="Inter" pitchFamily="34" charset="-120"/>
              </a:rPr>
              <a:t>Money sent from abroad lands in a Brazilian wallet and cashes out to Pix, without correspondent banks.</a:t>
            </a:r>
            <a:endParaRPr lang="en-US" sz="891" dirty="0"/>
          </a:p>
        </p:txBody>
      </p:sp>
      <p:sp>
        <p:nvSpPr>
          <p:cNvPr id="46" name="TextBox 45"/>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47" name="TextBox 46"/>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11</a:t>
            </a:r>
          </a:p>
        </p:txBody>
      </p:sp>
      <p:sp>
        <p:nvSpPr>
          <p:cNvPr id="41" name="TextBox 40"/>
          <p:cNvSpPr txBox="1"/>
          <p:nvPr/>
        </p:nvSpPr>
        <p:spPr>
          <a:xfrm>
            <a:off x="571500" y="1847088"/>
            <a:ext cx="5029200" cy="201168"/>
          </a:xfrm>
          <a:prstGeom prst="rect">
            <a:avLst/>
          </a:prstGeom>
          <a:noFill/>
        </p:spPr>
        <p:txBody>
          <a:bodyPr wrap="square" lIns="0" tIns="0" rIns="0" bIns="0">
            <a:noAutofit/>
          </a:bodyPr>
          <a:lstStyle/>
          <a:p>
            <a:pPr>
              <a:lnSpc>
                <a:spcPts val="976"/>
              </a:lnSpc>
              <a:defRPr sz="800" b="0">
                <a:solidFill>
                  <a:srgbClr val="BDF06B"/>
                </a:solidFill>
                <a:latin typeface="JetBrains Mono"/>
              </a:defRPr>
            </a:pPr>
            <a:r>
              <a:rPr/>
              <a:t>EXPANSION VISION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2"/>
        </a:solidFill>
      </p:bgPr>
    </p:bg>
    <p:spTree>
      <p:nvGrpSpPr>
        <p:cNvPr id="1" name=""/>
        <p:cNvGrpSpPr/>
        <p:nvPr/>
      </p:nvGrpSpPr>
      <p:grpSpPr>
        <a:xfrm>
          <a:off x="0" y="0"/>
          <a:ext cx="0" cy="0"/>
          <a:chOff x="0" y="0"/>
          <a:chExt cx="0" cy="0"/>
        </a:xfrm>
      </p:grpSpPr>
      <p:sp>
        <p:nvSpPr>
          <p:cNvPr id="55" name="TextBox 54"/>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11 — NEW FRONTS</a:t>
            </a:r>
          </a:p>
        </p:txBody>
      </p:sp>
      <p:sp>
        <p:nvSpPr>
          <p:cNvPr id="33" name="Text 30"/>
          <p:cNvSpPr/>
          <p:nvPr/>
        </p:nvSpPr>
        <p:spPr>
          <a:xfrm>
            <a:off x="571500" y="809625"/>
            <a:ext cx="71437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Less friction, fewer fees,</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fewer intermediaries.</a:t>
            </a:r>
            <a:endParaRPr lang="en-US" sz="2708" dirty="0"/>
          </a:p>
        </p:txBody>
      </p:sp>
      <p:sp>
        <p:nvSpPr>
          <p:cNvPr id="34" name="Shape 31"/>
          <p:cNvSpPr/>
          <p:nvPr/>
        </p:nvSpPr>
        <p:spPr>
          <a:xfrm>
            <a:off x="571500" y="2238375"/>
            <a:ext cx="3714750" cy="28575"/>
          </a:xfrm>
          <a:prstGeom prst="rect">
            <a:avLst/>
          </a:prstGeom>
          <a:solidFill>
            <a:srgbClr val="0E130F"/>
          </a:solidFill>
          <a:ln/>
        </p:spPr>
        <p:txBody>
          <a:bodyPr/>
          <a:p/>
        </p:txBody>
      </p:sp>
      <p:sp>
        <p:nvSpPr>
          <p:cNvPr id="56" name="TextBox 55"/>
          <p:cNvSpPr txBox="1"/>
          <p:nvPr/>
        </p:nvSpPr>
        <p:spPr>
          <a:xfrm>
            <a:off x="571500" y="240982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B2B</a:t>
            </a:r>
          </a:p>
        </p:txBody>
      </p:sp>
      <p:sp>
        <p:nvSpPr>
          <p:cNvPr id="36" name="Text 33"/>
          <p:cNvSpPr/>
          <p:nvPr/>
        </p:nvSpPr>
        <p:spPr>
          <a:xfrm>
            <a:off x="571500" y="2600325"/>
            <a:ext cx="3714750" cy="252413"/>
          </a:xfrm>
          <a:prstGeom prst="rect">
            <a:avLst/>
          </a:prstGeom>
          <a:noFill/>
          <a:ln/>
        </p:spPr>
        <p:txBody>
          <a:bodyPr wrap="square" lIns="0" tIns="0" rIns="0" bIns="0" rtlCol="0" anchor="t"/>
          <a:lstStyle/>
          <a:p>
            <a:pPr algn="l" indent="0" marL="0">
              <a:lnSpc>
                <a:spcPts val="1897"/>
              </a:lnSpc>
              <a:buNone/>
            </a:pPr>
            <a:r>
              <a:rPr lang="en-US" sz="1568" b="1" spc="-24" kern="0" dirty="0">
                <a:solidFill>
                  <a:srgbClr val="0E130F">
                    <a:alpha val="99000"/>
                  </a:srgbClr>
                </a:solidFill>
                <a:latin typeface="Inter" pitchFamily="34" charset="0"/>
                <a:ea typeface="Inter" pitchFamily="34" charset="-122"/>
                <a:cs typeface="Inter" pitchFamily="34" charset="-120"/>
              </a:rPr>
              <a:t>Payments between companies</a:t>
            </a:r>
            <a:endParaRPr lang="en-US" sz="1568" dirty="0"/>
          </a:p>
        </p:txBody>
      </p:sp>
      <p:sp>
        <p:nvSpPr>
          <p:cNvPr id="57" name="TextBox 56"/>
          <p:cNvSpPr txBox="1"/>
          <p:nvPr/>
        </p:nvSpPr>
        <p:spPr>
          <a:xfrm>
            <a:off x="571500" y="30765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TODAY</a:t>
            </a:r>
          </a:p>
        </p:txBody>
      </p:sp>
      <p:sp>
        <p:nvSpPr>
          <p:cNvPr id="38" name="Text 35"/>
          <p:cNvSpPr/>
          <p:nvPr/>
        </p:nvSpPr>
        <p:spPr>
          <a:xfrm>
            <a:off x="1524000" y="30480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Bank transfers with cut-off times, weekend delays and fees on every large payment.</a:t>
            </a:r>
            <a:endParaRPr lang="en-US" sz="891" dirty="0"/>
          </a:p>
        </p:txBody>
      </p:sp>
      <p:sp>
        <p:nvSpPr>
          <p:cNvPr id="58" name="TextBox 57"/>
          <p:cNvSpPr txBox="1"/>
          <p:nvPr/>
        </p:nvSpPr>
        <p:spPr>
          <a:xfrm>
            <a:off x="571500" y="3571875"/>
            <a:ext cx="857250" cy="172491"/>
          </a:xfrm>
          <a:prstGeom prst="rect">
            <a:avLst/>
          </a:prstGeom>
          <a:noFill/>
        </p:spPr>
        <p:txBody>
          <a:bodyPr wrap="none" lIns="0" tIns="0" rIns="0" bIns="0">
            <a:noAutofit/>
          </a:bodyPr>
          <a:lstStyle/>
          <a:p>
            <a:pPr>
              <a:lnSpc>
                <a:spcPts val="869"/>
              </a:lnSpc>
              <a:defRPr sz="713" b="1">
                <a:solidFill>
                  <a:srgbClr val="789E38"/>
                </a:solidFill>
                <a:latin typeface="JetBrains Mono"/>
              </a:defRPr>
            </a:pPr>
            <a:r>
              <a:t>WITH SIMPAY</a:t>
            </a:r>
          </a:p>
        </p:txBody>
      </p:sp>
      <p:sp>
        <p:nvSpPr>
          <p:cNvPr id="40" name="Text 37"/>
          <p:cNvSpPr/>
          <p:nvPr/>
        </p:nvSpPr>
        <p:spPr>
          <a:xfrm>
            <a:off x="1524000" y="3543300"/>
            <a:ext cx="2762250" cy="323850"/>
          </a:xfrm>
          <a:prstGeom prst="rect">
            <a:avLst/>
          </a:prstGeom>
          <a:noFill/>
          <a:ln/>
        </p:spPr>
        <p:txBody>
          <a:bodyPr wrap="square" lIns="0" tIns="0" rIns="0" bIns="0" rtlCol="0" anchor="t"/>
          <a:lstStyle/>
          <a:p>
            <a:pPr algn="l" indent="0" marL="0">
              <a:lnSpc>
                <a:spcPts val="1229"/>
              </a:lnSpc>
              <a:buNone/>
            </a:pPr>
            <a:r>
              <a:rPr lang="en-US" sz="891" b="1" dirty="0">
                <a:solidFill>
                  <a:srgbClr val="0E130F">
                    <a:alpha val="99000"/>
                  </a:srgbClr>
                </a:solidFill>
                <a:latin typeface="Inter" pitchFamily="34" charset="0"/>
                <a:ea typeface="Inter" pitchFamily="34" charset="-122"/>
                <a:cs typeface="Inter" pitchFamily="34" charset="-120"/>
              </a:rPr>
              <a:t>Pay suppliers in seconds, 24/7, with an on-chain receipt ready for reconciliation.</a:t>
            </a:r>
            <a:endParaRPr lang="en-US" sz="891" dirty="0"/>
          </a:p>
        </p:txBody>
      </p:sp>
      <p:sp>
        <p:nvSpPr>
          <p:cNvPr id="59" name="TextBox 58"/>
          <p:cNvSpPr txBox="1"/>
          <p:nvPr/>
        </p:nvSpPr>
        <p:spPr>
          <a:xfrm>
            <a:off x="571500" y="40671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LOOP</a:t>
            </a:r>
          </a:p>
        </p:txBody>
      </p:sp>
      <p:sp>
        <p:nvSpPr>
          <p:cNvPr id="42" name="Text 39"/>
          <p:cNvSpPr/>
          <p:nvPr/>
        </p:nvSpPr>
        <p:spPr>
          <a:xfrm>
            <a:off x="1524000" y="40386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Merchants already paid in SIMPAY pay their own suppliers without cashing out.</a:t>
            </a:r>
            <a:endParaRPr lang="en-US" sz="891" dirty="0"/>
          </a:p>
        </p:txBody>
      </p:sp>
      <p:sp>
        <p:nvSpPr>
          <p:cNvPr id="43" name="Shape 40"/>
          <p:cNvSpPr/>
          <p:nvPr/>
        </p:nvSpPr>
        <p:spPr>
          <a:xfrm>
            <a:off x="4667250" y="2238375"/>
            <a:ext cx="3714750" cy="28575"/>
          </a:xfrm>
          <a:prstGeom prst="rect">
            <a:avLst/>
          </a:prstGeom>
          <a:solidFill>
            <a:srgbClr val="0E130F"/>
          </a:solidFill>
          <a:ln/>
        </p:spPr>
        <p:txBody>
          <a:bodyPr/>
          <a:p/>
        </p:txBody>
      </p:sp>
      <p:sp>
        <p:nvSpPr>
          <p:cNvPr id="60" name="TextBox 59"/>
          <p:cNvSpPr txBox="1"/>
          <p:nvPr/>
        </p:nvSpPr>
        <p:spPr>
          <a:xfrm>
            <a:off x="4667250" y="2409825"/>
            <a:ext cx="381762"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REMIT</a:t>
            </a:r>
          </a:p>
        </p:txBody>
      </p:sp>
      <p:sp>
        <p:nvSpPr>
          <p:cNvPr id="45" name="Text 42"/>
          <p:cNvSpPr/>
          <p:nvPr/>
        </p:nvSpPr>
        <p:spPr>
          <a:xfrm>
            <a:off x="4667250" y="2600325"/>
            <a:ext cx="3714750" cy="252413"/>
          </a:xfrm>
          <a:prstGeom prst="rect">
            <a:avLst/>
          </a:prstGeom>
          <a:noFill/>
          <a:ln/>
        </p:spPr>
        <p:txBody>
          <a:bodyPr wrap="square" lIns="0" tIns="0" rIns="0" bIns="0" rtlCol="0" anchor="t"/>
          <a:lstStyle/>
          <a:p>
            <a:pPr algn="l" indent="0" marL="0">
              <a:lnSpc>
                <a:spcPts val="1897"/>
              </a:lnSpc>
              <a:buNone/>
            </a:pPr>
            <a:r>
              <a:rPr lang="en-US" sz="1568" b="1" spc="-24" kern="0" dirty="0">
                <a:solidFill>
                  <a:srgbClr val="0E130F">
                    <a:alpha val="99000"/>
                  </a:srgbClr>
                </a:solidFill>
                <a:latin typeface="Inter" pitchFamily="34" charset="0"/>
                <a:ea typeface="Inter" pitchFamily="34" charset="-122"/>
                <a:cs typeface="Inter" pitchFamily="34" charset="-120"/>
              </a:rPr>
              <a:t>International remittances</a:t>
            </a:r>
            <a:endParaRPr lang="en-US" sz="1568" dirty="0"/>
          </a:p>
        </p:txBody>
      </p:sp>
      <p:sp>
        <p:nvSpPr>
          <p:cNvPr id="61" name="TextBox 60"/>
          <p:cNvSpPr txBox="1"/>
          <p:nvPr/>
        </p:nvSpPr>
        <p:spPr>
          <a:xfrm>
            <a:off x="4667250" y="30765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TODAY</a:t>
            </a:r>
          </a:p>
        </p:txBody>
      </p:sp>
      <p:sp>
        <p:nvSpPr>
          <p:cNvPr id="47" name="Text 44"/>
          <p:cNvSpPr/>
          <p:nvPr/>
        </p:nvSpPr>
        <p:spPr>
          <a:xfrm>
            <a:off x="5619750" y="30480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Several banks in the middle, high fees and days until the money arrives.</a:t>
            </a:r>
            <a:endParaRPr lang="en-US" sz="891" dirty="0"/>
          </a:p>
        </p:txBody>
      </p:sp>
      <p:sp>
        <p:nvSpPr>
          <p:cNvPr id="62" name="TextBox 61"/>
          <p:cNvSpPr txBox="1"/>
          <p:nvPr/>
        </p:nvSpPr>
        <p:spPr>
          <a:xfrm>
            <a:off x="4667250" y="3571875"/>
            <a:ext cx="857250" cy="172491"/>
          </a:xfrm>
          <a:prstGeom prst="rect">
            <a:avLst/>
          </a:prstGeom>
          <a:noFill/>
        </p:spPr>
        <p:txBody>
          <a:bodyPr wrap="none" lIns="0" tIns="0" rIns="0" bIns="0">
            <a:noAutofit/>
          </a:bodyPr>
          <a:lstStyle/>
          <a:p>
            <a:pPr>
              <a:lnSpc>
                <a:spcPts val="869"/>
              </a:lnSpc>
              <a:defRPr sz="713" b="1">
                <a:solidFill>
                  <a:srgbClr val="789E38"/>
                </a:solidFill>
                <a:latin typeface="JetBrains Mono"/>
              </a:defRPr>
            </a:pPr>
            <a:r>
              <a:t>WITH SIMPAY</a:t>
            </a:r>
          </a:p>
        </p:txBody>
      </p:sp>
      <p:sp>
        <p:nvSpPr>
          <p:cNvPr id="49" name="Text 46"/>
          <p:cNvSpPr/>
          <p:nvPr/>
        </p:nvSpPr>
        <p:spPr>
          <a:xfrm>
            <a:off x="5619750" y="3543300"/>
            <a:ext cx="2762250" cy="323850"/>
          </a:xfrm>
          <a:prstGeom prst="rect">
            <a:avLst/>
          </a:prstGeom>
          <a:noFill/>
          <a:ln/>
        </p:spPr>
        <p:txBody>
          <a:bodyPr wrap="square" lIns="0" tIns="0" rIns="0" bIns="0" rtlCol="0" anchor="t"/>
          <a:lstStyle/>
          <a:p>
            <a:pPr algn="l" indent="0" marL="0">
              <a:lnSpc>
                <a:spcPts val="1229"/>
              </a:lnSpc>
              <a:buNone/>
            </a:pPr>
            <a:r>
              <a:rPr lang="en-US" sz="891" b="1" dirty="0">
                <a:solidFill>
                  <a:srgbClr val="0E130F">
                    <a:alpha val="99000"/>
                  </a:srgbClr>
                </a:solidFill>
                <a:latin typeface="Inter" pitchFamily="34" charset="0"/>
                <a:ea typeface="Inter" pitchFamily="34" charset="-122"/>
                <a:cs typeface="Inter" pitchFamily="34" charset="-120"/>
              </a:rPr>
              <a:t>Sent on Solana in seconds; the family cashes out to Pix or spends at partners.</a:t>
            </a:r>
            <a:endParaRPr lang="en-US" sz="891" dirty="0"/>
          </a:p>
        </p:txBody>
      </p:sp>
      <p:sp>
        <p:nvSpPr>
          <p:cNvPr id="63" name="TextBox 62"/>
          <p:cNvSpPr txBox="1"/>
          <p:nvPr/>
        </p:nvSpPr>
        <p:spPr>
          <a:xfrm>
            <a:off x="4667250" y="40671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COMPLIANCE</a:t>
            </a:r>
          </a:p>
        </p:txBody>
      </p:sp>
      <p:sp>
        <p:nvSpPr>
          <p:cNvPr id="51" name="Text 48"/>
          <p:cNvSpPr/>
          <p:nvPr/>
        </p:nvSpPr>
        <p:spPr>
          <a:xfrm>
            <a:off x="5619750" y="40386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Operated with licensed exchange partners, following Brazil’s crypto-asset rules.</a:t>
            </a:r>
            <a:endParaRPr lang="en-US" sz="891" dirty="0"/>
          </a:p>
        </p:txBody>
      </p:sp>
      <p:sp>
        <p:nvSpPr>
          <p:cNvPr id="64" name="TextBox 63"/>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65" name="TextBox 64"/>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12</a:t>
            </a:r>
          </a:p>
        </p:txBody>
      </p:sp>
      <p:sp>
        <p:nvSpPr>
          <p:cNvPr id="54" name="TextBox 53"/>
          <p:cNvSpPr txBox="1"/>
          <p:nvPr/>
        </p:nvSpPr>
        <p:spPr>
          <a:xfrm>
            <a:off x="571500" y="1847088"/>
            <a:ext cx="5029200" cy="201168"/>
          </a:xfrm>
          <a:prstGeom prst="rect">
            <a:avLst/>
          </a:prstGeom>
          <a:noFill/>
        </p:spPr>
        <p:txBody>
          <a:bodyPr wrap="square" lIns="0" tIns="0" rIns="0" bIns="0">
            <a:noAutofit/>
          </a:bodyPr>
          <a:lstStyle/>
          <a:p>
            <a:pPr>
              <a:lnSpc>
                <a:spcPts val="976"/>
              </a:lnSpc>
              <a:defRPr sz="800" b="0">
                <a:solidFill>
                  <a:srgbClr val="545C54"/>
                </a:solidFill>
                <a:latin typeface="JetBrains Mono"/>
              </a:defRPr>
            </a:pPr>
            <a:r>
              <a:rPr/>
              <a:t>EXPANSION VISION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30F"/>
        </a:solidFill>
      </p:bgPr>
    </p:bg>
    <p:spTree>
      <p:nvGrpSpPr>
        <p:cNvPr id="1" name=""/>
        <p:cNvGrpSpPr/>
        <p:nvPr/>
      </p:nvGrpSpPr>
      <p:grpSpPr>
        <a:xfrm>
          <a:off x="0" y="0"/>
          <a:ext cx="0" cy="0"/>
          <a:chOff x="0" y="0"/>
          <a:chExt cx="0" cy="0"/>
        </a:xfrm>
      </p:grpSpPr>
      <p:sp>
        <p:nvSpPr>
          <p:cNvPr id="61" name="TextBox 60"/>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12 — WHERE WE ARE</a:t>
            </a:r>
          </a:p>
        </p:txBody>
      </p:sp>
      <p:sp>
        <p:nvSpPr>
          <p:cNvPr id="30" name="Text 27"/>
          <p:cNvSpPr/>
          <p:nvPr/>
        </p:nvSpPr>
        <p:spPr>
          <a:xfrm>
            <a:off x="571500" y="809625"/>
            <a:ext cx="666750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Not a mockup.</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A working network on devnet.</a:t>
            </a:r>
            <a:endParaRPr lang="en-US" sz="2708" dirty="0"/>
          </a:p>
        </p:txBody>
      </p:sp>
      <p:sp>
        <p:nvSpPr>
          <p:cNvPr id="31" name="Shape 28"/>
          <p:cNvSpPr/>
          <p:nvPr/>
        </p:nvSpPr>
        <p:spPr>
          <a:xfrm>
            <a:off x="571500" y="2286000"/>
            <a:ext cx="114300" cy="114300"/>
          </a:xfrm>
          <a:prstGeom prst="roundRect">
            <a:avLst/>
          </a:prstGeom>
          <a:solidFill>
            <a:srgbClr val="BDF06B"/>
          </a:solidFill>
          <a:ln/>
        </p:spPr>
        <p:txBody>
          <a:bodyPr/>
          <a:p/>
        </p:txBody>
      </p:sp>
      <p:sp>
        <p:nvSpPr>
          <p:cNvPr id="32" name="Text 29"/>
          <p:cNvSpPr/>
          <p:nvPr/>
        </p:nvSpPr>
        <p:spPr>
          <a:xfrm>
            <a:off x="800100" y="2238375"/>
            <a:ext cx="2286000" cy="17145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Wallet app for iOS and Android</a:t>
            </a:r>
            <a:endParaRPr lang="en-US" sz="1069" dirty="0"/>
          </a:p>
        </p:txBody>
      </p:sp>
      <p:sp>
        <p:nvSpPr>
          <p:cNvPr id="33" name="Shape 30"/>
          <p:cNvSpPr/>
          <p:nvPr/>
        </p:nvSpPr>
        <p:spPr>
          <a:xfrm>
            <a:off x="3238500" y="2286000"/>
            <a:ext cx="114300" cy="114300"/>
          </a:xfrm>
          <a:prstGeom prst="roundRect">
            <a:avLst/>
          </a:prstGeom>
          <a:solidFill>
            <a:srgbClr val="BDF06B"/>
          </a:solidFill>
          <a:ln/>
        </p:spPr>
        <p:txBody>
          <a:bodyPr/>
          <a:p/>
        </p:txBody>
      </p:sp>
      <p:sp>
        <p:nvSpPr>
          <p:cNvPr id="34" name="Text 31"/>
          <p:cNvSpPr/>
          <p:nvPr/>
        </p:nvSpPr>
        <p:spPr>
          <a:xfrm>
            <a:off x="3467100" y="2238375"/>
            <a:ext cx="2286000" cy="34290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Merchant PDV with QR and NFC tags</a:t>
            </a:r>
            <a:endParaRPr lang="en-US" sz="1069" dirty="0"/>
          </a:p>
        </p:txBody>
      </p:sp>
      <p:sp>
        <p:nvSpPr>
          <p:cNvPr id="35" name="Shape 32"/>
          <p:cNvSpPr/>
          <p:nvPr/>
        </p:nvSpPr>
        <p:spPr>
          <a:xfrm>
            <a:off x="571500" y="2686050"/>
            <a:ext cx="114300" cy="114300"/>
          </a:xfrm>
          <a:prstGeom prst="roundRect">
            <a:avLst/>
          </a:prstGeom>
          <a:solidFill>
            <a:srgbClr val="BDF06B"/>
          </a:solidFill>
          <a:ln/>
        </p:spPr>
        <p:txBody>
          <a:bodyPr/>
          <a:p/>
        </p:txBody>
      </p:sp>
      <p:sp>
        <p:nvSpPr>
          <p:cNvPr id="36" name="Text 33"/>
          <p:cNvSpPr/>
          <p:nvPr/>
        </p:nvSpPr>
        <p:spPr>
          <a:xfrm>
            <a:off x="800100" y="2638425"/>
            <a:ext cx="2286000" cy="17145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Buy with Pix, delivered on-chain</a:t>
            </a:r>
            <a:endParaRPr lang="en-US" sz="1069" dirty="0"/>
          </a:p>
        </p:txBody>
      </p:sp>
      <p:sp>
        <p:nvSpPr>
          <p:cNvPr id="37" name="Shape 34"/>
          <p:cNvSpPr/>
          <p:nvPr/>
        </p:nvSpPr>
        <p:spPr>
          <a:xfrm>
            <a:off x="3238500" y="2686050"/>
            <a:ext cx="114300" cy="114300"/>
          </a:xfrm>
          <a:prstGeom prst="roundRect">
            <a:avLst/>
          </a:prstGeom>
          <a:solidFill>
            <a:srgbClr val="BDF06B"/>
          </a:solidFill>
          <a:ln/>
        </p:spPr>
        <p:txBody>
          <a:bodyPr/>
          <a:p/>
        </p:txBody>
      </p:sp>
      <p:sp>
        <p:nvSpPr>
          <p:cNvPr id="38" name="Text 35"/>
          <p:cNvSpPr/>
          <p:nvPr/>
        </p:nvSpPr>
        <p:spPr>
          <a:xfrm>
            <a:off x="3467100" y="2638425"/>
            <a:ext cx="2286000" cy="17145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Solana Blinks for every till</a:t>
            </a:r>
            <a:endParaRPr lang="en-US" sz="1069" dirty="0"/>
          </a:p>
        </p:txBody>
      </p:sp>
      <p:sp>
        <p:nvSpPr>
          <p:cNvPr id="39" name="Shape 36"/>
          <p:cNvSpPr/>
          <p:nvPr/>
        </p:nvSpPr>
        <p:spPr>
          <a:xfrm>
            <a:off x="571500" y="3086100"/>
            <a:ext cx="114300" cy="114300"/>
          </a:xfrm>
          <a:prstGeom prst="roundRect">
            <a:avLst/>
          </a:prstGeom>
          <a:solidFill>
            <a:srgbClr val="BDF06B"/>
          </a:solidFill>
          <a:ln/>
        </p:spPr>
        <p:txBody>
          <a:bodyPr/>
          <a:p/>
        </p:txBody>
      </p:sp>
      <p:sp>
        <p:nvSpPr>
          <p:cNvPr id="40" name="Text 37"/>
          <p:cNvSpPr/>
          <p:nvPr/>
        </p:nvSpPr>
        <p:spPr>
          <a:xfrm>
            <a:off x="800100" y="3038475"/>
            <a:ext cx="2286000" cy="17145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Cashback and referral programs</a:t>
            </a:r>
            <a:endParaRPr lang="en-US" sz="1069" dirty="0"/>
          </a:p>
        </p:txBody>
      </p:sp>
      <p:sp>
        <p:nvSpPr>
          <p:cNvPr id="41" name="Shape 38"/>
          <p:cNvSpPr/>
          <p:nvPr/>
        </p:nvSpPr>
        <p:spPr>
          <a:xfrm>
            <a:off x="3238500" y="3086100"/>
            <a:ext cx="114300" cy="114300"/>
          </a:xfrm>
          <a:prstGeom prst="roundRect">
            <a:avLst/>
          </a:prstGeom>
          <a:solidFill>
            <a:srgbClr val="BDF06B"/>
          </a:solidFill>
          <a:ln/>
        </p:spPr>
        <p:txBody>
          <a:bodyPr/>
          <a:p/>
        </p:txBody>
      </p:sp>
      <p:sp>
        <p:nvSpPr>
          <p:cNvPr id="42" name="Text 39"/>
          <p:cNvSpPr/>
          <p:nvPr/>
        </p:nvSpPr>
        <p:spPr>
          <a:xfrm>
            <a:off x="3467100" y="3038475"/>
            <a:ext cx="2286000" cy="17145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Admin console with full audit log</a:t>
            </a:r>
            <a:endParaRPr lang="en-US" sz="1069" dirty="0"/>
          </a:p>
        </p:txBody>
      </p:sp>
      <p:sp>
        <p:nvSpPr>
          <p:cNvPr id="43" name="Shape 40"/>
          <p:cNvSpPr/>
          <p:nvPr/>
        </p:nvSpPr>
        <p:spPr>
          <a:xfrm>
            <a:off x="571500" y="3486150"/>
            <a:ext cx="114300" cy="114300"/>
          </a:xfrm>
          <a:prstGeom prst="roundRect">
            <a:avLst/>
          </a:prstGeom>
          <a:solidFill>
            <a:srgbClr val="BDF06B"/>
          </a:solidFill>
          <a:ln/>
        </p:spPr>
        <p:txBody>
          <a:bodyPr/>
          <a:p/>
        </p:txBody>
      </p:sp>
      <p:sp>
        <p:nvSpPr>
          <p:cNvPr id="44" name="Text 41"/>
          <p:cNvSpPr/>
          <p:nvPr/>
        </p:nvSpPr>
        <p:spPr>
          <a:xfrm>
            <a:off x="800100" y="3438525"/>
            <a:ext cx="2286000" cy="34290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Push notifications when money arrives</a:t>
            </a:r>
            <a:endParaRPr lang="en-US" sz="1069" dirty="0"/>
          </a:p>
        </p:txBody>
      </p:sp>
      <p:sp>
        <p:nvSpPr>
          <p:cNvPr id="45" name="Shape 42"/>
          <p:cNvSpPr/>
          <p:nvPr/>
        </p:nvSpPr>
        <p:spPr>
          <a:xfrm>
            <a:off x="3238500" y="3486150"/>
            <a:ext cx="114300" cy="114300"/>
          </a:xfrm>
          <a:prstGeom prst="roundRect">
            <a:avLst/>
          </a:prstGeom>
          <a:solidFill>
            <a:srgbClr val="BDF06B"/>
          </a:solidFill>
          <a:ln/>
        </p:spPr>
        <p:txBody>
          <a:bodyPr/>
          <a:p/>
        </p:txBody>
      </p:sp>
      <p:sp>
        <p:nvSpPr>
          <p:cNvPr id="46" name="Text 43"/>
          <p:cNvSpPr/>
          <p:nvPr/>
        </p:nvSpPr>
        <p:spPr>
          <a:xfrm>
            <a:off x="3467100" y="3438525"/>
            <a:ext cx="2286000" cy="17145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Token metadata, whitepaper v2.0</a:t>
            </a:r>
            <a:endParaRPr lang="en-US" sz="1069" dirty="0"/>
          </a:p>
        </p:txBody>
      </p:sp>
      <p:sp>
        <p:nvSpPr>
          <p:cNvPr id="62" name="TextBox 6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63" name="TextBox 6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13</a:t>
            </a:r>
          </a:p>
        </p:txBody>
      </p:sp>
      <p:sp>
        <p:nvSpPr>
          <p:cNvPr id="58" name="TextBox 57"/>
          <p:cNvSpPr txBox="1"/>
          <p:nvPr/>
        </p:nvSpPr>
        <p:spPr>
          <a:xfrm>
            <a:off x="6382512" y="1847088"/>
            <a:ext cx="2331720" cy="173736"/>
          </a:xfrm>
          <a:prstGeom prst="rect">
            <a:avLst/>
          </a:prstGeom>
          <a:noFill/>
        </p:spPr>
        <p:txBody>
          <a:bodyPr wrap="square" lIns="0" tIns="0" rIns="0" bIns="0">
            <a:noAutofit/>
          </a:bodyPr>
          <a:lstStyle/>
          <a:p>
            <a:pPr>
              <a:lnSpc>
                <a:spcPts val="976"/>
              </a:lnSpc>
              <a:defRPr sz="800" b="0">
                <a:solidFill>
                  <a:srgbClr val="BDF06B"/>
                </a:solidFill>
                <a:latin typeface="JetBrains Mono"/>
              </a:defRPr>
            </a:pPr>
            <a:r>
              <a:rPr/>
              <a:t>PIX → YOUR WALLET</a:t>
            </a:r>
          </a:p>
        </p:txBody>
      </p:sp>
      <p:pic>
        <p:nvPicPr>
          <p:cNvPr id="59" name="Picture 58" descr="pix-entry-en.png"/>
          <p:cNvPicPr>
            <a:picLocks noChangeAspect="1"/>
          </p:cNvPicPr>
          <p:nvPr/>
        </p:nvPicPr>
        <p:blipFill>
          <a:blip r:embed="rId3"/>
          <a:stretch>
            <a:fillRect/>
          </a:stretch>
        </p:blipFill>
        <p:spPr>
          <a:xfrm>
            <a:off x="6382512" y="2103120"/>
            <a:ext cx="2176272" cy="2422642"/>
          </a:xfrm>
          <a:prstGeom prst="rect">
            <a:avLst/>
          </a:prstGeom>
        </p:spPr>
      </p:pic>
      <p:sp>
        <p:nvSpPr>
          <p:cNvPr id="60" name="TextBox 59"/>
          <p:cNvSpPr txBox="1"/>
          <p:nvPr/>
        </p:nvSpPr>
        <p:spPr>
          <a:xfrm>
            <a:off x="6382512" y="4562856"/>
            <a:ext cx="2240280" cy="146304"/>
          </a:xfrm>
          <a:prstGeom prst="rect">
            <a:avLst/>
          </a:prstGeom>
          <a:noFill/>
        </p:spPr>
        <p:txBody>
          <a:bodyPr wrap="square" lIns="0" tIns="0" rIns="0" bIns="0">
            <a:noAutofit/>
          </a:bodyPr>
          <a:lstStyle/>
          <a:p>
            <a:pPr>
              <a:lnSpc>
                <a:spcPts val="829"/>
              </a:lnSpc>
              <a:defRPr sz="680" b="0">
                <a:solidFill>
                  <a:srgbClr val="B2BDB2"/>
                </a:solidFill>
                <a:latin typeface="JetBrains Mono"/>
              </a:defRPr>
            </a:pPr>
            <a:r>
              <a:rPr/>
              <a:t>WEB CHECKOUT · ENTRY FLOW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2"/>
        </a:solidFill>
      </p:bgPr>
    </p:bg>
    <p:spTree>
      <p:nvGrpSpPr>
        <p:cNvPr id="1" name=""/>
        <p:cNvGrpSpPr/>
        <p:nvPr/>
      </p:nvGrpSpPr>
      <p:grpSpPr>
        <a:xfrm>
          <a:off x="0" y="0"/>
          <a:ext cx="0" cy="0"/>
          <a:chOff x="0" y="0"/>
          <a:chExt cx="0" cy="0"/>
        </a:xfrm>
      </p:grpSpPr>
      <p:sp>
        <p:nvSpPr>
          <p:cNvPr id="53" name="TextBox 52"/>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13 — TOKEN</a:t>
            </a:r>
          </a:p>
        </p:txBody>
      </p:sp>
      <p:sp>
        <p:nvSpPr>
          <p:cNvPr id="54" name="TextBox 53"/>
          <p:cNvSpPr txBox="1"/>
          <p:nvPr/>
        </p:nvSpPr>
        <p:spPr>
          <a:xfrm>
            <a:off x="571500" y="809625"/>
            <a:ext cx="3343275" cy="210362"/>
          </a:xfrm>
          <a:prstGeom prst="rect">
            <a:avLst/>
          </a:prstGeom>
          <a:noFill/>
        </p:spPr>
        <p:txBody>
          <a:bodyPr wrap="none" lIns="0" tIns="0" rIns="0" bIns="0">
            <a:noAutofit/>
          </a:bodyPr>
          <a:lstStyle/>
          <a:p>
            <a:pPr>
              <a:lnSpc>
                <a:spcPts val="1129"/>
              </a:lnSpc>
              <a:defRPr sz="926" b="1">
                <a:solidFill>
                  <a:srgbClr val="545C54"/>
                </a:solidFill>
                <a:latin typeface="JetBrains Mono"/>
              </a:defRPr>
            </a:pPr>
            <a:r>
              <a:t>FIXED SUPPLY  ·  SPL TOKEN  ·  SYMBOL SPY</a:t>
            </a:r>
          </a:p>
        </p:txBody>
      </p:sp>
      <p:sp>
        <p:nvSpPr>
          <p:cNvPr id="29" name="Text 26"/>
          <p:cNvSpPr/>
          <p:nvPr/>
        </p:nvSpPr>
        <p:spPr>
          <a:xfrm>
            <a:off x="523875" y="1000125"/>
            <a:ext cx="8572500" cy="1095375"/>
          </a:xfrm>
          <a:prstGeom prst="rect">
            <a:avLst/>
          </a:prstGeom>
          <a:noFill/>
          <a:ln/>
        </p:spPr>
        <p:txBody>
          <a:bodyPr wrap="square" lIns="0" tIns="0" rIns="0" bIns="0" rtlCol="0" anchor="t"/>
          <a:lstStyle/>
          <a:p>
            <a:pPr algn="l" indent="0" marL="0">
              <a:lnSpc>
                <a:spcPts val="8192"/>
              </a:lnSpc>
              <a:buNone/>
            </a:pPr>
            <a:r>
              <a:rPr lang="en-US" sz="6769" b="1" spc="-338" kern="0" dirty="0">
                <a:solidFill>
                  <a:srgbClr val="0E130F">
                    <a:alpha val="99000"/>
                  </a:srgbClr>
                </a:solidFill>
                <a:latin typeface="Inter" pitchFamily="34" charset="0"/>
                <a:ea typeface="Inter" pitchFamily="34" charset="-122"/>
                <a:cs typeface="Inter" pitchFamily="34" charset="-120"/>
              </a:rPr>
              <a:t>5,000,000,000</a:t>
            </a:r>
            <a:endParaRPr lang="en-US" sz="6769" dirty="0"/>
          </a:p>
        </p:txBody>
      </p:sp>
      <p:sp>
        <p:nvSpPr>
          <p:cNvPr id="30" name="Text 27"/>
          <p:cNvSpPr/>
          <p:nvPr/>
        </p:nvSpPr>
        <p:spPr>
          <a:xfrm>
            <a:off x="571500" y="2143125"/>
            <a:ext cx="6191250" cy="409575"/>
          </a:xfrm>
          <a:prstGeom prst="rect">
            <a:avLst/>
          </a:prstGeom>
          <a:noFill/>
          <a:ln/>
        </p:spPr>
        <p:txBody>
          <a:bodyPr wrap="square" lIns="0" tIns="0" rIns="0" bIns="0" rtlCol="0" anchor="t"/>
          <a:lstStyle/>
          <a:p>
            <a:pPr algn="l" indent="0" marL="0">
              <a:lnSpc>
                <a:spcPts val="1539"/>
              </a:lnSpc>
              <a:buNone/>
            </a:pPr>
            <a:r>
              <a:rPr lang="en-US" sz="1140" dirty="0">
                <a:solidFill>
                  <a:srgbClr val="545C54">
                    <a:alpha val="99000"/>
                  </a:srgbClr>
                </a:solidFill>
                <a:latin typeface="Inter" pitchFamily="34" charset="0"/>
                <a:ea typeface="Inter" pitchFamily="34" charset="-122"/>
                <a:cs typeface="Inter" pitchFamily="34" charset="-120"/>
              </a:rPr>
              <a:t>Minted once. Mint authority is revoked at mainnet launch, so no new tokens can ever be created.</a:t>
            </a:r>
            <a:endParaRPr lang="en-US" sz="1140" dirty="0"/>
          </a:p>
        </p:txBody>
      </p:sp>
      <p:sp>
        <p:nvSpPr>
          <p:cNvPr id="31" name="Shape 28"/>
          <p:cNvSpPr/>
          <p:nvPr/>
        </p:nvSpPr>
        <p:spPr>
          <a:xfrm>
            <a:off x="571500" y="2809875"/>
            <a:ext cx="3962400" cy="342900"/>
          </a:xfrm>
          <a:prstGeom prst="rect">
            <a:avLst/>
          </a:prstGeom>
          <a:solidFill>
            <a:srgbClr val="0E130F"/>
          </a:solidFill>
          <a:ln/>
        </p:spPr>
        <p:txBody>
          <a:bodyPr/>
          <a:p/>
        </p:txBody>
      </p:sp>
      <p:sp>
        <p:nvSpPr>
          <p:cNvPr id="32" name="Text 29"/>
          <p:cNvSpPr/>
          <p:nvPr/>
        </p:nvSpPr>
        <p:spPr>
          <a:xfrm>
            <a:off x="571500" y="3286125"/>
            <a:ext cx="3962400" cy="323850"/>
          </a:xfrm>
          <a:prstGeom prst="rect">
            <a:avLst/>
          </a:prstGeom>
          <a:noFill/>
          <a:ln/>
        </p:spPr>
        <p:txBody>
          <a:bodyPr wrap="square" lIns="0" tIns="0" rIns="0" bIns="0" rtlCol="0" anchor="t"/>
          <a:lstStyle/>
          <a:p>
            <a:pPr algn="l" indent="0" marL="0">
              <a:lnSpc>
                <a:spcPts val="2414"/>
              </a:lnSpc>
              <a:buNone/>
            </a:pPr>
            <a:r>
              <a:rPr lang="en-US" sz="1995" b="1" spc="-40" kern="0" dirty="0">
                <a:solidFill>
                  <a:srgbClr val="0E130F">
                    <a:alpha val="99000"/>
                  </a:srgbClr>
                </a:solidFill>
                <a:latin typeface="Inter" pitchFamily="34" charset="0"/>
                <a:ea typeface="Inter" pitchFamily="34" charset="-122"/>
                <a:cs typeface="Inter" pitchFamily="34" charset="-120"/>
              </a:rPr>
              <a:t>50%</a:t>
            </a:r>
            <a:endParaRPr lang="en-US" sz="1995" dirty="0"/>
          </a:p>
        </p:txBody>
      </p:sp>
      <p:sp>
        <p:nvSpPr>
          <p:cNvPr id="33" name="Text 30"/>
          <p:cNvSpPr/>
          <p:nvPr/>
        </p:nvSpPr>
        <p:spPr>
          <a:xfrm>
            <a:off x="571500" y="3629025"/>
            <a:ext cx="3867150" cy="133350"/>
          </a:xfrm>
          <a:prstGeom prst="rect">
            <a:avLst/>
          </a:prstGeom>
          <a:noFill/>
          <a:ln/>
        </p:spPr>
        <p:txBody>
          <a:bodyPr wrap="square" lIns="0" tIns="0" rIns="0" bIns="0" rtlCol="0" anchor="t"/>
          <a:lstStyle/>
          <a:p>
            <a:pPr algn="l" indent="0" marL="0">
              <a:lnSpc>
                <a:spcPts val="983"/>
              </a:lnSpc>
              <a:buNone/>
            </a:pPr>
            <a:r>
              <a:rPr lang="en-US" sz="855" b="1" dirty="0">
                <a:solidFill>
                  <a:srgbClr val="0E130F">
                    <a:alpha val="99000"/>
                  </a:srgbClr>
                </a:solidFill>
                <a:latin typeface="Inter" pitchFamily="34" charset="0"/>
                <a:ea typeface="Inter" pitchFamily="34" charset="-122"/>
                <a:cs typeface="Inter" pitchFamily="34" charset="-120"/>
              </a:rPr>
              <a:t>Market liquidity</a:t>
            </a:r>
            <a:endParaRPr lang="en-US" sz="855" dirty="0"/>
          </a:p>
        </p:txBody>
      </p:sp>
      <p:sp>
        <p:nvSpPr>
          <p:cNvPr id="34" name="Text 31"/>
          <p:cNvSpPr/>
          <p:nvPr/>
        </p:nvSpPr>
        <p:spPr>
          <a:xfrm>
            <a:off x="571500" y="3810000"/>
            <a:ext cx="3771900" cy="147638"/>
          </a:xfrm>
          <a:prstGeom prst="rect">
            <a:avLst/>
          </a:prstGeom>
          <a:noFill/>
          <a:ln/>
        </p:spPr>
        <p:txBody>
          <a:bodyPr wrap="square" lIns="0" tIns="0" rIns="0" bIns="0" rtlCol="0" anchor="t"/>
          <a:lstStyle/>
          <a:p>
            <a:pPr algn="l" indent="0" marL="0">
              <a:lnSpc>
                <a:spcPts val="1097"/>
              </a:lnSpc>
              <a:buNone/>
            </a:pPr>
            <a:r>
              <a:rPr lang="en-US" sz="784" dirty="0">
                <a:solidFill>
                  <a:srgbClr val="545C54">
                    <a:alpha val="99000"/>
                  </a:srgbClr>
                </a:solidFill>
                <a:latin typeface="Inter" pitchFamily="34" charset="0"/>
                <a:ea typeface="Inter" pitchFamily="34" charset="-122"/>
                <a:cs typeface="Inter" pitchFamily="34" charset="-120"/>
              </a:rPr>
              <a:t>Powers Pix purchases, merchant cash-out and future listings</a:t>
            </a:r>
            <a:endParaRPr lang="en-US" sz="784" dirty="0"/>
          </a:p>
        </p:txBody>
      </p:sp>
      <p:sp>
        <p:nvSpPr>
          <p:cNvPr id="35" name="Shape 32"/>
          <p:cNvSpPr/>
          <p:nvPr/>
        </p:nvSpPr>
        <p:spPr>
          <a:xfrm>
            <a:off x="4572000" y="2809875"/>
            <a:ext cx="1562100" cy="342900"/>
          </a:xfrm>
          <a:prstGeom prst="rect">
            <a:avLst/>
          </a:prstGeom>
          <a:solidFill>
            <a:srgbClr val="789E38"/>
          </a:solidFill>
          <a:ln/>
        </p:spPr>
        <p:txBody>
          <a:bodyPr/>
          <a:p/>
        </p:txBody>
      </p:sp>
      <p:sp>
        <p:nvSpPr>
          <p:cNvPr id="36" name="Text 33"/>
          <p:cNvSpPr/>
          <p:nvPr/>
        </p:nvSpPr>
        <p:spPr>
          <a:xfrm>
            <a:off x="4572000" y="3286125"/>
            <a:ext cx="1562100" cy="323850"/>
          </a:xfrm>
          <a:prstGeom prst="rect">
            <a:avLst/>
          </a:prstGeom>
          <a:noFill/>
          <a:ln/>
        </p:spPr>
        <p:txBody>
          <a:bodyPr wrap="square" lIns="0" tIns="0" rIns="0" bIns="0" rtlCol="0" anchor="t"/>
          <a:lstStyle/>
          <a:p>
            <a:pPr algn="l" indent="0" marL="0">
              <a:lnSpc>
                <a:spcPts val="2414"/>
              </a:lnSpc>
              <a:buNone/>
            </a:pPr>
            <a:r>
              <a:rPr lang="en-US" sz="1995" b="1" spc="-40" kern="0" dirty="0">
                <a:solidFill>
                  <a:srgbClr val="0E130F">
                    <a:alpha val="99000"/>
                  </a:srgbClr>
                </a:solidFill>
                <a:latin typeface="Inter" pitchFamily="34" charset="0"/>
                <a:ea typeface="Inter" pitchFamily="34" charset="-122"/>
                <a:cs typeface="Inter" pitchFamily="34" charset="-120"/>
              </a:rPr>
              <a:t>20%</a:t>
            </a:r>
            <a:endParaRPr lang="en-US" sz="1995" dirty="0"/>
          </a:p>
        </p:txBody>
      </p:sp>
      <p:sp>
        <p:nvSpPr>
          <p:cNvPr id="37" name="Text 34"/>
          <p:cNvSpPr/>
          <p:nvPr/>
        </p:nvSpPr>
        <p:spPr>
          <a:xfrm>
            <a:off x="4572000" y="3629025"/>
            <a:ext cx="1466850" cy="133350"/>
          </a:xfrm>
          <a:prstGeom prst="rect">
            <a:avLst/>
          </a:prstGeom>
          <a:noFill/>
          <a:ln/>
        </p:spPr>
        <p:txBody>
          <a:bodyPr wrap="square" lIns="0" tIns="0" rIns="0" bIns="0" rtlCol="0" anchor="t"/>
          <a:lstStyle/>
          <a:p>
            <a:pPr algn="l" indent="0" marL="0">
              <a:lnSpc>
                <a:spcPts val="983"/>
              </a:lnSpc>
              <a:buNone/>
            </a:pPr>
            <a:r>
              <a:rPr lang="en-US" sz="855" b="1" dirty="0">
                <a:solidFill>
                  <a:srgbClr val="0E130F">
                    <a:alpha val="99000"/>
                  </a:srgbClr>
                </a:solidFill>
                <a:latin typeface="Inter" pitchFamily="34" charset="0"/>
                <a:ea typeface="Inter" pitchFamily="34" charset="-122"/>
                <a:cs typeface="Inter" pitchFamily="34" charset="-120"/>
              </a:rPr>
              <a:t>Airdrop &amp; rewards</a:t>
            </a:r>
            <a:endParaRPr lang="en-US" sz="855" dirty="0"/>
          </a:p>
        </p:txBody>
      </p:sp>
      <p:sp>
        <p:nvSpPr>
          <p:cNvPr id="38" name="Text 35"/>
          <p:cNvSpPr/>
          <p:nvPr/>
        </p:nvSpPr>
        <p:spPr>
          <a:xfrm>
            <a:off x="4572000" y="3810000"/>
            <a:ext cx="1371600" cy="295275"/>
          </a:xfrm>
          <a:prstGeom prst="rect">
            <a:avLst/>
          </a:prstGeom>
          <a:noFill/>
          <a:ln/>
        </p:spPr>
        <p:txBody>
          <a:bodyPr wrap="square" lIns="0" tIns="0" rIns="0" bIns="0" rtlCol="0" anchor="t"/>
          <a:lstStyle/>
          <a:p>
            <a:pPr algn="l" indent="0" marL="0">
              <a:lnSpc>
                <a:spcPts val="1097"/>
              </a:lnSpc>
              <a:buNone/>
            </a:pPr>
            <a:r>
              <a:rPr lang="en-US" sz="784" dirty="0">
                <a:solidFill>
                  <a:srgbClr val="545C54">
                    <a:alpha val="99000"/>
                  </a:srgbClr>
                </a:solidFill>
                <a:latin typeface="Inter" pitchFamily="34" charset="0"/>
                <a:ea typeface="Inter" pitchFamily="34" charset="-122"/>
                <a:cs typeface="Inter" pitchFamily="34" charset="-120"/>
              </a:rPr>
              <a:t>Cashback, referrals and community campaigns</a:t>
            </a:r>
            <a:endParaRPr lang="en-US" sz="784" dirty="0"/>
          </a:p>
        </p:txBody>
      </p:sp>
      <p:sp>
        <p:nvSpPr>
          <p:cNvPr id="39" name="Shape 36"/>
          <p:cNvSpPr/>
          <p:nvPr/>
        </p:nvSpPr>
        <p:spPr>
          <a:xfrm>
            <a:off x="6172200" y="2809875"/>
            <a:ext cx="962025" cy="342900"/>
          </a:xfrm>
          <a:prstGeom prst="rect">
            <a:avLst/>
          </a:prstGeom>
          <a:solidFill>
            <a:srgbClr val="BDF06B"/>
          </a:solidFill>
          <a:ln/>
        </p:spPr>
        <p:txBody>
          <a:bodyPr/>
          <a:p/>
        </p:txBody>
      </p:sp>
      <p:sp>
        <p:nvSpPr>
          <p:cNvPr id="40" name="Shape 37"/>
          <p:cNvSpPr/>
          <p:nvPr/>
        </p:nvSpPr>
        <p:spPr>
          <a:xfrm>
            <a:off x="7172325" y="2809875"/>
            <a:ext cx="762000" cy="342900"/>
          </a:xfrm>
          <a:prstGeom prst="rect">
            <a:avLst/>
          </a:prstGeom>
          <a:solidFill>
            <a:srgbClr val="99A894"/>
          </a:solidFill>
          <a:ln/>
        </p:spPr>
        <p:txBody>
          <a:bodyPr/>
          <a:p/>
        </p:txBody>
      </p:sp>
      <p:sp>
        <p:nvSpPr>
          <p:cNvPr id="41" name="Shape 38"/>
          <p:cNvSpPr/>
          <p:nvPr/>
        </p:nvSpPr>
        <p:spPr>
          <a:xfrm>
            <a:off x="7972425" y="2809875"/>
            <a:ext cx="600075" cy="342900"/>
          </a:xfrm>
          <a:prstGeom prst="rect">
            <a:avLst/>
          </a:prstGeom>
          <a:solidFill>
            <a:srgbClr val="D9DBD1"/>
          </a:solidFill>
          <a:ln/>
        </p:spPr>
        <p:txBody>
          <a:bodyPr/>
          <a:p/>
        </p:txBody>
      </p:sp>
      <p:sp>
        <p:nvSpPr>
          <p:cNvPr id="55" name="TextBox 54"/>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56" name="TextBox 55"/>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14</a:t>
            </a:r>
          </a:p>
        </p:txBody>
      </p:sp>
      <p:sp>
        <p:nvSpPr>
          <p:cNvPr id="44" name="Shape 41"/>
          <p:cNvSpPr/>
          <p:nvPr/>
        </p:nvSpPr>
        <p:spPr>
          <a:xfrm>
            <a:off x="6172200" y="3362325"/>
            <a:ext cx="133350" cy="133350"/>
          </a:xfrm>
          <a:prstGeom prst="roundRect">
            <a:avLst/>
          </a:prstGeom>
          <a:solidFill>
            <a:srgbClr val="BDF06B"/>
          </a:solidFill>
          <a:ln/>
        </p:spPr>
        <p:txBody>
          <a:bodyPr/>
          <a:p/>
        </p:txBody>
      </p:sp>
      <p:sp>
        <p:nvSpPr>
          <p:cNvPr id="45" name="Text 42"/>
          <p:cNvSpPr/>
          <p:nvPr/>
        </p:nvSpPr>
        <p:spPr>
          <a:xfrm>
            <a:off x="6400800" y="3314700"/>
            <a:ext cx="714375" cy="228600"/>
          </a:xfrm>
          <a:prstGeom prst="rect">
            <a:avLst/>
          </a:prstGeom>
          <a:noFill/>
          <a:ln/>
        </p:spPr>
        <p:txBody>
          <a:bodyPr wrap="square" lIns="0" tIns="0" rIns="0" bIns="0" rtlCol="0" anchor="t"/>
          <a:lstStyle/>
          <a:p>
            <a:pPr algn="l" indent="0" marL="0">
              <a:lnSpc>
                <a:spcPts val="1725"/>
              </a:lnSpc>
              <a:buNone/>
            </a:pPr>
            <a:r>
              <a:rPr lang="en-US" sz="1425" b="1" spc="-21" kern="0" dirty="0">
                <a:solidFill>
                  <a:srgbClr val="0E130F">
                    <a:alpha val="99000"/>
                  </a:srgbClr>
                </a:solidFill>
                <a:latin typeface="Inter" pitchFamily="34" charset="0"/>
                <a:ea typeface="Inter" pitchFamily="34" charset="-122"/>
                <a:cs typeface="Inter" pitchFamily="34" charset="-120"/>
              </a:rPr>
              <a:t>12.5%</a:t>
            </a:r>
            <a:endParaRPr lang="en-US" sz="1425" dirty="0"/>
          </a:p>
        </p:txBody>
      </p:sp>
      <p:sp>
        <p:nvSpPr>
          <p:cNvPr id="46" name="Text 43"/>
          <p:cNvSpPr/>
          <p:nvPr/>
        </p:nvSpPr>
        <p:spPr>
          <a:xfrm>
            <a:off x="7172325" y="3352800"/>
            <a:ext cx="1619250" cy="147638"/>
          </a:xfrm>
          <a:prstGeom prst="rect">
            <a:avLst/>
          </a:prstGeom>
          <a:noFill/>
          <a:ln/>
        </p:spPr>
        <p:txBody>
          <a:bodyPr wrap="square" lIns="0" tIns="0" rIns="0" bIns="0" rtlCol="0" anchor="t"/>
          <a:lstStyle/>
          <a:p>
            <a:pPr algn="l" indent="0" marL="0">
              <a:lnSpc>
                <a:spcPts val="1121"/>
              </a:lnSpc>
              <a:buNone/>
            </a:pPr>
            <a:r>
              <a:rPr lang="en-US" sz="926" b="1" dirty="0">
                <a:solidFill>
                  <a:srgbClr val="0E130F">
                    <a:alpha val="99000"/>
                  </a:srgbClr>
                </a:solidFill>
                <a:latin typeface="Inter" pitchFamily="34" charset="0"/>
                <a:ea typeface="Inter" pitchFamily="34" charset="-122"/>
                <a:cs typeface="Inter" pitchFamily="34" charset="-120"/>
              </a:rPr>
              <a:t>Marketing &amp; expansion</a:t>
            </a:r>
            <a:endParaRPr lang="en-US" sz="926" dirty="0"/>
          </a:p>
        </p:txBody>
      </p:sp>
      <p:sp>
        <p:nvSpPr>
          <p:cNvPr id="47" name="Shape 44"/>
          <p:cNvSpPr/>
          <p:nvPr/>
        </p:nvSpPr>
        <p:spPr>
          <a:xfrm>
            <a:off x="6172200" y="3705225"/>
            <a:ext cx="133350" cy="133350"/>
          </a:xfrm>
          <a:prstGeom prst="roundRect">
            <a:avLst/>
          </a:prstGeom>
          <a:solidFill>
            <a:srgbClr val="99A894"/>
          </a:solidFill>
          <a:ln/>
        </p:spPr>
        <p:txBody>
          <a:bodyPr/>
          <a:p/>
        </p:txBody>
      </p:sp>
      <p:sp>
        <p:nvSpPr>
          <p:cNvPr id="48" name="Text 45"/>
          <p:cNvSpPr/>
          <p:nvPr/>
        </p:nvSpPr>
        <p:spPr>
          <a:xfrm>
            <a:off x="6400800" y="3657600"/>
            <a:ext cx="714375" cy="228600"/>
          </a:xfrm>
          <a:prstGeom prst="rect">
            <a:avLst/>
          </a:prstGeom>
          <a:noFill/>
          <a:ln/>
        </p:spPr>
        <p:txBody>
          <a:bodyPr wrap="square" lIns="0" tIns="0" rIns="0" bIns="0" rtlCol="0" anchor="t"/>
          <a:lstStyle/>
          <a:p>
            <a:pPr algn="l" indent="0" marL="0">
              <a:lnSpc>
                <a:spcPts val="1725"/>
              </a:lnSpc>
              <a:buNone/>
            </a:pPr>
            <a:r>
              <a:rPr lang="en-US" sz="1425" b="1" spc="-21" kern="0" dirty="0">
                <a:solidFill>
                  <a:srgbClr val="0E130F">
                    <a:alpha val="99000"/>
                  </a:srgbClr>
                </a:solidFill>
                <a:latin typeface="Inter" pitchFamily="34" charset="0"/>
                <a:ea typeface="Inter" pitchFamily="34" charset="-122"/>
                <a:cs typeface="Inter" pitchFamily="34" charset="-120"/>
              </a:rPr>
              <a:t>10%</a:t>
            </a:r>
            <a:endParaRPr lang="en-US" sz="1425" dirty="0"/>
          </a:p>
        </p:txBody>
      </p:sp>
      <p:sp>
        <p:nvSpPr>
          <p:cNvPr id="49" name="Text 46"/>
          <p:cNvSpPr/>
          <p:nvPr/>
        </p:nvSpPr>
        <p:spPr>
          <a:xfrm>
            <a:off x="7172325" y="3695700"/>
            <a:ext cx="1619250" cy="147638"/>
          </a:xfrm>
          <a:prstGeom prst="rect">
            <a:avLst/>
          </a:prstGeom>
          <a:noFill/>
          <a:ln/>
        </p:spPr>
        <p:txBody>
          <a:bodyPr wrap="square" lIns="0" tIns="0" rIns="0" bIns="0" rtlCol="0" anchor="t"/>
          <a:lstStyle/>
          <a:p>
            <a:pPr algn="l" indent="0" marL="0">
              <a:lnSpc>
                <a:spcPts val="1121"/>
              </a:lnSpc>
              <a:buNone/>
            </a:pPr>
            <a:r>
              <a:rPr lang="en-US" sz="926" b="1" dirty="0">
                <a:solidFill>
                  <a:srgbClr val="0E130F">
                    <a:alpha val="99000"/>
                  </a:srgbClr>
                </a:solidFill>
                <a:latin typeface="Inter" pitchFamily="34" charset="0"/>
                <a:ea typeface="Inter" pitchFamily="34" charset="-122"/>
                <a:cs typeface="Inter" pitchFamily="34" charset="-120"/>
              </a:rPr>
              <a:t>Private sale</a:t>
            </a:r>
            <a:endParaRPr lang="en-US" sz="926" dirty="0"/>
          </a:p>
        </p:txBody>
      </p:sp>
      <p:sp>
        <p:nvSpPr>
          <p:cNvPr id="50" name="Shape 47"/>
          <p:cNvSpPr/>
          <p:nvPr/>
        </p:nvSpPr>
        <p:spPr>
          <a:xfrm>
            <a:off x="6172200" y="4048125"/>
            <a:ext cx="133350" cy="133350"/>
          </a:xfrm>
          <a:prstGeom prst="roundRect">
            <a:avLst/>
          </a:prstGeom>
          <a:solidFill>
            <a:srgbClr val="D9DBD1"/>
          </a:solidFill>
          <a:ln/>
        </p:spPr>
        <p:txBody>
          <a:bodyPr/>
          <a:p/>
        </p:txBody>
      </p:sp>
      <p:sp>
        <p:nvSpPr>
          <p:cNvPr id="51" name="Text 48"/>
          <p:cNvSpPr/>
          <p:nvPr/>
        </p:nvSpPr>
        <p:spPr>
          <a:xfrm>
            <a:off x="6400800" y="4000500"/>
            <a:ext cx="714375" cy="228600"/>
          </a:xfrm>
          <a:prstGeom prst="rect">
            <a:avLst/>
          </a:prstGeom>
          <a:noFill/>
          <a:ln/>
        </p:spPr>
        <p:txBody>
          <a:bodyPr wrap="square" lIns="0" tIns="0" rIns="0" bIns="0" rtlCol="0" anchor="t"/>
          <a:lstStyle/>
          <a:p>
            <a:pPr algn="l" indent="0" marL="0">
              <a:lnSpc>
                <a:spcPts val="1725"/>
              </a:lnSpc>
              <a:buNone/>
            </a:pPr>
            <a:r>
              <a:rPr lang="en-US" sz="1425" b="1" spc="-21" kern="0" dirty="0">
                <a:solidFill>
                  <a:srgbClr val="0E130F">
                    <a:alpha val="99000"/>
                  </a:srgbClr>
                </a:solidFill>
                <a:latin typeface="Inter" pitchFamily="34" charset="0"/>
                <a:ea typeface="Inter" pitchFamily="34" charset="-122"/>
                <a:cs typeface="Inter" pitchFamily="34" charset="-120"/>
              </a:rPr>
              <a:t>7.5%</a:t>
            </a:r>
            <a:endParaRPr lang="en-US" sz="1425" dirty="0"/>
          </a:p>
        </p:txBody>
      </p:sp>
      <p:sp>
        <p:nvSpPr>
          <p:cNvPr id="52" name="Text 49"/>
          <p:cNvSpPr/>
          <p:nvPr/>
        </p:nvSpPr>
        <p:spPr>
          <a:xfrm>
            <a:off x="7172325" y="4038600"/>
            <a:ext cx="1619250" cy="147638"/>
          </a:xfrm>
          <a:prstGeom prst="rect">
            <a:avLst/>
          </a:prstGeom>
          <a:noFill/>
          <a:ln/>
        </p:spPr>
        <p:txBody>
          <a:bodyPr wrap="square" lIns="0" tIns="0" rIns="0" bIns="0" rtlCol="0" anchor="t"/>
          <a:lstStyle/>
          <a:p>
            <a:pPr algn="l" indent="0" marL="0">
              <a:lnSpc>
                <a:spcPts val="1121"/>
              </a:lnSpc>
              <a:buNone/>
            </a:pPr>
            <a:r>
              <a:rPr lang="en-US" sz="926" b="1" dirty="0">
                <a:solidFill>
                  <a:srgbClr val="0E130F">
                    <a:alpha val="99000"/>
                  </a:srgbClr>
                </a:solidFill>
                <a:latin typeface="Inter" pitchFamily="34" charset="0"/>
                <a:ea typeface="Inter" pitchFamily="34" charset="-122"/>
                <a:cs typeface="Inter" pitchFamily="34" charset="-120"/>
              </a:rPr>
              <a:t>Founding team</a:t>
            </a:r>
            <a:endParaRPr lang="en-US" sz="926"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30F"/>
        </a:solidFill>
      </p:bgPr>
    </p:bg>
    <p:spTree>
      <p:nvGrpSpPr>
        <p:cNvPr id="1" name=""/>
        <p:cNvGrpSpPr/>
        <p:nvPr/>
      </p:nvGrpSpPr>
      <p:grpSpPr>
        <a:xfrm>
          <a:off x="0" y="0"/>
          <a:ext cx="0" cy="0"/>
          <a:chOff x="0" y="0"/>
          <a:chExt cx="0" cy="0"/>
        </a:xfrm>
      </p:grpSpPr>
      <p:sp>
        <p:nvSpPr>
          <p:cNvPr id="48" name="TextBox 47"/>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14 — ROADMAP</a:t>
            </a:r>
          </a:p>
        </p:txBody>
      </p:sp>
      <p:sp>
        <p:nvSpPr>
          <p:cNvPr id="25" name="Text 22"/>
          <p:cNvSpPr/>
          <p:nvPr/>
        </p:nvSpPr>
        <p:spPr>
          <a:xfrm>
            <a:off x="571500" y="809625"/>
            <a:ext cx="571500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Devnet today.</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Mainnet next.</a:t>
            </a:r>
            <a:endParaRPr lang="en-US" sz="2708" dirty="0"/>
          </a:p>
        </p:txBody>
      </p:sp>
      <p:sp>
        <p:nvSpPr>
          <p:cNvPr id="26" name="Shape 23"/>
          <p:cNvSpPr/>
          <p:nvPr/>
        </p:nvSpPr>
        <p:spPr>
          <a:xfrm>
            <a:off x="571500" y="2476500"/>
            <a:ext cx="8001000" cy="19050"/>
          </a:xfrm>
          <a:prstGeom prst="rect">
            <a:avLst/>
          </a:prstGeom>
          <a:solidFill>
            <a:srgbClr val="333D33"/>
          </a:solidFill>
          <a:ln/>
        </p:spPr>
        <p:txBody>
          <a:bodyPr/>
          <a:p/>
        </p:txBody>
      </p:sp>
      <p:sp>
        <p:nvSpPr>
          <p:cNvPr id="27" name="Shape 24"/>
          <p:cNvSpPr/>
          <p:nvPr/>
        </p:nvSpPr>
        <p:spPr>
          <a:xfrm>
            <a:off x="571500" y="2476500"/>
            <a:ext cx="2476500" cy="19050"/>
          </a:xfrm>
          <a:prstGeom prst="rect">
            <a:avLst/>
          </a:prstGeom>
          <a:solidFill>
            <a:srgbClr val="BDF06B"/>
          </a:solidFill>
          <a:ln/>
        </p:spPr>
        <p:txBody>
          <a:bodyPr/>
          <a:p/>
        </p:txBody>
      </p:sp>
      <p:sp>
        <p:nvSpPr>
          <p:cNvPr id="28" name="Shape 25"/>
          <p:cNvSpPr/>
          <p:nvPr/>
        </p:nvSpPr>
        <p:spPr>
          <a:xfrm>
            <a:off x="571500" y="2400300"/>
            <a:ext cx="171450" cy="171450"/>
          </a:xfrm>
          <a:prstGeom prst="ellipse">
            <a:avLst/>
          </a:prstGeom>
          <a:solidFill>
            <a:srgbClr val="BDF06B"/>
          </a:solidFill>
          <a:ln w="13573">
            <a:solidFill>
              <a:srgbClr val="BDF06B"/>
            </a:solidFill>
            <a:prstDash val="solid"/>
          </a:ln>
        </p:spPr>
        <p:txBody>
          <a:bodyPr/>
          <a:p/>
        </p:txBody>
      </p:sp>
      <p:sp>
        <p:nvSpPr>
          <p:cNvPr id="49" name="TextBox 48"/>
          <p:cNvSpPr txBox="1"/>
          <p:nvPr/>
        </p:nvSpPr>
        <p:spPr>
          <a:xfrm>
            <a:off x="571500" y="2762250"/>
            <a:ext cx="895350"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PHASE 1 · NOW</a:t>
            </a:r>
          </a:p>
        </p:txBody>
      </p:sp>
      <p:sp>
        <p:nvSpPr>
          <p:cNvPr id="30" name="Text 27"/>
          <p:cNvSpPr/>
          <p:nvPr/>
        </p:nvSpPr>
        <p:spPr>
          <a:xfrm>
            <a:off x="571500" y="2952750"/>
            <a:ext cx="2476500" cy="266700"/>
          </a:xfrm>
          <a:prstGeom prst="rect">
            <a:avLst/>
          </a:prstGeom>
          <a:noFill/>
          <a:ln/>
        </p:spPr>
        <p:txBody>
          <a:bodyPr wrap="square" lIns="0" tIns="0" rIns="0" bIns="0" rtlCol="0" anchor="t"/>
          <a:lstStyle/>
          <a:p>
            <a:pPr algn="l" indent="0" marL="0">
              <a:lnSpc>
                <a:spcPts val="1983"/>
              </a:lnSpc>
              <a:buNone/>
            </a:pPr>
            <a:r>
              <a:rPr lang="en-US" sz="1639" b="1" spc="-25" kern="0" dirty="0">
                <a:solidFill>
                  <a:srgbClr val="F7F7F2">
                    <a:alpha val="99000"/>
                  </a:srgbClr>
                </a:solidFill>
                <a:latin typeface="Inter" pitchFamily="34" charset="0"/>
                <a:ea typeface="Inter" pitchFamily="34" charset="-122"/>
                <a:cs typeface="Inter" pitchFamily="34" charset="-120"/>
              </a:rPr>
              <a:t>Devnet</a:t>
            </a:r>
            <a:endParaRPr lang="en-US" sz="1639" dirty="0"/>
          </a:p>
        </p:txBody>
      </p:sp>
      <p:sp>
        <p:nvSpPr>
          <p:cNvPr id="31" name="Text 28"/>
          <p:cNvSpPr/>
          <p:nvPr/>
        </p:nvSpPr>
        <p:spPr>
          <a:xfrm>
            <a:off x="571500" y="33337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Token live on Solana devnet</a:t>
            </a:r>
            <a:endParaRPr lang="en-US" sz="926" dirty="0"/>
          </a:p>
        </p:txBody>
      </p:sp>
      <p:sp>
        <p:nvSpPr>
          <p:cNvPr id="32" name="Text 29"/>
          <p:cNvSpPr/>
          <p:nvPr/>
        </p:nvSpPr>
        <p:spPr>
          <a:xfrm>
            <a:off x="571500" y="35623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Full product shipped</a:t>
            </a:r>
            <a:endParaRPr lang="en-US" sz="926" dirty="0"/>
          </a:p>
        </p:txBody>
      </p:sp>
      <p:sp>
        <p:nvSpPr>
          <p:cNvPr id="33" name="Text 30"/>
          <p:cNvSpPr/>
          <p:nvPr/>
        </p:nvSpPr>
        <p:spPr>
          <a:xfrm>
            <a:off x="571500" y="37909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Pilots and hackathon</a:t>
            </a:r>
            <a:endParaRPr lang="en-US" sz="926" dirty="0"/>
          </a:p>
        </p:txBody>
      </p:sp>
      <p:sp>
        <p:nvSpPr>
          <p:cNvPr id="34" name="Shape 31"/>
          <p:cNvSpPr/>
          <p:nvPr/>
        </p:nvSpPr>
        <p:spPr>
          <a:xfrm>
            <a:off x="3333750" y="2400300"/>
            <a:ext cx="171450" cy="171450"/>
          </a:xfrm>
          <a:prstGeom prst="ellipse">
            <a:avLst/>
          </a:prstGeom>
          <a:solidFill>
            <a:srgbClr val="0E130F"/>
          </a:solidFill>
          <a:ln w="13573">
            <a:solidFill>
              <a:srgbClr val="B2BDB2"/>
            </a:solidFill>
            <a:prstDash val="solid"/>
          </a:ln>
        </p:spPr>
        <p:txBody>
          <a:bodyPr/>
          <a:p/>
        </p:txBody>
      </p:sp>
      <p:sp>
        <p:nvSpPr>
          <p:cNvPr id="50" name="TextBox 49"/>
          <p:cNvSpPr txBox="1"/>
          <p:nvPr/>
        </p:nvSpPr>
        <p:spPr>
          <a:xfrm>
            <a:off x="3333750" y="2762250"/>
            <a:ext cx="962024" cy="185115"/>
          </a:xfrm>
          <a:prstGeom prst="rect">
            <a:avLst/>
          </a:prstGeom>
          <a:noFill/>
        </p:spPr>
        <p:txBody>
          <a:bodyPr wrap="none" lIns="0" tIns="0" rIns="0" bIns="0">
            <a:noAutofit/>
          </a:bodyPr>
          <a:lstStyle/>
          <a:p>
            <a:pPr>
              <a:lnSpc>
                <a:spcPts val="956"/>
              </a:lnSpc>
              <a:defRPr sz="784" b="1">
                <a:solidFill>
                  <a:srgbClr val="B2BDB2"/>
                </a:solidFill>
                <a:latin typeface="JetBrains Mono"/>
              </a:defRPr>
            </a:pPr>
            <a:r>
              <a:t>PHASE 2 · NEXT</a:t>
            </a:r>
          </a:p>
        </p:txBody>
      </p:sp>
      <p:sp>
        <p:nvSpPr>
          <p:cNvPr id="36" name="Text 33"/>
          <p:cNvSpPr/>
          <p:nvPr/>
        </p:nvSpPr>
        <p:spPr>
          <a:xfrm>
            <a:off x="3333750" y="2952750"/>
            <a:ext cx="2476500" cy="266700"/>
          </a:xfrm>
          <a:prstGeom prst="rect">
            <a:avLst/>
          </a:prstGeom>
          <a:noFill/>
          <a:ln/>
        </p:spPr>
        <p:txBody>
          <a:bodyPr wrap="square" lIns="0" tIns="0" rIns="0" bIns="0" rtlCol="0" anchor="t"/>
          <a:lstStyle/>
          <a:p>
            <a:pPr algn="l" indent="0" marL="0">
              <a:lnSpc>
                <a:spcPts val="1983"/>
              </a:lnSpc>
              <a:buNone/>
            </a:pPr>
            <a:r>
              <a:rPr lang="en-US" sz="1639" b="1" spc="-25" kern="0" dirty="0">
                <a:solidFill>
                  <a:srgbClr val="F7F7F2">
                    <a:alpha val="99000"/>
                  </a:srgbClr>
                </a:solidFill>
                <a:latin typeface="Inter" pitchFamily="34" charset="0"/>
                <a:ea typeface="Inter" pitchFamily="34" charset="-122"/>
                <a:cs typeface="Inter" pitchFamily="34" charset="-120"/>
              </a:rPr>
              <a:t>Mainnet launch</a:t>
            </a:r>
            <a:endParaRPr lang="en-US" sz="1639" dirty="0"/>
          </a:p>
        </p:txBody>
      </p:sp>
      <p:sp>
        <p:nvSpPr>
          <p:cNvPr id="37" name="Text 34"/>
          <p:cNvSpPr/>
          <p:nvPr/>
        </p:nvSpPr>
        <p:spPr>
          <a:xfrm>
            <a:off x="3333750" y="33337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Independent security audit</a:t>
            </a:r>
            <a:endParaRPr lang="en-US" sz="926" dirty="0"/>
          </a:p>
        </p:txBody>
      </p:sp>
      <p:sp>
        <p:nvSpPr>
          <p:cNvPr id="38" name="Text 35"/>
          <p:cNvSpPr/>
          <p:nvPr/>
        </p:nvSpPr>
        <p:spPr>
          <a:xfrm>
            <a:off x="3333750" y="35623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Mint on mainnet, revoke mint authority</a:t>
            </a:r>
            <a:endParaRPr lang="en-US" sz="926" dirty="0"/>
          </a:p>
        </p:txBody>
      </p:sp>
      <p:sp>
        <p:nvSpPr>
          <p:cNvPr id="39" name="Text 36"/>
          <p:cNvSpPr/>
          <p:nvPr/>
        </p:nvSpPr>
        <p:spPr>
          <a:xfrm>
            <a:off x="3333750" y="37909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Distribution per tokenomics</a:t>
            </a:r>
            <a:endParaRPr lang="en-US" sz="926" dirty="0"/>
          </a:p>
        </p:txBody>
      </p:sp>
      <p:sp>
        <p:nvSpPr>
          <p:cNvPr id="40" name="Shape 37"/>
          <p:cNvSpPr/>
          <p:nvPr/>
        </p:nvSpPr>
        <p:spPr>
          <a:xfrm>
            <a:off x="6096000" y="2400300"/>
            <a:ext cx="171450" cy="171450"/>
          </a:xfrm>
          <a:prstGeom prst="ellipse">
            <a:avLst/>
          </a:prstGeom>
          <a:solidFill>
            <a:srgbClr val="0E130F"/>
          </a:solidFill>
          <a:ln w="13573">
            <a:solidFill>
              <a:srgbClr val="B2BDB2"/>
            </a:solidFill>
            <a:prstDash val="solid"/>
          </a:ln>
        </p:spPr>
        <p:txBody>
          <a:bodyPr/>
          <a:p/>
        </p:txBody>
      </p:sp>
      <p:sp>
        <p:nvSpPr>
          <p:cNvPr id="51" name="TextBox 50"/>
          <p:cNvSpPr txBox="1"/>
          <p:nvPr/>
        </p:nvSpPr>
        <p:spPr>
          <a:xfrm>
            <a:off x="6096000" y="2762250"/>
            <a:ext cx="499871" cy="185115"/>
          </a:xfrm>
          <a:prstGeom prst="rect">
            <a:avLst/>
          </a:prstGeom>
          <a:noFill/>
        </p:spPr>
        <p:txBody>
          <a:bodyPr wrap="none" lIns="0" tIns="0" rIns="0" bIns="0">
            <a:noAutofit/>
          </a:bodyPr>
          <a:lstStyle/>
          <a:p>
            <a:pPr>
              <a:lnSpc>
                <a:spcPts val="956"/>
              </a:lnSpc>
              <a:defRPr sz="784" b="1">
                <a:solidFill>
                  <a:srgbClr val="B2BDB2"/>
                </a:solidFill>
                <a:latin typeface="JetBrains Mono"/>
              </a:defRPr>
            </a:pPr>
            <a:r>
              <a:t>PHASE 3</a:t>
            </a:r>
          </a:p>
        </p:txBody>
      </p:sp>
      <p:sp>
        <p:nvSpPr>
          <p:cNvPr id="42" name="Text 39"/>
          <p:cNvSpPr/>
          <p:nvPr/>
        </p:nvSpPr>
        <p:spPr>
          <a:xfrm>
            <a:off x="6096000" y="2952750"/>
            <a:ext cx="2476500" cy="266700"/>
          </a:xfrm>
          <a:prstGeom prst="rect">
            <a:avLst/>
          </a:prstGeom>
          <a:noFill/>
          <a:ln/>
        </p:spPr>
        <p:txBody>
          <a:bodyPr wrap="square" lIns="0" tIns="0" rIns="0" bIns="0" rtlCol="0" anchor="t"/>
          <a:lstStyle/>
          <a:p>
            <a:pPr algn="l" indent="0" marL="0">
              <a:lnSpc>
                <a:spcPts val="1983"/>
              </a:lnSpc>
              <a:buNone/>
            </a:pPr>
            <a:r>
              <a:rPr lang="en-US" sz="1639" b="1" spc="-25" kern="0" dirty="0">
                <a:solidFill>
                  <a:srgbClr val="F7F7F2">
                    <a:alpha val="99000"/>
                  </a:srgbClr>
                </a:solidFill>
                <a:latin typeface="Inter" pitchFamily="34" charset="0"/>
                <a:ea typeface="Inter" pitchFamily="34" charset="-122"/>
                <a:cs typeface="Inter" pitchFamily="34" charset="-120"/>
              </a:rPr>
              <a:t>Scale the network</a:t>
            </a:r>
            <a:endParaRPr lang="en-US" sz="1639" dirty="0"/>
          </a:p>
        </p:txBody>
      </p:sp>
      <p:sp>
        <p:nvSpPr>
          <p:cNvPr id="43" name="Text 40"/>
          <p:cNvSpPr/>
          <p:nvPr/>
        </p:nvSpPr>
        <p:spPr>
          <a:xfrm>
            <a:off x="6096000" y="33337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Referral and cashback programs at scale</a:t>
            </a:r>
            <a:endParaRPr lang="en-US" sz="926" dirty="0"/>
          </a:p>
        </p:txBody>
      </p:sp>
      <p:sp>
        <p:nvSpPr>
          <p:cNvPr id="44" name="Text 41"/>
          <p:cNvSpPr/>
          <p:nvPr/>
        </p:nvSpPr>
        <p:spPr>
          <a:xfrm>
            <a:off x="6096000" y="35623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Liquidity and listings</a:t>
            </a:r>
            <a:endParaRPr lang="en-US" sz="926" dirty="0"/>
          </a:p>
        </p:txBody>
      </p:sp>
      <p:sp>
        <p:nvSpPr>
          <p:cNvPr id="45" name="Text 42"/>
          <p:cNvSpPr/>
          <p:nvPr/>
        </p:nvSpPr>
        <p:spPr>
          <a:xfrm>
            <a:off x="6096000" y="37909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Open integrations for any app</a:t>
            </a:r>
            <a:endParaRPr lang="en-US" sz="926" dirty="0"/>
          </a:p>
        </p:txBody>
      </p:sp>
      <p:sp>
        <p:nvSpPr>
          <p:cNvPr id="52" name="TextBox 5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53" name="TextBox 5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2"/>
        </a:solidFill>
      </p:bgPr>
    </p:bg>
    <p:spTree>
      <p:nvGrpSpPr>
        <p:cNvPr id="1" name=""/>
        <p:cNvGrpSpPr/>
        <p:nvPr/>
      </p:nvGrpSpPr>
      <p:grpSpPr>
        <a:xfrm>
          <a:off x="0" y="0"/>
          <a:ext cx="0" cy="0"/>
          <a:chOff x="0" y="0"/>
          <a:chExt cx="0" cy="0"/>
        </a:xfrm>
      </p:grpSpPr>
      <p:sp>
        <p:nvSpPr>
          <p:cNvPr id="6" name="Shape 3"/>
          <p:cNvSpPr/>
          <p:nvPr/>
        </p:nvSpPr>
        <p:spPr>
          <a:xfrm>
            <a:off x="5905500" y="0"/>
            <a:ext cx="3238500" cy="5143500"/>
          </a:xfrm>
          <a:prstGeom prst="rect">
            <a:avLst/>
          </a:prstGeom>
          <a:solidFill>
            <a:srgbClr val="BDF06B"/>
          </a:solidFill>
          <a:ln/>
        </p:spPr>
        <p:txBody>
          <a:bodyPr/>
          <a:p/>
        </p:txBody>
      </p:sp>
      <p:sp>
        <p:nvSpPr>
          <p:cNvPr id="31" name="TextBox 30"/>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15 — WHY TRUST US</a:t>
            </a:r>
          </a:p>
        </p:txBody>
      </p:sp>
      <p:sp>
        <p:nvSpPr>
          <p:cNvPr id="8" name="Text 5"/>
          <p:cNvSpPr/>
          <p:nvPr/>
        </p:nvSpPr>
        <p:spPr>
          <a:xfrm>
            <a:off x="571500" y="809625"/>
            <a:ext cx="4762500" cy="1085850"/>
          </a:xfrm>
          <a:prstGeom prst="rect">
            <a:avLst/>
          </a:prstGeom>
          <a:noFill/>
          <a:ln/>
        </p:spPr>
        <p:txBody>
          <a:bodyPr wrap="square" lIns="0" tIns="0" rIns="0" bIns="0" rtlCol="0" anchor="t"/>
          <a:lstStyle/>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Built like</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financial</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infrastructure.</a:t>
            </a:r>
            <a:endParaRPr lang="en-US" sz="2708" dirty="0"/>
          </a:p>
        </p:txBody>
      </p:sp>
      <p:sp>
        <p:nvSpPr>
          <p:cNvPr id="9" name="Text 6"/>
          <p:cNvSpPr/>
          <p:nvPr/>
        </p:nvSpPr>
        <p:spPr>
          <a:xfrm>
            <a:off x="571500" y="2667000"/>
            <a:ext cx="4762500" cy="185738"/>
          </a:xfrm>
          <a:prstGeom prst="rect">
            <a:avLst/>
          </a:prstGeom>
          <a:noFill/>
          <a:ln/>
        </p:spPr>
        <p:txBody>
          <a:bodyPr wrap="square" lIns="0" tIns="0" rIns="0" bIns="0" rtlCol="0" anchor="t"/>
          <a:lstStyle/>
          <a:p>
            <a:pPr algn="l" indent="0" marL="0">
              <a:lnSpc>
                <a:spcPts val="1380"/>
              </a:lnSpc>
              <a:buNone/>
            </a:pPr>
            <a:r>
              <a:rPr lang="en-US" sz="1140" b="1" spc="-6" kern="0" dirty="0">
                <a:solidFill>
                  <a:srgbClr val="0E130F">
                    <a:alpha val="99000"/>
                  </a:srgbClr>
                </a:solidFill>
                <a:latin typeface="Inter" pitchFamily="34" charset="0"/>
                <a:ea typeface="Inter" pitchFamily="34" charset="-122"/>
                <a:cs typeface="Inter" pitchFamily="34" charset="-120"/>
              </a:rPr>
              <a:t>Security first</a:t>
            </a:r>
            <a:endParaRPr lang="en-US" sz="1140" dirty="0"/>
          </a:p>
        </p:txBody>
      </p:sp>
      <p:sp>
        <p:nvSpPr>
          <p:cNvPr id="10" name="Text 7"/>
          <p:cNvSpPr/>
          <p:nvPr/>
        </p:nvSpPr>
        <p:spPr>
          <a:xfrm>
            <a:off x="571500" y="2886075"/>
            <a:ext cx="4762500" cy="166688"/>
          </a:xfrm>
          <a:prstGeom prst="rect">
            <a:avLst/>
          </a:prstGeom>
          <a:noFill/>
          <a:ln/>
        </p:spPr>
        <p:txBody>
          <a:bodyPr wrap="square" lIns="0" tIns="0" rIns="0" bIns="0" rtlCol="0" anchor="t"/>
          <a:lstStyle/>
          <a:p>
            <a:pPr algn="l" indent="0" marL="0">
              <a:lnSpc>
                <a:spcPts val="1247"/>
              </a:lnSpc>
              <a:buNone/>
            </a:pPr>
            <a:r>
              <a:rPr lang="en-US" sz="891" dirty="0">
                <a:solidFill>
                  <a:srgbClr val="545C54">
                    <a:alpha val="99000"/>
                  </a:srgbClr>
                </a:solidFill>
                <a:latin typeface="Inter" pitchFamily="34" charset="0"/>
                <a:ea typeface="Inter" pitchFamily="34" charset="-122"/>
                <a:cs typeface="Inter" pitchFamily="34" charset="-120"/>
              </a:rPr>
              <a:t>Secrets in HashiCorp Vault, bank API over mTLS, keys never leave the user’s device.</a:t>
            </a:r>
            <a:endParaRPr lang="en-US" sz="891" dirty="0"/>
          </a:p>
        </p:txBody>
      </p:sp>
      <p:sp>
        <p:nvSpPr>
          <p:cNvPr id="11" name="Text 8"/>
          <p:cNvSpPr/>
          <p:nvPr/>
        </p:nvSpPr>
        <p:spPr>
          <a:xfrm>
            <a:off x="571500" y="3286125"/>
            <a:ext cx="4762500" cy="185738"/>
          </a:xfrm>
          <a:prstGeom prst="rect">
            <a:avLst/>
          </a:prstGeom>
          <a:noFill/>
          <a:ln/>
        </p:spPr>
        <p:txBody>
          <a:bodyPr wrap="square" lIns="0" tIns="0" rIns="0" bIns="0" rtlCol="0" anchor="t"/>
          <a:lstStyle/>
          <a:p>
            <a:pPr algn="l" indent="0" marL="0">
              <a:lnSpc>
                <a:spcPts val="1380"/>
              </a:lnSpc>
              <a:buNone/>
            </a:pPr>
            <a:r>
              <a:rPr lang="en-US" sz="1140" b="1" spc="-6" kern="0" dirty="0">
                <a:solidFill>
                  <a:srgbClr val="0E130F">
                    <a:alpha val="99000"/>
                  </a:srgbClr>
                </a:solidFill>
                <a:latin typeface="Inter" pitchFamily="34" charset="0"/>
                <a:ea typeface="Inter" pitchFamily="34" charset="-122"/>
                <a:cs typeface="Inter" pitchFamily="34" charset="-120"/>
              </a:rPr>
              <a:t>Every action audited</a:t>
            </a:r>
            <a:endParaRPr lang="en-US" sz="1140" dirty="0"/>
          </a:p>
        </p:txBody>
      </p:sp>
      <p:sp>
        <p:nvSpPr>
          <p:cNvPr id="12" name="Text 9"/>
          <p:cNvSpPr/>
          <p:nvPr/>
        </p:nvSpPr>
        <p:spPr>
          <a:xfrm>
            <a:off x="571500" y="3505200"/>
            <a:ext cx="4762500" cy="166688"/>
          </a:xfrm>
          <a:prstGeom prst="rect">
            <a:avLst/>
          </a:prstGeom>
          <a:noFill/>
          <a:ln/>
        </p:spPr>
        <p:txBody>
          <a:bodyPr wrap="square" lIns="0" tIns="0" rIns="0" bIns="0" rtlCol="0" anchor="t"/>
          <a:lstStyle/>
          <a:p>
            <a:pPr algn="l" indent="0" marL="0">
              <a:lnSpc>
                <a:spcPts val="1247"/>
              </a:lnSpc>
              <a:buNone/>
            </a:pPr>
            <a:r>
              <a:rPr lang="en-US" sz="891" dirty="0">
                <a:solidFill>
                  <a:srgbClr val="545C54">
                    <a:alpha val="99000"/>
                  </a:srgbClr>
                </a:solidFill>
                <a:latin typeface="Inter" pitchFamily="34" charset="0"/>
                <a:ea typeface="Inter" pitchFamily="34" charset="-122"/>
                <a:cs typeface="Inter" pitchFamily="34" charset="-120"/>
              </a:rPr>
              <a:t>Admin changes, reward adjustments and blocks are logged with before and after.</a:t>
            </a:r>
            <a:endParaRPr lang="en-US" sz="891" dirty="0"/>
          </a:p>
        </p:txBody>
      </p:sp>
      <p:sp>
        <p:nvSpPr>
          <p:cNvPr id="13" name="Text 10"/>
          <p:cNvSpPr/>
          <p:nvPr/>
        </p:nvSpPr>
        <p:spPr>
          <a:xfrm>
            <a:off x="571500" y="3905250"/>
            <a:ext cx="4762500" cy="185738"/>
          </a:xfrm>
          <a:prstGeom prst="rect">
            <a:avLst/>
          </a:prstGeom>
          <a:noFill/>
          <a:ln/>
        </p:spPr>
        <p:txBody>
          <a:bodyPr wrap="square" lIns="0" tIns="0" rIns="0" bIns="0" rtlCol="0" anchor="t"/>
          <a:lstStyle/>
          <a:p>
            <a:pPr algn="l" indent="0" marL="0">
              <a:lnSpc>
                <a:spcPts val="1380"/>
              </a:lnSpc>
              <a:buNone/>
            </a:pPr>
            <a:r>
              <a:rPr lang="en-US" sz="1140" b="1" spc="-6" kern="0" dirty="0">
                <a:solidFill>
                  <a:srgbClr val="0E130F">
                    <a:alpha val="99000"/>
                  </a:srgbClr>
                </a:solidFill>
                <a:latin typeface="Inter" pitchFamily="34" charset="0"/>
                <a:ea typeface="Inter" pitchFamily="34" charset="-122"/>
                <a:cs typeface="Inter" pitchFamily="34" charset="-120"/>
              </a:rPr>
              <a:t>Tested end to end</a:t>
            </a:r>
            <a:endParaRPr lang="en-US" sz="1140" dirty="0"/>
          </a:p>
        </p:txBody>
      </p:sp>
      <p:sp>
        <p:nvSpPr>
          <p:cNvPr id="14" name="Text 11"/>
          <p:cNvSpPr/>
          <p:nvPr/>
        </p:nvSpPr>
        <p:spPr>
          <a:xfrm>
            <a:off x="571500" y="4124325"/>
            <a:ext cx="4762500" cy="166688"/>
          </a:xfrm>
          <a:prstGeom prst="rect">
            <a:avLst/>
          </a:prstGeom>
          <a:noFill/>
          <a:ln/>
        </p:spPr>
        <p:txBody>
          <a:bodyPr wrap="square" lIns="0" tIns="0" rIns="0" bIns="0" rtlCol="0" anchor="t"/>
          <a:lstStyle/>
          <a:p>
            <a:pPr algn="l" indent="0" marL="0">
              <a:lnSpc>
                <a:spcPts val="1247"/>
              </a:lnSpc>
              <a:buNone/>
            </a:pPr>
            <a:r>
              <a:rPr lang="en-US" sz="891" dirty="0">
                <a:solidFill>
                  <a:srgbClr val="545C54">
                    <a:alpha val="99000"/>
                  </a:srgbClr>
                </a:solidFill>
                <a:latin typeface="Inter" pitchFamily="34" charset="0"/>
                <a:ea typeface="Inter" pitchFamily="34" charset="-122"/>
                <a:cs typeface="Inter" pitchFamily="34" charset="-120"/>
              </a:rPr>
              <a:t>300+ automated tests across API, merchant app and wallet.</a:t>
            </a:r>
            <a:endParaRPr lang="en-US" sz="891" dirty="0"/>
          </a:p>
        </p:txBody>
      </p:sp>
      <p:sp>
        <p:nvSpPr>
          <p:cNvPr id="32" name="TextBox 3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33" name="TextBox 3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16</a:t>
            </a:r>
          </a:p>
        </p:txBody>
      </p:sp>
      <p:sp>
        <p:nvSpPr>
          <p:cNvPr id="27" name="TextBox 26"/>
          <p:cNvSpPr txBox="1"/>
          <p:nvPr/>
        </p:nvSpPr>
        <p:spPr>
          <a:xfrm>
            <a:off x="6286500" y="813816"/>
            <a:ext cx="2468880" cy="192024"/>
          </a:xfrm>
          <a:prstGeom prst="rect">
            <a:avLst/>
          </a:prstGeom>
          <a:noFill/>
        </p:spPr>
        <p:txBody>
          <a:bodyPr wrap="square" lIns="0" tIns="0" rIns="0" bIns="0">
            <a:noAutofit/>
          </a:bodyPr>
          <a:lstStyle/>
          <a:p>
            <a:pPr>
              <a:lnSpc>
                <a:spcPts val="951"/>
              </a:lnSpc>
              <a:defRPr sz="780" b="0">
                <a:solidFill>
                  <a:srgbClr val="0E130F"/>
                </a:solidFill>
                <a:latin typeface="JetBrains Mono"/>
              </a:defRPr>
            </a:pPr>
            <a:r>
              <a:rPr/>
              <a:t>BUILT FOR EVERYDAY USE</a:t>
            </a:r>
          </a:p>
        </p:txBody>
      </p:sp>
      <p:sp>
        <p:nvSpPr>
          <p:cNvPr id="28" name="TextBox 27"/>
          <p:cNvSpPr txBox="1"/>
          <p:nvPr/>
        </p:nvSpPr>
        <p:spPr>
          <a:xfrm>
            <a:off x="6286500" y="1225296"/>
            <a:ext cx="2487168" cy="1097280"/>
          </a:xfrm>
          <a:prstGeom prst="rect">
            <a:avLst/>
          </a:prstGeom>
          <a:noFill/>
        </p:spPr>
        <p:txBody>
          <a:bodyPr wrap="square" lIns="0" tIns="0" rIns="0" bIns="0">
            <a:noAutofit/>
          </a:bodyPr>
          <a:lstStyle/>
          <a:p>
            <a:pPr>
              <a:lnSpc>
                <a:spcPts val="2928"/>
              </a:lnSpc>
              <a:defRPr sz="2400" b="1">
                <a:solidFill>
                  <a:srgbClr val="0E130F"/>
                </a:solidFill>
                <a:latin typeface="Inter"/>
              </a:defRPr>
            </a:pPr>
            <a:r>
              <a:rPr/>
              <a:t>Your keys.</a:t>
            </a:r>
          </a:p>
          <a:p>
            <a:pPr>
              <a:lnSpc>
                <a:spcPts val="2928"/>
              </a:lnSpc>
              <a:defRPr sz="2400" b="1">
                <a:solidFill>
                  <a:srgbClr val="0E130F"/>
                </a:solidFill>
                <a:latin typeface="Inter"/>
              </a:defRPr>
            </a:pPr>
            <a:r>
              <a:t>Your money.</a:t>
            </a:r>
          </a:p>
        </p:txBody>
      </p:sp>
      <p:sp>
        <p:nvSpPr>
          <p:cNvPr id="29" name="TextBox 28"/>
          <p:cNvSpPr txBox="1"/>
          <p:nvPr/>
        </p:nvSpPr>
        <p:spPr>
          <a:xfrm>
            <a:off x="6286500" y="2615184"/>
            <a:ext cx="2487168" cy="512064"/>
          </a:xfrm>
          <a:prstGeom prst="rect">
            <a:avLst/>
          </a:prstGeom>
          <a:noFill/>
        </p:spPr>
        <p:txBody>
          <a:bodyPr wrap="square" lIns="0" tIns="0" rIns="0" bIns="0">
            <a:noAutofit/>
          </a:bodyPr>
          <a:lstStyle/>
          <a:p>
            <a:pPr>
              <a:lnSpc>
                <a:spcPts val="1586"/>
              </a:lnSpc>
              <a:defRPr sz="1300" b="1">
                <a:solidFill>
                  <a:srgbClr val="0E130F"/>
                </a:solidFill>
                <a:latin typeface="Inter"/>
              </a:defRPr>
            </a:pPr>
            <a:r>
              <a:rPr/>
              <a:t>Pix entry.</a:t>
            </a:r>
          </a:p>
          <a:p>
            <a:pPr>
              <a:lnSpc>
                <a:spcPts val="1586"/>
              </a:lnSpc>
              <a:defRPr sz="1300" b="1">
                <a:solidFill>
                  <a:srgbClr val="0E130F"/>
                </a:solidFill>
                <a:latin typeface="Inter"/>
              </a:defRPr>
            </a:pPr>
            <a:r>
              <a:t>QR and NFC payments.</a:t>
            </a:r>
          </a:p>
        </p:txBody>
      </p:sp>
      <p:sp>
        <p:nvSpPr>
          <p:cNvPr id="30" name="TextBox 29"/>
          <p:cNvSpPr txBox="1"/>
          <p:nvPr/>
        </p:nvSpPr>
        <p:spPr>
          <a:xfrm>
            <a:off x="6286500" y="3511296"/>
            <a:ext cx="2487168" cy="457200"/>
          </a:xfrm>
          <a:prstGeom prst="rect">
            <a:avLst/>
          </a:prstGeom>
          <a:noFill/>
        </p:spPr>
        <p:txBody>
          <a:bodyPr wrap="square" lIns="0" tIns="0" rIns="0" bIns="0">
            <a:noAutofit/>
          </a:bodyPr>
          <a:lstStyle/>
          <a:p>
            <a:pPr>
              <a:lnSpc>
                <a:spcPts val="1220"/>
              </a:lnSpc>
              <a:defRPr sz="1000" b="0">
                <a:solidFill>
                  <a:srgbClr val="545C54"/>
                </a:solidFill>
                <a:latin typeface="Inter"/>
              </a:defRPr>
            </a:pPr>
            <a:r>
              <a:rPr/>
              <a:t>One connected experience.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30F"/>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12000" t="0" b="5440"/>
          <a:stretch/>
        </p:blipFill>
        <p:spPr>
          <a:xfrm>
            <a:off x="4953000" y="-285750"/>
            <a:ext cx="4191000" cy="4967288"/>
          </a:xfrm>
          <a:prstGeom prst="rect">
            <a:avLst/>
          </a:prstGeom>
        </p:spPr>
      </p:pic>
      <p:pic>
        <p:nvPicPr>
          <p:cNvPr id="4" name="Image 1" descr="preencoded.png">    </p:cNvPr>
          <p:cNvPicPr>
            <a:picLocks noChangeAspect="1"/>
          </p:cNvPicPr>
          <p:nvPr/>
        </p:nvPicPr>
        <p:blipFill>
          <a:blip r:embed="rId2"/>
          <a:srcRect l="0" r="0" t="0" b="0"/>
          <a:stretch/>
        </p:blipFill>
        <p:spPr>
          <a:xfrm>
            <a:off x="571500" y="457200"/>
            <a:ext cx="1514475" cy="381000"/>
          </a:xfrm>
          <a:prstGeom prst="rect">
            <a:avLst/>
          </a:prstGeom>
        </p:spPr>
      </p:pic>
      <p:sp>
        <p:nvSpPr>
          <p:cNvPr id="5" name="Text 0"/>
          <p:cNvSpPr/>
          <p:nvPr/>
        </p:nvSpPr>
        <p:spPr>
          <a:xfrm>
            <a:off x="571500" y="1428750"/>
            <a:ext cx="4762500" cy="2014538"/>
          </a:xfrm>
          <a:prstGeom prst="rect">
            <a:avLst/>
          </a:prstGeom>
          <a:noFill/>
          <a:ln/>
        </p:spPr>
        <p:txBody>
          <a:bodyPr wrap="square" lIns="0" tIns="0" rIns="0" bIns="0" rtlCol="0" anchor="t"/>
          <a:lstStyle/>
          <a:p>
            <a:pPr algn="l" indent="0" marL="0">
              <a:lnSpc>
                <a:spcPts val="5023"/>
              </a:lnSpc>
              <a:buNone/>
            </a:pPr>
            <a:r>
              <a:rPr lang="en-US" sz="5344" b="1" spc="-214" kern="0" dirty="0">
                <a:solidFill>
                  <a:srgbClr val="F7F7F2">
                    <a:alpha val="99000"/>
                  </a:srgbClr>
                </a:solidFill>
                <a:latin typeface="Inter" pitchFamily="34" charset="0"/>
                <a:ea typeface="Inter" pitchFamily="34" charset="-122"/>
                <a:cs typeface="Inter" pitchFamily="34" charset="-120"/>
              </a:rPr>
              <a:t>Pay like Pix.</a:t>
            </a:r>
            <a:endParaRPr lang="en-US" sz="5344" dirty="0"/>
          </a:p>
          <a:p>
            <a:pPr algn="l" indent="0" marL="0">
              <a:lnSpc>
                <a:spcPts val="5023"/>
              </a:lnSpc>
              <a:buNone/>
            </a:pPr>
            <a:r>
              <a:rPr lang="en-US" sz="5344" b="1" spc="-214" kern="0" dirty="0">
                <a:solidFill>
                  <a:srgbClr val="F7F7F2">
                    <a:alpha val="99000"/>
                  </a:srgbClr>
                </a:solidFill>
                <a:latin typeface="Inter" pitchFamily="34" charset="0"/>
                <a:ea typeface="Inter" pitchFamily="34" charset="-122"/>
                <a:cs typeface="Inter" pitchFamily="34" charset="-120"/>
              </a:rPr>
              <a:t>Own like</a:t>
            </a:r>
            <a:endParaRPr lang="en-US" sz="5344" dirty="0"/>
          </a:p>
          <a:p>
            <a:pPr algn="l" indent="0" marL="0">
              <a:lnSpc>
                <a:spcPts val="5023"/>
              </a:lnSpc>
              <a:buNone/>
            </a:pPr>
            <a:r>
              <a:rPr lang="en-US" sz="5344" b="1" spc="-214" kern="0" dirty="0">
                <a:solidFill>
                  <a:srgbClr val="F7F7F2">
                    <a:alpha val="99000"/>
                  </a:srgbClr>
                </a:solidFill>
                <a:latin typeface="Inter" pitchFamily="34" charset="0"/>
                <a:ea typeface="Inter" pitchFamily="34" charset="-122"/>
                <a:cs typeface="Inter" pitchFamily="34" charset="-120"/>
              </a:rPr>
              <a:t>crypto.</a:t>
            </a:r>
            <a:endParaRPr lang="en-US" sz="5344" dirty="0"/>
          </a:p>
        </p:txBody>
      </p:sp>
      <p:sp>
        <p:nvSpPr>
          <p:cNvPr id="6" name="Text 1"/>
          <p:cNvSpPr/>
          <p:nvPr/>
        </p:nvSpPr>
        <p:spPr>
          <a:xfrm>
            <a:off x="571500" y="3905250"/>
            <a:ext cx="4286250" cy="228600"/>
          </a:xfrm>
          <a:prstGeom prst="rect">
            <a:avLst/>
          </a:prstGeom>
          <a:noFill/>
          <a:ln/>
        </p:spPr>
        <p:txBody>
          <a:bodyPr wrap="square" lIns="0" tIns="0" rIns="0" bIns="0" rtlCol="0" anchor="t"/>
          <a:lstStyle/>
          <a:p>
            <a:pPr algn="l" indent="0" marL="0">
              <a:lnSpc>
                <a:spcPts val="1725"/>
              </a:lnSpc>
              <a:buNone/>
            </a:pPr>
            <a:r>
              <a:rPr lang="en-US" sz="1425" b="1" dirty="0">
                <a:solidFill>
                  <a:srgbClr val="BDF06B">
                    <a:alpha val="99000"/>
                  </a:srgbClr>
                </a:solidFill>
                <a:latin typeface="Inter" pitchFamily="34" charset="0"/>
                <a:ea typeface="Inter" pitchFamily="34" charset="-122"/>
                <a:cs typeface="Inter" pitchFamily="34" charset="-120"/>
              </a:rPr>
              <a:t>simpay.tech</a:t>
            </a:r>
            <a:endParaRPr lang="en-US" sz="1425" dirty="0"/>
          </a:p>
        </p:txBody>
      </p:sp>
      <p:sp>
        <p:nvSpPr>
          <p:cNvPr id="8" name="TextBox 7"/>
          <p:cNvSpPr txBox="1"/>
          <p:nvPr/>
        </p:nvSpPr>
        <p:spPr>
          <a:xfrm>
            <a:off x="571500" y="4238625"/>
            <a:ext cx="5029200" cy="185115"/>
          </a:xfrm>
          <a:prstGeom prst="rect">
            <a:avLst/>
          </a:prstGeom>
          <a:noFill/>
        </p:spPr>
        <p:txBody>
          <a:bodyPr wrap="none" lIns="0" tIns="0" rIns="0" bIns="0">
            <a:noAutofit/>
          </a:bodyPr>
          <a:lstStyle/>
          <a:p>
            <a:pPr>
              <a:lnSpc>
                <a:spcPts val="956"/>
              </a:lnSpc>
              <a:defRPr sz="784" b="0">
                <a:solidFill>
                  <a:srgbClr val="B2BDB2"/>
                </a:solidFill>
                <a:latin typeface="JetBrains Mono"/>
              </a:defRPr>
            </a:pPr>
            <a:r>
              <a:t>EXPLORE SIMPAY · HELLO@SIMPAY.COM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30F"/>
        </a:solidFill>
      </p:bgPr>
    </p:bg>
    <p:spTree>
      <p:nvGrpSpPr>
        <p:cNvPr id="1" name=""/>
        <p:cNvGrpSpPr/>
        <p:nvPr/>
      </p:nvGrpSpPr>
      <p:grpSpPr>
        <a:xfrm>
          <a:off x="0" y="0"/>
          <a:ext cx="0" cy="0"/>
          <a:chOff x="0" y="0"/>
          <a:chExt cx="0" cy="0"/>
        </a:xfrm>
      </p:grpSpPr>
      <p:pic>
        <p:nvPicPr>
          <p:cNvPr id="20" name="Image 0" descr="preencoded.png">    </p:cNvPr>
          <p:cNvPicPr>
            <a:picLocks noChangeAspect="1"/>
          </p:cNvPicPr>
          <p:nvPr/>
        </p:nvPicPr>
        <p:blipFill>
          <a:blip r:embed="rId1"/>
          <a:srcRect l="0" r="13953" t="0" b="0"/>
          <a:stretch/>
        </p:blipFill>
        <p:spPr>
          <a:xfrm>
            <a:off x="5619750" y="571500"/>
            <a:ext cx="3524250" cy="4519613"/>
          </a:xfrm>
          <a:prstGeom prst="rect">
            <a:avLst/>
          </a:prstGeom>
        </p:spPr>
      </p:pic>
      <p:pic>
        <p:nvPicPr>
          <p:cNvPr id="21" name="Image 1" descr="preencoded.png">    </p:cNvPr>
          <p:cNvPicPr>
            <a:picLocks noChangeAspect="1"/>
          </p:cNvPicPr>
          <p:nvPr/>
        </p:nvPicPr>
        <p:blipFill>
          <a:blip r:embed="rId2"/>
          <a:srcRect l="0" r="0" t="0" b="0"/>
          <a:stretch/>
        </p:blipFill>
        <p:spPr>
          <a:xfrm>
            <a:off x="571500" y="457200"/>
            <a:ext cx="1514475" cy="381000"/>
          </a:xfrm>
          <a:prstGeom prst="rect">
            <a:avLst/>
          </a:prstGeom>
        </p:spPr>
      </p:pic>
      <p:sp>
        <p:nvSpPr>
          <p:cNvPr id="25" name="TextBox 24"/>
          <p:cNvSpPr txBox="1"/>
          <p:nvPr/>
        </p:nvSpPr>
        <p:spPr>
          <a:xfrm>
            <a:off x="571500" y="1571625"/>
            <a:ext cx="457200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SOLANA  ·  COLOSSEUM 2026  ·  SUPERTEAM BRASIL</a:t>
            </a:r>
          </a:p>
        </p:txBody>
      </p:sp>
      <p:sp>
        <p:nvSpPr>
          <p:cNvPr id="23" name="Text 18"/>
          <p:cNvSpPr/>
          <p:nvPr/>
        </p:nvSpPr>
        <p:spPr>
          <a:xfrm>
            <a:off x="571500" y="1866900"/>
            <a:ext cx="5048250" cy="2114550"/>
          </a:xfrm>
          <a:prstGeom prst="rect">
            <a:avLst/>
          </a:prstGeom>
          <a:noFill/>
          <a:ln/>
        </p:spPr>
        <p:txBody>
          <a:bodyPr wrap="square" lIns="0" tIns="0" rIns="0" bIns="0" rtlCol="0" anchor="t"/>
          <a:lstStyle/>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Cripto com</a:t>
            </a:r>
            <a:endParaRPr lang="en-US" sz="4133" dirty="0"/>
          </a:p>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propósito real,</a:t>
            </a:r>
            <a:endParaRPr lang="en-US" sz="4133" dirty="0"/>
          </a:p>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nas mãos de</a:t>
            </a:r>
            <a:endParaRPr lang="en-US" sz="4133" dirty="0"/>
          </a:p>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quem é dono.</a:t>
            </a:r>
            <a:endParaRPr lang="en-US" sz="4133" dirty="0"/>
          </a:p>
        </p:txBody>
      </p:sp>
      <p:sp>
        <p:nvSpPr>
          <p:cNvPr id="24" name="Text 19"/>
          <p:cNvSpPr/>
          <p:nvPr/>
        </p:nvSpPr>
        <p:spPr>
          <a:xfrm>
            <a:off x="571500" y="4333875"/>
            <a:ext cx="4762500" cy="195263"/>
          </a:xfrm>
          <a:prstGeom prst="rect">
            <a:avLst/>
          </a:prstGeom>
          <a:noFill/>
          <a:ln/>
        </p:spPr>
        <p:txBody>
          <a:bodyPr wrap="square" lIns="0" tIns="0" rIns="0" bIns="0" rtlCol="0" anchor="t"/>
          <a:lstStyle/>
          <a:p>
            <a:pPr algn="l" indent="0" marL="0">
              <a:lnSpc>
                <a:spcPts val="1466"/>
              </a:lnSpc>
              <a:buNone/>
            </a:pPr>
            <a:r>
              <a:rPr lang="en-US" sz="1211" dirty="0">
                <a:solidFill>
                  <a:srgbClr val="B2BDB2">
                    <a:alpha val="99000"/>
                  </a:srgbClr>
                </a:solidFill>
                <a:latin typeface="Inter" pitchFamily="34" charset="0"/>
                <a:ea typeface="Inter" pitchFamily="34" charset="-122"/>
                <a:cs typeface="Inter" pitchFamily="34" charset="-120"/>
              </a:rPr>
              <a:t>Compre com Pix. Pague com um toque. A chave é sua.</a:t>
            </a:r>
            <a:endParaRPr lang="en-US" sz="121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2"/>
        </a:solidFill>
      </p:bgPr>
    </p:bg>
    <p:spTree>
      <p:nvGrpSpPr>
        <p:cNvPr id="1" name=""/>
        <p:cNvGrpSpPr/>
        <p:nvPr/>
      </p:nvGrpSpPr>
      <p:grpSpPr>
        <a:xfrm>
          <a:off x="0" y="0"/>
          <a:ext cx="0" cy="0"/>
          <a:chOff x="0" y="0"/>
          <a:chExt cx="0" cy="0"/>
        </a:xfrm>
      </p:grpSpPr>
      <p:sp>
        <p:nvSpPr>
          <p:cNvPr id="23" name="TextBox 22"/>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01 — O PROBLEMA</a:t>
            </a:r>
          </a:p>
        </p:txBody>
      </p:sp>
      <p:sp>
        <p:nvSpPr>
          <p:cNvPr id="8" name="Text 5"/>
          <p:cNvSpPr/>
          <p:nvPr/>
        </p:nvSpPr>
        <p:spPr>
          <a:xfrm>
            <a:off x="571500" y="809625"/>
            <a:ext cx="6191250" cy="1285875"/>
          </a:xfrm>
          <a:prstGeom prst="rect">
            <a:avLst/>
          </a:prstGeom>
          <a:noFill/>
          <a:ln/>
        </p:spPr>
        <p:txBody>
          <a:bodyPr wrap="square" lIns="0" tIns="0" rIns="0" bIns="0" rtlCol="0" anchor="t"/>
          <a:lstStyle/>
          <a:p>
            <a:pPr algn="l" indent="0" marL="0">
              <a:lnSpc>
                <a:spcPts val="3212"/>
              </a:lnSpc>
              <a:buNone/>
            </a:pPr>
            <a:r>
              <a:rPr lang="en-US" sz="3278" b="1" spc="-98" kern="0" dirty="0">
                <a:solidFill>
                  <a:srgbClr val="0E130F">
                    <a:alpha val="99000"/>
                  </a:srgbClr>
                </a:solidFill>
                <a:latin typeface="Inter" pitchFamily="34" charset="0"/>
                <a:ea typeface="Inter" pitchFamily="34" charset="-122"/>
                <a:cs typeface="Inter" pitchFamily="34" charset="-120"/>
              </a:rPr>
              <a:t>O Brasil paga na hora.</a:t>
            </a:r>
            <a:endParaRPr lang="en-US" sz="3278" dirty="0"/>
          </a:p>
          <a:p>
            <a:pPr algn="l" indent="0" marL="0">
              <a:lnSpc>
                <a:spcPts val="3212"/>
              </a:lnSpc>
              <a:buNone/>
            </a:pPr>
            <a:r>
              <a:rPr lang="en-US" sz="3278" b="1" spc="-98" kern="0" dirty="0">
                <a:solidFill>
                  <a:srgbClr val="0E130F">
                    <a:alpha val="99000"/>
                  </a:srgbClr>
                </a:solidFill>
                <a:latin typeface="Inter" pitchFamily="34" charset="0"/>
                <a:ea typeface="Inter" pitchFamily="34" charset="-122"/>
                <a:cs typeface="Inter" pitchFamily="34" charset="-120"/>
              </a:rPr>
              <a:t>Mas ainda não é dono</a:t>
            </a:r>
            <a:endParaRPr lang="en-US" sz="3278" dirty="0"/>
          </a:p>
          <a:p>
            <a:pPr algn="l" indent="0" marL="0">
              <a:lnSpc>
                <a:spcPts val="3212"/>
              </a:lnSpc>
              <a:buNone/>
            </a:pPr>
            <a:r>
              <a:rPr lang="en-US" sz="3278" b="1" spc="-98" kern="0" dirty="0">
                <a:solidFill>
                  <a:srgbClr val="0E130F">
                    <a:alpha val="99000"/>
                  </a:srgbClr>
                </a:solidFill>
                <a:latin typeface="Inter" pitchFamily="34" charset="0"/>
                <a:ea typeface="Inter" pitchFamily="34" charset="-122"/>
                <a:cs typeface="Inter" pitchFamily="34" charset="-120"/>
              </a:rPr>
              <a:t>do próprio dinheiro.</a:t>
            </a:r>
            <a:endParaRPr lang="en-US" sz="3278" dirty="0"/>
          </a:p>
        </p:txBody>
      </p:sp>
      <p:sp>
        <p:nvSpPr>
          <p:cNvPr id="9" name="Shape 6"/>
          <p:cNvSpPr/>
          <p:nvPr/>
        </p:nvSpPr>
        <p:spPr>
          <a:xfrm>
            <a:off x="571500" y="3143250"/>
            <a:ext cx="2286000" cy="19050"/>
          </a:xfrm>
          <a:prstGeom prst="rect">
            <a:avLst/>
          </a:prstGeom>
          <a:solidFill>
            <a:srgbClr val="0E130F"/>
          </a:solidFill>
          <a:ln/>
        </p:spPr>
        <p:txBody>
          <a:bodyPr/>
          <a:p/>
        </p:txBody>
      </p:sp>
      <p:sp>
        <p:nvSpPr>
          <p:cNvPr id="24" name="TextBox 23"/>
          <p:cNvSpPr txBox="1"/>
          <p:nvPr/>
        </p:nvSpPr>
        <p:spPr>
          <a:xfrm>
            <a:off x="571500" y="3276600"/>
            <a:ext cx="178308" cy="185115"/>
          </a:xfrm>
          <a:prstGeom prst="rect">
            <a:avLst/>
          </a:prstGeom>
          <a:noFill/>
        </p:spPr>
        <p:txBody>
          <a:bodyPr wrap="none" lIns="0" tIns="0" rIns="0" bIns="0">
            <a:noAutofit/>
          </a:bodyPr>
          <a:lstStyle/>
          <a:p>
            <a:pPr>
              <a:lnSpc>
                <a:spcPts val="956"/>
              </a:lnSpc>
              <a:defRPr sz="784" b="1">
                <a:solidFill>
                  <a:srgbClr val="545C54"/>
                </a:solidFill>
                <a:latin typeface="JetBrains Mono"/>
              </a:defRPr>
            </a:pPr>
            <a:r>
              <a:t>01</a:t>
            </a:r>
          </a:p>
        </p:txBody>
      </p:sp>
      <p:sp>
        <p:nvSpPr>
          <p:cNvPr id="11" name="Text 8"/>
          <p:cNvSpPr/>
          <p:nvPr/>
        </p:nvSpPr>
        <p:spPr>
          <a:xfrm>
            <a:off x="571500" y="3467100"/>
            <a:ext cx="2286000" cy="381000"/>
          </a:xfrm>
          <a:prstGeom prst="rect">
            <a:avLst/>
          </a:prstGeom>
          <a:noFill/>
          <a:ln/>
        </p:spPr>
        <p:txBody>
          <a:bodyPr wrap="square" lIns="0" tIns="0" rIns="0" bIns="0" rtlCol="0" anchor="t"/>
          <a:lstStyle/>
          <a:p>
            <a:pPr algn="l" indent="0" marL="0">
              <a:lnSpc>
                <a:spcPts val="1436"/>
              </a:lnSpc>
              <a:buNone/>
            </a:pPr>
            <a:r>
              <a:rPr lang="en-US" sz="1283" b="1" spc="-13" kern="0" dirty="0">
                <a:solidFill>
                  <a:srgbClr val="0E130F">
                    <a:alpha val="99000"/>
                  </a:srgbClr>
                </a:solidFill>
                <a:latin typeface="Inter" pitchFamily="34" charset="0"/>
                <a:ea typeface="Inter" pitchFamily="34" charset="-122"/>
                <a:cs typeface="Inter" pitchFamily="34" charset="-120"/>
              </a:rPr>
              <a:t>Intermediários em toda venda</a:t>
            </a:r>
            <a:endParaRPr lang="en-US" sz="1283" dirty="0"/>
          </a:p>
        </p:txBody>
      </p:sp>
      <p:sp>
        <p:nvSpPr>
          <p:cNvPr id="12" name="Text 9"/>
          <p:cNvSpPr/>
          <p:nvPr/>
        </p:nvSpPr>
        <p:spPr>
          <a:xfrm>
            <a:off x="571500" y="3905250"/>
            <a:ext cx="2190750" cy="514350"/>
          </a:xfrm>
          <a:prstGeom prst="rect">
            <a:avLst/>
          </a:prstGeom>
          <a:noFill/>
          <a:ln/>
        </p:spPr>
        <p:txBody>
          <a:bodyPr wrap="square" lIns="0" tIns="0" rIns="0" bIns="0" rtlCol="0" anchor="t"/>
          <a:lstStyle/>
          <a:p>
            <a:pPr algn="l" indent="0" marL="0">
              <a:lnSpc>
                <a:spcPts val="1297"/>
              </a:lnSpc>
              <a:buNone/>
            </a:pPr>
            <a:r>
              <a:rPr lang="en-US" sz="926" dirty="0">
                <a:solidFill>
                  <a:srgbClr val="545C54">
                    <a:alpha val="99000"/>
                  </a:srgbClr>
                </a:solidFill>
                <a:latin typeface="Inter" pitchFamily="34" charset="0"/>
                <a:ea typeface="Inter" pitchFamily="34" charset="-122"/>
                <a:cs typeface="Inter" pitchFamily="34" charset="-120"/>
              </a:rPr>
              <a:t>A maquininha fica com uma parte de cada venda e segura o dinheiro do lojista por dias.</a:t>
            </a:r>
            <a:endParaRPr lang="en-US" sz="926" dirty="0"/>
          </a:p>
        </p:txBody>
      </p:sp>
      <p:sp>
        <p:nvSpPr>
          <p:cNvPr id="13" name="Shape 10"/>
          <p:cNvSpPr/>
          <p:nvPr/>
        </p:nvSpPr>
        <p:spPr>
          <a:xfrm>
            <a:off x="3238500" y="3143250"/>
            <a:ext cx="2286000" cy="19050"/>
          </a:xfrm>
          <a:prstGeom prst="rect">
            <a:avLst/>
          </a:prstGeom>
          <a:solidFill>
            <a:srgbClr val="0E130F"/>
          </a:solidFill>
          <a:ln/>
        </p:spPr>
        <p:txBody>
          <a:bodyPr/>
          <a:p/>
        </p:txBody>
      </p:sp>
      <p:sp>
        <p:nvSpPr>
          <p:cNvPr id="25" name="TextBox 24"/>
          <p:cNvSpPr txBox="1"/>
          <p:nvPr/>
        </p:nvSpPr>
        <p:spPr>
          <a:xfrm>
            <a:off x="3238500" y="3276600"/>
            <a:ext cx="178308" cy="185115"/>
          </a:xfrm>
          <a:prstGeom prst="rect">
            <a:avLst/>
          </a:prstGeom>
          <a:noFill/>
        </p:spPr>
        <p:txBody>
          <a:bodyPr wrap="none" lIns="0" tIns="0" rIns="0" bIns="0">
            <a:noAutofit/>
          </a:bodyPr>
          <a:lstStyle/>
          <a:p>
            <a:pPr>
              <a:lnSpc>
                <a:spcPts val="956"/>
              </a:lnSpc>
              <a:defRPr sz="784" b="1">
                <a:solidFill>
                  <a:srgbClr val="545C54"/>
                </a:solidFill>
                <a:latin typeface="JetBrains Mono"/>
              </a:defRPr>
            </a:pPr>
            <a:r>
              <a:t>02</a:t>
            </a:r>
          </a:p>
        </p:txBody>
      </p:sp>
      <p:sp>
        <p:nvSpPr>
          <p:cNvPr id="15" name="Text 12"/>
          <p:cNvSpPr/>
          <p:nvPr/>
        </p:nvSpPr>
        <p:spPr>
          <a:xfrm>
            <a:off x="3238500" y="3467100"/>
            <a:ext cx="2286000" cy="190500"/>
          </a:xfrm>
          <a:prstGeom prst="rect">
            <a:avLst/>
          </a:prstGeom>
          <a:noFill/>
          <a:ln/>
        </p:spPr>
        <p:txBody>
          <a:bodyPr wrap="square" lIns="0" tIns="0" rIns="0" bIns="0" rtlCol="0" anchor="t"/>
          <a:lstStyle/>
          <a:p>
            <a:pPr algn="l" indent="0" marL="0">
              <a:lnSpc>
                <a:spcPts val="1436"/>
              </a:lnSpc>
              <a:buNone/>
            </a:pPr>
            <a:r>
              <a:rPr lang="en-US" sz="1283" b="1" spc="-13" kern="0" dirty="0">
                <a:solidFill>
                  <a:srgbClr val="0E130F">
                    <a:alpha val="99000"/>
                  </a:srgbClr>
                </a:solidFill>
                <a:latin typeface="Inter" pitchFamily="34" charset="0"/>
                <a:ea typeface="Inter" pitchFamily="34" charset="-122"/>
                <a:cs typeface="Inter" pitchFamily="34" charset="-120"/>
              </a:rPr>
              <a:t>Cripto sem uso real</a:t>
            </a:r>
            <a:endParaRPr lang="en-US" sz="1283" dirty="0"/>
          </a:p>
        </p:txBody>
      </p:sp>
      <p:sp>
        <p:nvSpPr>
          <p:cNvPr id="16" name="Text 13"/>
          <p:cNvSpPr/>
          <p:nvPr/>
        </p:nvSpPr>
        <p:spPr>
          <a:xfrm>
            <a:off x="3238500" y="3905250"/>
            <a:ext cx="2190750" cy="514350"/>
          </a:xfrm>
          <a:prstGeom prst="rect">
            <a:avLst/>
          </a:prstGeom>
          <a:noFill/>
          <a:ln/>
        </p:spPr>
        <p:txBody>
          <a:bodyPr wrap="square" lIns="0" tIns="0" rIns="0" bIns="0" rtlCol="0" anchor="t"/>
          <a:lstStyle/>
          <a:p>
            <a:pPr algn="l" indent="0" marL="0">
              <a:lnSpc>
                <a:spcPts val="1297"/>
              </a:lnSpc>
              <a:buNone/>
            </a:pPr>
            <a:r>
              <a:rPr lang="en-US" sz="926" dirty="0">
                <a:solidFill>
                  <a:srgbClr val="545C54">
                    <a:alpha val="99000"/>
                  </a:srgbClr>
                </a:solidFill>
                <a:latin typeface="Inter" pitchFamily="34" charset="0"/>
                <a:ea typeface="Inter" pitchFamily="34" charset="-122"/>
                <a:cs typeface="Inter" pitchFamily="34" charset="-120"/>
              </a:rPr>
              <a:t>A maioria dos tokens fica parada em corretoras. Não dá para comprar um café com eles.</a:t>
            </a:r>
            <a:endParaRPr lang="en-US" sz="926" dirty="0"/>
          </a:p>
        </p:txBody>
      </p:sp>
      <p:sp>
        <p:nvSpPr>
          <p:cNvPr id="17" name="Shape 14"/>
          <p:cNvSpPr/>
          <p:nvPr/>
        </p:nvSpPr>
        <p:spPr>
          <a:xfrm>
            <a:off x="5905500" y="3143250"/>
            <a:ext cx="2286000" cy="19050"/>
          </a:xfrm>
          <a:prstGeom prst="rect">
            <a:avLst/>
          </a:prstGeom>
          <a:solidFill>
            <a:srgbClr val="0E130F"/>
          </a:solidFill>
          <a:ln/>
        </p:spPr>
        <p:txBody>
          <a:bodyPr/>
          <a:p/>
        </p:txBody>
      </p:sp>
      <p:sp>
        <p:nvSpPr>
          <p:cNvPr id="26" name="TextBox 25"/>
          <p:cNvSpPr txBox="1"/>
          <p:nvPr/>
        </p:nvSpPr>
        <p:spPr>
          <a:xfrm>
            <a:off x="5905500" y="3276600"/>
            <a:ext cx="178308" cy="185115"/>
          </a:xfrm>
          <a:prstGeom prst="rect">
            <a:avLst/>
          </a:prstGeom>
          <a:noFill/>
        </p:spPr>
        <p:txBody>
          <a:bodyPr wrap="none" lIns="0" tIns="0" rIns="0" bIns="0">
            <a:noAutofit/>
          </a:bodyPr>
          <a:lstStyle/>
          <a:p>
            <a:pPr>
              <a:lnSpc>
                <a:spcPts val="956"/>
              </a:lnSpc>
              <a:defRPr sz="784" b="1">
                <a:solidFill>
                  <a:srgbClr val="545C54"/>
                </a:solidFill>
                <a:latin typeface="JetBrains Mono"/>
              </a:defRPr>
            </a:pPr>
            <a:r>
              <a:t>03</a:t>
            </a:r>
          </a:p>
        </p:txBody>
      </p:sp>
      <p:sp>
        <p:nvSpPr>
          <p:cNvPr id="19" name="Text 16"/>
          <p:cNvSpPr/>
          <p:nvPr/>
        </p:nvSpPr>
        <p:spPr>
          <a:xfrm>
            <a:off x="5905500" y="3467100"/>
            <a:ext cx="2286000" cy="190500"/>
          </a:xfrm>
          <a:prstGeom prst="rect">
            <a:avLst/>
          </a:prstGeom>
          <a:noFill/>
          <a:ln/>
        </p:spPr>
        <p:txBody>
          <a:bodyPr wrap="square" lIns="0" tIns="0" rIns="0" bIns="0" rtlCol="0" anchor="t"/>
          <a:lstStyle/>
          <a:p>
            <a:pPr algn="l" indent="0" marL="0">
              <a:lnSpc>
                <a:spcPts val="1436"/>
              </a:lnSpc>
              <a:buNone/>
            </a:pPr>
            <a:r>
              <a:rPr lang="en-US" sz="1283" b="1" spc="-13" kern="0" dirty="0">
                <a:solidFill>
                  <a:srgbClr val="0E130F">
                    <a:alpha val="99000"/>
                  </a:srgbClr>
                </a:solidFill>
                <a:latin typeface="Inter" pitchFamily="34" charset="0"/>
                <a:ea typeface="Inter" pitchFamily="34" charset="-122"/>
                <a:cs typeface="Inter" pitchFamily="34" charset="-120"/>
              </a:rPr>
              <a:t>Chaves nas mãos de outro</a:t>
            </a:r>
            <a:endParaRPr lang="en-US" sz="1283" dirty="0"/>
          </a:p>
        </p:txBody>
      </p:sp>
      <p:sp>
        <p:nvSpPr>
          <p:cNvPr id="20" name="Text 17"/>
          <p:cNvSpPr/>
          <p:nvPr/>
        </p:nvSpPr>
        <p:spPr>
          <a:xfrm>
            <a:off x="5905500" y="3905250"/>
            <a:ext cx="2190750" cy="514350"/>
          </a:xfrm>
          <a:prstGeom prst="rect">
            <a:avLst/>
          </a:prstGeom>
          <a:noFill/>
          <a:ln/>
        </p:spPr>
        <p:txBody>
          <a:bodyPr wrap="square" lIns="0" tIns="0" rIns="0" bIns="0" rtlCol="0" anchor="t"/>
          <a:lstStyle/>
          <a:p>
            <a:pPr algn="l" indent="0" marL="0">
              <a:lnSpc>
                <a:spcPts val="1297"/>
              </a:lnSpc>
              <a:buNone/>
            </a:pPr>
            <a:r>
              <a:rPr lang="en-US" sz="926" dirty="0">
                <a:solidFill>
                  <a:srgbClr val="545C54">
                    <a:alpha val="99000"/>
                  </a:srgbClr>
                </a:solidFill>
                <a:latin typeface="Inter" pitchFamily="34" charset="0"/>
                <a:ea typeface="Inter" pitchFamily="34" charset="-122"/>
                <a:cs typeface="Inter" pitchFamily="34" charset="-120"/>
              </a:rPr>
              <a:t>Comprar cripto quase sempre significa deixar as chaves, e o dinheiro, com uma corretora.</a:t>
            </a:r>
            <a:endParaRPr lang="en-US" sz="926" dirty="0"/>
          </a:p>
        </p:txBody>
      </p:sp>
      <p:sp>
        <p:nvSpPr>
          <p:cNvPr id="27" name="TextBox 26"/>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28" name="TextBox 27"/>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BDF06B"/>
        </a:solidFill>
      </p:bgPr>
    </p:bg>
    <p:spTree>
      <p:nvGrpSpPr>
        <p:cNvPr id="1" name=""/>
        <p:cNvGrpSpPr/>
        <p:nvPr/>
      </p:nvGrpSpPr>
      <p:grpSpPr>
        <a:xfrm>
          <a:off x="0" y="0"/>
          <a:ext cx="0" cy="0"/>
          <a:chOff x="0" y="0"/>
          <a:chExt cx="0" cy="0"/>
        </a:xfrm>
      </p:grpSpPr>
      <p:pic>
        <p:nvPicPr>
          <p:cNvPr id="25" name="Image 0" descr="preencoded.png">    </p:cNvPr>
          <p:cNvPicPr>
            <a:picLocks noChangeAspect="1"/>
          </p:cNvPicPr>
          <p:nvPr/>
        </p:nvPicPr>
        <p:blipFill>
          <a:blip r:embed="rId1"/>
          <a:srcRect l="0" r="11429" t="0" b="20984"/>
          <a:stretch/>
        </p:blipFill>
        <p:spPr>
          <a:xfrm>
            <a:off x="6191250" y="2238375"/>
            <a:ext cx="2952750" cy="2905125"/>
          </a:xfrm>
          <a:prstGeom prst="rect">
            <a:avLst/>
          </a:prstGeom>
        </p:spPr>
      </p:pic>
      <p:sp>
        <p:nvSpPr>
          <p:cNvPr id="29" name="TextBox 28"/>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0E130F"/>
                </a:solidFill>
                <a:latin typeface="JetBrains Mono"/>
              </a:defRPr>
            </a:pPr>
            <a:r>
              <a:t>02 — NOSSO PROPÓSITO</a:t>
            </a:r>
          </a:p>
        </p:txBody>
      </p:sp>
      <p:sp>
        <p:nvSpPr>
          <p:cNvPr id="27" name="Text 23"/>
          <p:cNvSpPr/>
          <p:nvPr/>
        </p:nvSpPr>
        <p:spPr>
          <a:xfrm>
            <a:off x="571500" y="904875"/>
            <a:ext cx="6191250" cy="1866900"/>
          </a:xfrm>
          <a:prstGeom prst="rect">
            <a:avLst/>
          </a:prstGeom>
          <a:noFill/>
          <a:ln/>
        </p:spPr>
        <p:txBody>
          <a:bodyPr wrap="square" lIns="0" tIns="0" rIns="0" bIns="0" rtlCol="0" anchor="t"/>
          <a:lstStyle/>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Tornar a cripto simples,</a:t>
            </a:r>
            <a:endParaRPr lang="en-US" sz="3563" dirty="0"/>
          </a:p>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útil para tudo e de</a:t>
            </a:r>
            <a:endParaRPr lang="en-US" sz="3563" dirty="0"/>
          </a:p>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verdade de quem</a:t>
            </a:r>
            <a:endParaRPr lang="en-US" sz="3563" dirty="0"/>
          </a:p>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a possui.</a:t>
            </a:r>
            <a:endParaRPr lang="en-US" sz="3563" dirty="0"/>
          </a:p>
        </p:txBody>
      </p:sp>
      <p:sp>
        <p:nvSpPr>
          <p:cNvPr id="28" name="Text 24"/>
          <p:cNvSpPr/>
          <p:nvPr/>
        </p:nvSpPr>
        <p:spPr>
          <a:xfrm>
            <a:off x="571500" y="4095750"/>
            <a:ext cx="5238750" cy="209550"/>
          </a:xfrm>
          <a:prstGeom prst="rect">
            <a:avLst/>
          </a:prstGeom>
          <a:noFill/>
          <a:ln/>
        </p:spPr>
        <p:txBody>
          <a:bodyPr wrap="square" lIns="0" tIns="0" rIns="0" bIns="0" rtlCol="0" anchor="t"/>
          <a:lstStyle/>
          <a:p>
            <a:pPr algn="l" indent="0" marL="0">
              <a:lnSpc>
                <a:spcPts val="1552"/>
              </a:lnSpc>
              <a:buNone/>
            </a:pPr>
            <a:r>
              <a:rPr lang="en-US" sz="1283" b="1" dirty="0">
                <a:solidFill>
                  <a:srgbClr val="0E130F">
                    <a:alpha val="99000"/>
                  </a:srgbClr>
                </a:solidFill>
                <a:latin typeface="Inter" pitchFamily="34" charset="0"/>
                <a:ea typeface="Inter" pitchFamily="34" charset="-122"/>
                <a:cs typeface="Inter" pitchFamily="34" charset="-120"/>
              </a:rPr>
              <a:t>Sem banco. Sem intermediário. Só você e sua carteira.</a:t>
            </a:r>
            <a:endParaRPr lang="en-US" sz="1283"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30F"/>
        </a:solidFill>
      </p:bgPr>
    </p:bg>
    <p:spTree>
      <p:nvGrpSpPr>
        <p:cNvPr id="1" name=""/>
        <p:cNvGrpSpPr/>
        <p:nvPr/>
      </p:nvGrpSpPr>
      <p:grpSpPr>
        <a:xfrm>
          <a:off x="0" y="0"/>
          <a:ext cx="0" cy="0"/>
          <a:chOff x="0" y="0"/>
          <a:chExt cx="0" cy="0"/>
        </a:xfrm>
      </p:grpSpPr>
      <p:sp>
        <p:nvSpPr>
          <p:cNvPr id="46" name="TextBox 45"/>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03 — COMO FUNCIONA</a:t>
            </a:r>
          </a:p>
        </p:txBody>
      </p:sp>
      <p:sp>
        <p:nvSpPr>
          <p:cNvPr id="25" name="Text 22"/>
          <p:cNvSpPr/>
          <p:nvPr/>
        </p:nvSpPr>
        <p:spPr>
          <a:xfrm>
            <a:off x="571500" y="809625"/>
            <a:ext cx="61912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Do Pix ao balcão</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em quatro passos.</a:t>
            </a:r>
            <a:endParaRPr lang="en-US" sz="2708" dirty="0"/>
          </a:p>
        </p:txBody>
      </p:sp>
      <p:sp>
        <p:nvSpPr>
          <p:cNvPr id="26" name="Shape 23"/>
          <p:cNvSpPr/>
          <p:nvPr/>
        </p:nvSpPr>
        <p:spPr>
          <a:xfrm>
            <a:off x="762000" y="2686050"/>
            <a:ext cx="7429500" cy="19050"/>
          </a:xfrm>
          <a:prstGeom prst="rect">
            <a:avLst/>
          </a:prstGeom>
          <a:solidFill>
            <a:srgbClr val="333D33"/>
          </a:solidFill>
          <a:ln/>
        </p:spPr>
        <p:txBody>
          <a:bodyPr/>
          <a:p/>
        </p:txBody>
      </p:sp>
      <p:sp>
        <p:nvSpPr>
          <p:cNvPr id="27" name="Shape 24"/>
          <p:cNvSpPr/>
          <p:nvPr/>
        </p:nvSpPr>
        <p:spPr>
          <a:xfrm>
            <a:off x="762000" y="2686050"/>
            <a:ext cx="5572125" cy="19050"/>
          </a:xfrm>
          <a:prstGeom prst="rect">
            <a:avLst/>
          </a:prstGeom>
          <a:solidFill>
            <a:srgbClr val="BDF06B"/>
          </a:solidFill>
          <a:ln/>
        </p:spPr>
        <p:txBody>
          <a:bodyPr/>
          <a:p/>
        </p:txBody>
      </p:sp>
      <p:sp>
        <p:nvSpPr>
          <p:cNvPr id="28" name="Shape 25"/>
          <p:cNvSpPr/>
          <p:nvPr/>
        </p:nvSpPr>
        <p:spPr>
          <a:xfrm>
            <a:off x="571500" y="2505075"/>
            <a:ext cx="381000" cy="381000"/>
          </a:xfrm>
          <a:prstGeom prst="ellipse">
            <a:avLst/>
          </a:prstGeom>
          <a:solidFill>
            <a:srgbClr val="0E130F"/>
          </a:solidFill>
          <a:ln w="13573">
            <a:solidFill>
              <a:srgbClr val="BDF06B"/>
            </a:solidFill>
            <a:prstDash val="solid"/>
          </a:ln>
        </p:spPr>
        <p:txBody>
          <a:bodyPr/>
          <a:p/>
        </p:txBody>
      </p:sp>
      <p:sp>
        <p:nvSpPr>
          <p:cNvPr id="47" name="TextBox 46"/>
          <p:cNvSpPr txBox="1"/>
          <p:nvPr/>
        </p:nvSpPr>
        <p:spPr>
          <a:xfrm>
            <a:off x="719138" y="2614613"/>
            <a:ext cx="138273" cy="223164"/>
          </a:xfrm>
          <a:prstGeom prst="rect">
            <a:avLst/>
          </a:prstGeom>
          <a:noFill/>
        </p:spPr>
        <p:txBody>
          <a:bodyPr wrap="none" lIns="0" tIns="0" rIns="0" bIns="0">
            <a:noAutofit/>
          </a:bodyPr>
          <a:lstStyle/>
          <a:p>
            <a:pPr>
              <a:lnSpc>
                <a:spcPts val="1217"/>
              </a:lnSpc>
              <a:defRPr sz="998" b="1">
                <a:solidFill>
                  <a:srgbClr val="BDF06B"/>
                </a:solidFill>
                <a:latin typeface="JetBrains Mono"/>
              </a:defRPr>
            </a:pPr>
            <a:r>
              <a:t>1</a:t>
            </a:r>
          </a:p>
        </p:txBody>
      </p:sp>
      <p:sp>
        <p:nvSpPr>
          <p:cNvPr id="30" name="Text 27"/>
          <p:cNvSpPr/>
          <p:nvPr/>
        </p:nvSpPr>
        <p:spPr>
          <a:xfrm>
            <a:off x="571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Compre com Pix</a:t>
            </a:r>
            <a:endParaRPr lang="en-US" sz="1354" dirty="0"/>
          </a:p>
        </p:txBody>
      </p:sp>
      <p:sp>
        <p:nvSpPr>
          <p:cNvPr id="31" name="Text 28"/>
          <p:cNvSpPr/>
          <p:nvPr/>
        </p:nvSpPr>
        <p:spPr>
          <a:xfrm>
            <a:off x="571500" y="3390900"/>
            <a:ext cx="1571625" cy="68580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Pague um Pix e receba SIMPAY na sua própria carteira Solana em segundos.</a:t>
            </a:r>
            <a:endParaRPr lang="en-US" sz="926" dirty="0"/>
          </a:p>
        </p:txBody>
      </p:sp>
      <p:sp>
        <p:nvSpPr>
          <p:cNvPr id="32" name="Shape 29"/>
          <p:cNvSpPr/>
          <p:nvPr/>
        </p:nvSpPr>
        <p:spPr>
          <a:xfrm>
            <a:off x="2476500" y="2505075"/>
            <a:ext cx="381000" cy="381000"/>
          </a:xfrm>
          <a:prstGeom prst="ellipse">
            <a:avLst/>
          </a:prstGeom>
          <a:solidFill>
            <a:srgbClr val="0E130F"/>
          </a:solidFill>
          <a:ln w="13573">
            <a:solidFill>
              <a:srgbClr val="BDF06B"/>
            </a:solidFill>
            <a:prstDash val="solid"/>
          </a:ln>
        </p:spPr>
        <p:txBody>
          <a:bodyPr/>
          <a:p/>
        </p:txBody>
      </p:sp>
      <p:sp>
        <p:nvSpPr>
          <p:cNvPr id="48" name="TextBox 47"/>
          <p:cNvSpPr txBox="1"/>
          <p:nvPr/>
        </p:nvSpPr>
        <p:spPr>
          <a:xfrm>
            <a:off x="2624138" y="2614613"/>
            <a:ext cx="138273" cy="223164"/>
          </a:xfrm>
          <a:prstGeom prst="rect">
            <a:avLst/>
          </a:prstGeom>
          <a:noFill/>
        </p:spPr>
        <p:txBody>
          <a:bodyPr wrap="none" lIns="0" tIns="0" rIns="0" bIns="0">
            <a:noAutofit/>
          </a:bodyPr>
          <a:lstStyle/>
          <a:p>
            <a:pPr>
              <a:lnSpc>
                <a:spcPts val="1217"/>
              </a:lnSpc>
              <a:defRPr sz="998" b="1">
                <a:solidFill>
                  <a:srgbClr val="BDF06B"/>
                </a:solidFill>
                <a:latin typeface="JetBrains Mono"/>
              </a:defRPr>
            </a:pPr>
            <a:r>
              <a:t>2</a:t>
            </a:r>
          </a:p>
        </p:txBody>
      </p:sp>
      <p:sp>
        <p:nvSpPr>
          <p:cNvPr id="34" name="Text 31"/>
          <p:cNvSpPr/>
          <p:nvPr/>
        </p:nvSpPr>
        <p:spPr>
          <a:xfrm>
            <a:off x="2476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É seu</a:t>
            </a:r>
            <a:endParaRPr lang="en-US" sz="1354" dirty="0"/>
          </a:p>
        </p:txBody>
      </p:sp>
      <p:sp>
        <p:nvSpPr>
          <p:cNvPr id="35" name="Text 32"/>
          <p:cNvSpPr/>
          <p:nvPr/>
        </p:nvSpPr>
        <p:spPr>
          <a:xfrm>
            <a:off x="2476500" y="3390900"/>
            <a:ext cx="1571625" cy="59436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Carteira com autocustódia. Suas chaves, com recuperação por PIN de seis dígitos.</a:t>
            </a:r>
            <a:endParaRPr lang="en-US" sz="926" dirty="0"/>
          </a:p>
        </p:txBody>
      </p:sp>
      <p:sp>
        <p:nvSpPr>
          <p:cNvPr id="36" name="Shape 33"/>
          <p:cNvSpPr/>
          <p:nvPr/>
        </p:nvSpPr>
        <p:spPr>
          <a:xfrm>
            <a:off x="4381500" y="2505075"/>
            <a:ext cx="381000" cy="381000"/>
          </a:xfrm>
          <a:prstGeom prst="ellipse">
            <a:avLst/>
          </a:prstGeom>
          <a:solidFill>
            <a:srgbClr val="0E130F"/>
          </a:solidFill>
          <a:ln w="13573">
            <a:solidFill>
              <a:srgbClr val="BDF06B"/>
            </a:solidFill>
            <a:prstDash val="solid"/>
          </a:ln>
        </p:spPr>
        <p:txBody>
          <a:bodyPr/>
          <a:p/>
        </p:txBody>
      </p:sp>
      <p:sp>
        <p:nvSpPr>
          <p:cNvPr id="49" name="TextBox 48"/>
          <p:cNvSpPr txBox="1"/>
          <p:nvPr/>
        </p:nvSpPr>
        <p:spPr>
          <a:xfrm>
            <a:off x="4529138" y="2614613"/>
            <a:ext cx="138273" cy="223164"/>
          </a:xfrm>
          <a:prstGeom prst="rect">
            <a:avLst/>
          </a:prstGeom>
          <a:noFill/>
        </p:spPr>
        <p:txBody>
          <a:bodyPr wrap="none" lIns="0" tIns="0" rIns="0" bIns="0">
            <a:noAutofit/>
          </a:bodyPr>
          <a:lstStyle/>
          <a:p>
            <a:pPr>
              <a:lnSpc>
                <a:spcPts val="1217"/>
              </a:lnSpc>
              <a:defRPr sz="998" b="1">
                <a:solidFill>
                  <a:srgbClr val="BDF06B"/>
                </a:solidFill>
                <a:latin typeface="JetBrains Mono"/>
              </a:defRPr>
            </a:pPr>
            <a:r>
              <a:t>3</a:t>
            </a:r>
          </a:p>
        </p:txBody>
      </p:sp>
      <p:sp>
        <p:nvSpPr>
          <p:cNvPr id="38" name="Text 35"/>
          <p:cNvSpPr/>
          <p:nvPr/>
        </p:nvSpPr>
        <p:spPr>
          <a:xfrm>
            <a:off x="4381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Encoste e pague</a:t>
            </a:r>
            <a:endParaRPr lang="en-US" sz="1354" dirty="0"/>
          </a:p>
        </p:txBody>
      </p:sp>
      <p:sp>
        <p:nvSpPr>
          <p:cNvPr id="39" name="Text 36"/>
          <p:cNvSpPr/>
          <p:nvPr/>
        </p:nvSpPr>
        <p:spPr>
          <a:xfrm>
            <a:off x="4381500" y="3390900"/>
            <a:ext cx="1571625" cy="51435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Leia o QR, encoste na tag NFC do caixa ou pague um Blink pela Phantom.</a:t>
            </a:r>
            <a:endParaRPr lang="en-US" sz="926" dirty="0"/>
          </a:p>
        </p:txBody>
      </p:sp>
      <p:sp>
        <p:nvSpPr>
          <p:cNvPr id="40" name="Shape 37"/>
          <p:cNvSpPr/>
          <p:nvPr/>
        </p:nvSpPr>
        <p:spPr>
          <a:xfrm>
            <a:off x="6286500" y="2505075"/>
            <a:ext cx="381000" cy="381000"/>
          </a:xfrm>
          <a:prstGeom prst="ellipse">
            <a:avLst/>
          </a:prstGeom>
          <a:solidFill>
            <a:srgbClr val="BDF06B"/>
          </a:solidFill>
          <a:ln w="13573">
            <a:solidFill>
              <a:srgbClr val="BDF06B"/>
            </a:solidFill>
            <a:prstDash val="solid"/>
          </a:ln>
        </p:spPr>
        <p:txBody>
          <a:bodyPr/>
          <a:p/>
        </p:txBody>
      </p:sp>
      <p:sp>
        <p:nvSpPr>
          <p:cNvPr id="50" name="TextBox 49"/>
          <p:cNvSpPr txBox="1"/>
          <p:nvPr/>
        </p:nvSpPr>
        <p:spPr>
          <a:xfrm>
            <a:off x="6434138" y="2614613"/>
            <a:ext cx="138273" cy="223164"/>
          </a:xfrm>
          <a:prstGeom prst="rect">
            <a:avLst/>
          </a:prstGeom>
          <a:noFill/>
        </p:spPr>
        <p:txBody>
          <a:bodyPr wrap="none" lIns="0" tIns="0" rIns="0" bIns="0">
            <a:noAutofit/>
          </a:bodyPr>
          <a:lstStyle/>
          <a:p>
            <a:pPr>
              <a:lnSpc>
                <a:spcPts val="1217"/>
              </a:lnSpc>
              <a:defRPr sz="998" b="1">
                <a:solidFill>
                  <a:srgbClr val="0E130F"/>
                </a:solidFill>
                <a:latin typeface="JetBrains Mono"/>
              </a:defRPr>
            </a:pPr>
            <a:r>
              <a:t>4</a:t>
            </a:r>
          </a:p>
        </p:txBody>
      </p:sp>
      <p:sp>
        <p:nvSpPr>
          <p:cNvPr id="42" name="Text 39"/>
          <p:cNvSpPr/>
          <p:nvPr/>
        </p:nvSpPr>
        <p:spPr>
          <a:xfrm>
            <a:off x="6286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Lojista recebe</a:t>
            </a:r>
            <a:endParaRPr lang="en-US" sz="1354" dirty="0"/>
          </a:p>
        </p:txBody>
      </p:sp>
      <p:sp>
        <p:nvSpPr>
          <p:cNvPr id="43" name="Text 40"/>
          <p:cNvSpPr/>
          <p:nvPr/>
        </p:nvSpPr>
        <p:spPr>
          <a:xfrm>
            <a:off x="6286500" y="3390900"/>
            <a:ext cx="1571625" cy="68580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Confirmado em cerca de 1 segundo. 0% para receber. Saque via Pix quando quiser.</a:t>
            </a:r>
            <a:endParaRPr lang="en-US" sz="926" dirty="0"/>
          </a:p>
        </p:txBody>
      </p:sp>
      <p:sp>
        <p:nvSpPr>
          <p:cNvPr id="51" name="TextBox 50"/>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52" name="TextBox 51"/>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04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7F2"/>
        </a:solidFill>
      </p:bgPr>
    </p:bg>
    <p:spTree>
      <p:nvGrpSpPr>
        <p:cNvPr id="1" name=""/>
        <p:cNvGrpSpPr/>
        <p:nvPr/>
      </p:nvGrpSpPr>
      <p:grpSpPr>
        <a:xfrm>
          <a:off x="0" y="0"/>
          <a:ext cx="0" cy="0"/>
          <a:chOff x="0" y="0"/>
          <a:chExt cx="0" cy="0"/>
        </a:xfrm>
      </p:grpSpPr>
      <p:sp>
        <p:nvSpPr>
          <p:cNvPr id="43" name="TextBox 42"/>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04 — O PRODUTO</a:t>
            </a:r>
          </a:p>
        </p:txBody>
      </p:sp>
      <p:sp>
        <p:nvSpPr>
          <p:cNvPr id="23" name="Text 20"/>
          <p:cNvSpPr/>
          <p:nvPr/>
        </p:nvSpPr>
        <p:spPr>
          <a:xfrm>
            <a:off x="571500" y="809625"/>
            <a:ext cx="3048000" cy="1562100"/>
          </a:xfrm>
          <a:prstGeom prst="rect">
            <a:avLst/>
          </a:prstGeom>
          <a:noFill/>
          <a:ln/>
        </p:spPr>
        <p:txBody>
          <a:bodyPr wrap="square" lIns="0" tIns="0" rIns="0" bIns="0" rtlCol="0" anchor="t"/>
          <a:lstStyle/>
          <a:p>
            <a:pPr algn="l" indent="0" marL="0">
              <a:lnSpc>
                <a:spcPts val="2933"/>
              </a:lnSpc>
              <a:buNone/>
            </a:pPr>
            <a:r>
              <a:rPr lang="en-US" sz="2992" b="1" spc="-90" kern="0" dirty="0">
                <a:solidFill>
                  <a:srgbClr val="0E130F">
                    <a:alpha val="99000"/>
                  </a:srgbClr>
                </a:solidFill>
                <a:latin typeface="Inter" pitchFamily="34" charset="0"/>
                <a:ea typeface="Inter" pitchFamily="34" charset="-122"/>
                <a:cs typeface="Inter" pitchFamily="34" charset="-120"/>
              </a:rPr>
              <a:t>Uma rede.</a:t>
            </a:r>
            <a:endParaRPr lang="en-US" sz="2992" dirty="0"/>
          </a:p>
          <a:p>
            <a:pPr algn="l" indent="0" marL="0">
              <a:lnSpc>
                <a:spcPts val="2933"/>
              </a:lnSpc>
              <a:buNone/>
            </a:pPr>
            <a:r>
              <a:rPr lang="en-US" sz="2992" b="1" spc="-90" kern="0" dirty="0">
                <a:solidFill>
                  <a:srgbClr val="0E130F">
                    <a:alpha val="99000"/>
                  </a:srgbClr>
                </a:solidFill>
                <a:latin typeface="Inter" pitchFamily="34" charset="0"/>
                <a:ea typeface="Inter" pitchFamily="34" charset="-122"/>
                <a:cs typeface="Inter" pitchFamily="34" charset="-120"/>
              </a:rPr>
              <a:t>Quatro produtos.</a:t>
            </a:r>
            <a:endParaRPr lang="en-US" sz="2992" dirty="0"/>
          </a:p>
          <a:p>
            <a:pPr algn="l" indent="0" marL="0">
              <a:lnSpc>
                <a:spcPts val="2933"/>
              </a:lnSpc>
              <a:buNone/>
            </a:pPr>
            <a:r>
              <a:rPr lang="en-US" sz="2992" b="1" spc="-90" kern="0" dirty="0">
                <a:solidFill>
                  <a:srgbClr val="0E130F">
                    <a:alpha val="99000"/>
                  </a:srgbClr>
                </a:solidFill>
                <a:latin typeface="Inter" pitchFamily="34" charset="0"/>
                <a:ea typeface="Inter" pitchFamily="34" charset="-122"/>
                <a:cs typeface="Inter" pitchFamily="34" charset="-120"/>
              </a:rPr>
              <a:t>Todos no ar.</a:t>
            </a:r>
            <a:endParaRPr lang="en-US" sz="2992" dirty="0"/>
          </a:p>
        </p:txBody>
      </p:sp>
      <p:sp>
        <p:nvSpPr>
          <p:cNvPr id="24" name="Text 21"/>
          <p:cNvSpPr/>
          <p:nvPr/>
        </p:nvSpPr>
        <p:spPr>
          <a:xfrm>
            <a:off x="571500" y="2476500"/>
            <a:ext cx="2667000" cy="371475"/>
          </a:xfrm>
          <a:prstGeom prst="rect">
            <a:avLst/>
          </a:prstGeom>
          <a:noFill/>
          <a:ln/>
        </p:spPr>
        <p:txBody>
          <a:bodyPr wrap="square" lIns="0" tIns="0" rIns="0" bIns="0" rtlCol="0" anchor="t"/>
          <a:lstStyle/>
          <a:p>
            <a:pPr algn="l" indent="0" marL="0">
              <a:lnSpc>
                <a:spcPts val="1397"/>
              </a:lnSpc>
              <a:buNone/>
            </a:pPr>
            <a:r>
              <a:rPr lang="en-US" sz="998" dirty="0">
                <a:solidFill>
                  <a:srgbClr val="545C54">
                    <a:alpha val="99000"/>
                  </a:srgbClr>
                </a:solidFill>
                <a:latin typeface="Inter" pitchFamily="34" charset="0"/>
                <a:ea typeface="Inter" pitchFamily="34" charset="-122"/>
                <a:cs typeface="Inter" pitchFamily="34" charset="-120"/>
              </a:rPr>
              <a:t>Construído e entregue de ponta a ponta: cliente, lojista, web e operação.</a:t>
            </a:r>
            <a:endParaRPr lang="en-US" sz="998" dirty="0"/>
          </a:p>
        </p:txBody>
      </p:sp>
      <p:sp>
        <p:nvSpPr>
          <p:cNvPr id="25" name="Shape 22"/>
          <p:cNvSpPr/>
          <p:nvPr/>
        </p:nvSpPr>
        <p:spPr>
          <a:xfrm>
            <a:off x="4095750" y="809625"/>
            <a:ext cx="2190750" cy="19050"/>
          </a:xfrm>
          <a:prstGeom prst="rect">
            <a:avLst/>
          </a:prstGeom>
          <a:solidFill>
            <a:srgbClr val="0E130F"/>
          </a:solidFill>
          <a:ln/>
        </p:spPr>
        <p:txBody>
          <a:bodyPr/>
          <a:p/>
        </p:txBody>
      </p:sp>
      <p:sp>
        <p:nvSpPr>
          <p:cNvPr id="44" name="TextBox 43"/>
          <p:cNvSpPr txBox="1"/>
          <p:nvPr/>
        </p:nvSpPr>
        <p:spPr>
          <a:xfrm>
            <a:off x="4095750" y="942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APP</a:t>
            </a:r>
          </a:p>
        </p:txBody>
      </p:sp>
      <p:sp>
        <p:nvSpPr>
          <p:cNvPr id="27" name="Text 24"/>
          <p:cNvSpPr/>
          <p:nvPr/>
        </p:nvSpPr>
        <p:spPr>
          <a:xfrm>
            <a:off x="4095750" y="1143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Carteira SimPay</a:t>
            </a:r>
            <a:endParaRPr lang="en-US" sz="1354" dirty="0"/>
          </a:p>
        </p:txBody>
      </p:sp>
      <p:sp>
        <p:nvSpPr>
          <p:cNvPr id="28" name="Text 25"/>
          <p:cNvSpPr/>
          <p:nvPr/>
        </p:nvSpPr>
        <p:spPr>
          <a:xfrm>
            <a:off x="4095750" y="1428750"/>
            <a:ext cx="2143125" cy="666750"/>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iOS e Android. Custódia própria, pagamento por QR e NFC, cashback, indicações e aviso quando o dinheiro chega.</a:t>
            </a:r>
            <a:endParaRPr lang="en-US" sz="891" dirty="0"/>
          </a:p>
        </p:txBody>
      </p:sp>
      <p:sp>
        <p:nvSpPr>
          <p:cNvPr id="29" name="Shape 26"/>
          <p:cNvSpPr/>
          <p:nvPr/>
        </p:nvSpPr>
        <p:spPr>
          <a:xfrm>
            <a:off x="6572250" y="809625"/>
            <a:ext cx="2190750" cy="19050"/>
          </a:xfrm>
          <a:prstGeom prst="rect">
            <a:avLst/>
          </a:prstGeom>
          <a:solidFill>
            <a:srgbClr val="0E130F"/>
          </a:solidFill>
          <a:ln/>
        </p:spPr>
        <p:txBody>
          <a:bodyPr/>
          <a:p/>
        </p:txBody>
      </p:sp>
      <p:sp>
        <p:nvSpPr>
          <p:cNvPr id="45" name="TextBox 44"/>
          <p:cNvSpPr txBox="1"/>
          <p:nvPr/>
        </p:nvSpPr>
        <p:spPr>
          <a:xfrm>
            <a:off x="6572250" y="942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PDV</a:t>
            </a:r>
          </a:p>
        </p:txBody>
      </p:sp>
      <p:sp>
        <p:nvSpPr>
          <p:cNvPr id="31" name="Text 28"/>
          <p:cNvSpPr/>
          <p:nvPr/>
        </p:nvSpPr>
        <p:spPr>
          <a:xfrm>
            <a:off x="6572250" y="1143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PDV do lojista</a:t>
            </a:r>
            <a:endParaRPr lang="en-US" sz="1354" dirty="0"/>
          </a:p>
        </p:txBody>
      </p:sp>
      <p:sp>
        <p:nvSpPr>
          <p:cNvPr id="32" name="Text 29"/>
          <p:cNvSpPr/>
          <p:nvPr/>
        </p:nvSpPr>
        <p:spPr>
          <a:xfrm>
            <a:off x="6572250" y="1428750"/>
            <a:ext cx="2143125" cy="500063"/>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Cobra em reais, mostra o QR, vende por tags NFC em cada caixa e saca via Pix. A carteira volta só com o PIN.</a:t>
            </a:r>
            <a:endParaRPr lang="en-US" sz="891" dirty="0"/>
          </a:p>
        </p:txBody>
      </p:sp>
      <p:sp>
        <p:nvSpPr>
          <p:cNvPr id="33" name="Shape 30"/>
          <p:cNvSpPr/>
          <p:nvPr/>
        </p:nvSpPr>
        <p:spPr>
          <a:xfrm>
            <a:off x="4095750" y="2714625"/>
            <a:ext cx="2190750" cy="19050"/>
          </a:xfrm>
          <a:prstGeom prst="rect">
            <a:avLst/>
          </a:prstGeom>
          <a:solidFill>
            <a:srgbClr val="0E130F"/>
          </a:solidFill>
          <a:ln/>
        </p:spPr>
        <p:txBody>
          <a:bodyPr/>
          <a:p/>
        </p:txBody>
      </p:sp>
      <p:sp>
        <p:nvSpPr>
          <p:cNvPr id="46" name="TextBox 45"/>
          <p:cNvSpPr txBox="1"/>
          <p:nvPr/>
        </p:nvSpPr>
        <p:spPr>
          <a:xfrm>
            <a:off x="4095750" y="2847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WEB</a:t>
            </a:r>
          </a:p>
        </p:txBody>
      </p:sp>
      <p:sp>
        <p:nvSpPr>
          <p:cNvPr id="35" name="Text 32"/>
          <p:cNvSpPr/>
          <p:nvPr/>
        </p:nvSpPr>
        <p:spPr>
          <a:xfrm>
            <a:off x="4095750" y="3048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simpay.tech + Blinks</a:t>
            </a:r>
            <a:endParaRPr lang="en-US" sz="1354" dirty="0"/>
          </a:p>
        </p:txBody>
      </p:sp>
      <p:sp>
        <p:nvSpPr>
          <p:cNvPr id="36" name="Text 33"/>
          <p:cNvSpPr/>
          <p:nvPr/>
        </p:nvSpPr>
        <p:spPr>
          <a:xfrm>
            <a:off x="4095750" y="3333750"/>
            <a:ext cx="2143125" cy="666750"/>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Compra de SIMPAY com Pix para qualquer carteira. Todo link de caixa é um Blink da Solana pagável pela Phantom.</a:t>
            </a:r>
            <a:endParaRPr lang="en-US" sz="891" dirty="0"/>
          </a:p>
        </p:txBody>
      </p:sp>
      <p:sp>
        <p:nvSpPr>
          <p:cNvPr id="37" name="Shape 34"/>
          <p:cNvSpPr/>
          <p:nvPr/>
        </p:nvSpPr>
        <p:spPr>
          <a:xfrm>
            <a:off x="6572250" y="2714625"/>
            <a:ext cx="2190750" cy="19050"/>
          </a:xfrm>
          <a:prstGeom prst="rect">
            <a:avLst/>
          </a:prstGeom>
          <a:solidFill>
            <a:srgbClr val="0E130F"/>
          </a:solidFill>
          <a:ln/>
        </p:spPr>
        <p:txBody>
          <a:bodyPr/>
          <a:p/>
        </p:txBody>
      </p:sp>
      <p:sp>
        <p:nvSpPr>
          <p:cNvPr id="47" name="TextBox 46"/>
          <p:cNvSpPr txBox="1"/>
          <p:nvPr/>
        </p:nvSpPr>
        <p:spPr>
          <a:xfrm>
            <a:off x="6572250" y="2847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OPS</a:t>
            </a:r>
          </a:p>
        </p:txBody>
      </p:sp>
      <p:sp>
        <p:nvSpPr>
          <p:cNvPr id="39" name="Text 36"/>
          <p:cNvSpPr/>
          <p:nvPr/>
        </p:nvSpPr>
        <p:spPr>
          <a:xfrm>
            <a:off x="6572250" y="3048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Painel administrativo</a:t>
            </a:r>
            <a:endParaRPr lang="en-US" sz="1354" dirty="0"/>
          </a:p>
        </p:txBody>
      </p:sp>
      <p:sp>
        <p:nvSpPr>
          <p:cNvPr id="40" name="Text 37"/>
          <p:cNvSpPr/>
          <p:nvPr/>
        </p:nvSpPr>
        <p:spPr>
          <a:xfrm>
            <a:off x="6572250" y="3333750"/>
            <a:ext cx="2143125" cy="666750"/>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Aprovação de parceiros, revisão de cashback, webhooks do Pix, custos na Solana, campanhas de push e auditoria completa.</a:t>
            </a:r>
            <a:endParaRPr lang="en-US" sz="891" dirty="0"/>
          </a:p>
        </p:txBody>
      </p:sp>
      <p:sp>
        <p:nvSpPr>
          <p:cNvPr id="48" name="TextBox 47"/>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49" name="TextBox 48"/>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30F"/>
        </a:solidFill>
      </p:bgPr>
    </p:bg>
    <p:spTree>
      <p:nvGrpSpPr>
        <p:cNvPr id="1" name=""/>
        <p:cNvGrpSpPr/>
        <p:nvPr/>
      </p:nvGrpSpPr>
      <p:grpSpPr>
        <a:xfrm>
          <a:off x="0" y="0"/>
          <a:ext cx="0" cy="0"/>
          <a:chOff x="0" y="0"/>
          <a:chExt cx="0" cy="0"/>
        </a:xfrm>
      </p:grpSpPr>
      <p:pic>
        <p:nvPicPr>
          <p:cNvPr id="28" name="Image 0" descr="preencoded.png">    </p:cNvPr>
          <p:cNvPicPr>
            <a:picLocks noChangeAspect="1"/>
          </p:cNvPicPr>
          <p:nvPr/>
        </p:nvPicPr>
        <p:blipFill>
          <a:blip r:embed="rId1"/>
          <a:srcRect l="0" r="41935" t="0" b="0"/>
          <a:stretch/>
        </p:blipFill>
        <p:spPr>
          <a:xfrm>
            <a:off x="-1238250" y="1714500"/>
            <a:ext cx="1714500" cy="3257550"/>
          </a:xfrm>
          <a:prstGeom prst="rect">
            <a:avLst/>
          </a:prstGeom>
        </p:spPr>
      </p:pic>
      <p:sp>
        <p:nvSpPr>
          <p:cNvPr id="48" name="TextBox 47"/>
          <p:cNvSpPr txBox="1"/>
          <p:nvPr/>
        </p:nvSpPr>
        <p:spPr>
          <a:xfrm>
            <a:off x="2857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05 — O QUE É NOVO</a:t>
            </a:r>
          </a:p>
        </p:txBody>
      </p:sp>
      <p:sp>
        <p:nvSpPr>
          <p:cNvPr id="30" name="Text 26"/>
          <p:cNvSpPr/>
          <p:nvPr/>
        </p:nvSpPr>
        <p:spPr>
          <a:xfrm>
            <a:off x="2857500" y="762000"/>
            <a:ext cx="5715000" cy="685800"/>
          </a:xfrm>
          <a:prstGeom prst="rect">
            <a:avLst/>
          </a:prstGeom>
          <a:noFill/>
          <a:ln/>
        </p:spPr>
        <p:txBody>
          <a:bodyPr wrap="square" lIns="0" tIns="0" rIns="0" bIns="0" rtlCol="0" anchor="t"/>
          <a:lstStyle/>
          <a:p>
            <a:pPr algn="l" indent="0" marL="0">
              <a:lnSpc>
                <a:spcPts val="2565"/>
              </a:lnSpc>
              <a:buNone/>
            </a:pPr>
            <a:r>
              <a:rPr lang="en-US" sz="2565" b="1" spc="-77" kern="0" dirty="0">
                <a:solidFill>
                  <a:srgbClr val="F7F7F2">
                    <a:alpha val="99000"/>
                  </a:srgbClr>
                </a:solidFill>
                <a:latin typeface="Inter" pitchFamily="34" charset="0"/>
                <a:ea typeface="Inter" pitchFamily="34" charset="-122"/>
                <a:cs typeface="Inter" pitchFamily="34" charset="-120"/>
              </a:rPr>
              <a:t>Cripto que funciona</a:t>
            </a:r>
            <a:endParaRPr lang="en-US" sz="2565" dirty="0"/>
          </a:p>
          <a:p>
            <a:pPr algn="l" indent="0" marL="0">
              <a:lnSpc>
                <a:spcPts val="2565"/>
              </a:lnSpc>
              <a:buNone/>
            </a:pPr>
            <a:r>
              <a:rPr lang="en-US" sz="2565" b="1" spc="-77" kern="0" dirty="0">
                <a:solidFill>
                  <a:srgbClr val="F7F7F2">
                    <a:alpha val="99000"/>
                  </a:srgbClr>
                </a:solidFill>
                <a:latin typeface="Inter" pitchFamily="34" charset="0"/>
                <a:ea typeface="Inter" pitchFamily="34" charset="-122"/>
                <a:cs typeface="Inter" pitchFamily="34" charset="-120"/>
              </a:rPr>
              <a:t>como um app de pagamento.</a:t>
            </a:r>
            <a:endParaRPr lang="en-US" sz="2565" dirty="0"/>
          </a:p>
        </p:txBody>
      </p:sp>
      <p:sp>
        <p:nvSpPr>
          <p:cNvPr id="31" name="Shape 27"/>
          <p:cNvSpPr/>
          <p:nvPr/>
        </p:nvSpPr>
        <p:spPr>
          <a:xfrm>
            <a:off x="2857500" y="2000250"/>
            <a:ext cx="5715000" cy="9525"/>
          </a:xfrm>
          <a:prstGeom prst="rect">
            <a:avLst/>
          </a:prstGeom>
          <a:solidFill>
            <a:srgbClr val="333D33"/>
          </a:solidFill>
          <a:ln/>
        </p:spPr>
        <p:txBody>
          <a:bodyPr/>
          <a:p/>
        </p:txBody>
      </p:sp>
      <p:sp>
        <p:nvSpPr>
          <p:cNvPr id="49" name="TextBox 48"/>
          <p:cNvSpPr txBox="1"/>
          <p:nvPr/>
        </p:nvSpPr>
        <p:spPr>
          <a:xfrm>
            <a:off x="2857500" y="214312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01</a:t>
            </a:r>
          </a:p>
        </p:txBody>
      </p:sp>
      <p:sp>
        <p:nvSpPr>
          <p:cNvPr id="33" name="Text 29"/>
          <p:cNvSpPr/>
          <p:nvPr/>
        </p:nvSpPr>
        <p:spPr>
          <a:xfrm>
            <a:off x="3238500" y="2114550"/>
            <a:ext cx="2476500" cy="352425"/>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Pagamento por aproximação na Solana</a:t>
            </a:r>
            <a:endParaRPr lang="en-US" sz="1211" dirty="0"/>
          </a:p>
        </p:txBody>
      </p:sp>
      <p:sp>
        <p:nvSpPr>
          <p:cNvPr id="34" name="Text 30"/>
          <p:cNvSpPr/>
          <p:nvPr/>
        </p:nvSpPr>
        <p:spPr>
          <a:xfrm>
            <a:off x="5810250" y="2124075"/>
            <a:ext cx="2762250" cy="485775"/>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Tags NFC em cada caixa abrem a cobrança do momento. Sem maquininha e sem app do lado do lojista.</a:t>
            </a:r>
            <a:endParaRPr lang="en-US" sz="855" dirty="0"/>
          </a:p>
        </p:txBody>
      </p:sp>
      <p:sp>
        <p:nvSpPr>
          <p:cNvPr id="35" name="Shape 31"/>
          <p:cNvSpPr/>
          <p:nvPr/>
        </p:nvSpPr>
        <p:spPr>
          <a:xfrm>
            <a:off x="2857500" y="2628900"/>
            <a:ext cx="5715000" cy="9525"/>
          </a:xfrm>
          <a:prstGeom prst="rect">
            <a:avLst/>
          </a:prstGeom>
          <a:solidFill>
            <a:srgbClr val="333D33"/>
          </a:solidFill>
          <a:ln/>
        </p:spPr>
        <p:txBody>
          <a:bodyPr/>
          <a:p/>
        </p:txBody>
      </p:sp>
      <p:sp>
        <p:nvSpPr>
          <p:cNvPr id="50" name="TextBox 49"/>
          <p:cNvSpPr txBox="1"/>
          <p:nvPr/>
        </p:nvSpPr>
        <p:spPr>
          <a:xfrm>
            <a:off x="2857500" y="277177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02</a:t>
            </a:r>
          </a:p>
        </p:txBody>
      </p:sp>
      <p:sp>
        <p:nvSpPr>
          <p:cNvPr id="37" name="Text 33"/>
          <p:cNvSpPr/>
          <p:nvPr/>
        </p:nvSpPr>
        <p:spPr>
          <a:xfrm>
            <a:off x="3238500" y="2743200"/>
            <a:ext cx="2476500"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Todo caixa é um Blink</a:t>
            </a:r>
            <a:endParaRPr lang="en-US" sz="1211" dirty="0"/>
          </a:p>
        </p:txBody>
      </p:sp>
      <p:sp>
        <p:nvSpPr>
          <p:cNvPr id="38" name="Text 34"/>
          <p:cNvSpPr/>
          <p:nvPr/>
        </p:nvSpPr>
        <p:spPr>
          <a:xfrm>
            <a:off x="5810250" y="2752725"/>
            <a:ext cx="2762250" cy="323850"/>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O mesmo link vira uma Solana Action: pague pela Phantom ou onde os Blinks aparecem.</a:t>
            </a:r>
            <a:endParaRPr lang="en-US" sz="855" dirty="0"/>
          </a:p>
        </p:txBody>
      </p:sp>
      <p:sp>
        <p:nvSpPr>
          <p:cNvPr id="39" name="Shape 35"/>
          <p:cNvSpPr/>
          <p:nvPr/>
        </p:nvSpPr>
        <p:spPr>
          <a:xfrm>
            <a:off x="2857500" y="3257550"/>
            <a:ext cx="5715000" cy="9525"/>
          </a:xfrm>
          <a:prstGeom prst="rect">
            <a:avLst/>
          </a:prstGeom>
          <a:solidFill>
            <a:srgbClr val="333D33"/>
          </a:solidFill>
          <a:ln/>
        </p:spPr>
        <p:txBody>
          <a:bodyPr/>
          <a:p/>
        </p:txBody>
      </p:sp>
      <p:sp>
        <p:nvSpPr>
          <p:cNvPr id="51" name="TextBox 50"/>
          <p:cNvSpPr txBox="1"/>
          <p:nvPr/>
        </p:nvSpPr>
        <p:spPr>
          <a:xfrm>
            <a:off x="2857500" y="340042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03</a:t>
            </a:r>
          </a:p>
        </p:txBody>
      </p:sp>
      <p:sp>
        <p:nvSpPr>
          <p:cNvPr id="41" name="Text 37"/>
          <p:cNvSpPr/>
          <p:nvPr/>
        </p:nvSpPr>
        <p:spPr>
          <a:xfrm>
            <a:off x="3238500" y="3371850"/>
            <a:ext cx="2476500"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Recuperação com PIN</a:t>
            </a:r>
            <a:endParaRPr lang="en-US" sz="1211" dirty="0"/>
          </a:p>
        </p:txBody>
      </p:sp>
      <p:sp>
        <p:nvSpPr>
          <p:cNvPr id="42" name="Text 38"/>
          <p:cNvSpPr/>
          <p:nvPr/>
        </p:nvSpPr>
        <p:spPr>
          <a:xfrm>
            <a:off x="5810250" y="3381375"/>
            <a:ext cx="2762250" cy="485775"/>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A carteira do lojista volta em outro aparelho só com o PIN (Argon2id + segredo do servidor). A chave nunca sai do aparelho.</a:t>
            </a:r>
            <a:endParaRPr lang="en-US" sz="855" dirty="0"/>
          </a:p>
        </p:txBody>
      </p:sp>
      <p:sp>
        <p:nvSpPr>
          <p:cNvPr id="43" name="Shape 39"/>
          <p:cNvSpPr/>
          <p:nvPr/>
        </p:nvSpPr>
        <p:spPr>
          <a:xfrm>
            <a:off x="2857500" y="3886200"/>
            <a:ext cx="5715000" cy="9525"/>
          </a:xfrm>
          <a:prstGeom prst="rect">
            <a:avLst/>
          </a:prstGeom>
          <a:solidFill>
            <a:srgbClr val="333D33"/>
          </a:solidFill>
          <a:ln/>
        </p:spPr>
        <p:txBody>
          <a:bodyPr/>
          <a:p/>
        </p:txBody>
      </p:sp>
      <p:sp>
        <p:nvSpPr>
          <p:cNvPr id="52" name="TextBox 51"/>
          <p:cNvSpPr txBox="1"/>
          <p:nvPr/>
        </p:nvSpPr>
        <p:spPr>
          <a:xfrm>
            <a:off x="2857500" y="402907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04</a:t>
            </a:r>
          </a:p>
        </p:txBody>
      </p:sp>
      <p:sp>
        <p:nvSpPr>
          <p:cNvPr id="45" name="Text 41"/>
          <p:cNvSpPr/>
          <p:nvPr/>
        </p:nvSpPr>
        <p:spPr>
          <a:xfrm>
            <a:off x="3238500" y="4000500"/>
            <a:ext cx="2476500" cy="352425"/>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Recompensas com revisão humana</a:t>
            </a:r>
            <a:endParaRPr lang="en-US" sz="1211" dirty="0"/>
          </a:p>
        </p:txBody>
      </p:sp>
      <p:sp>
        <p:nvSpPr>
          <p:cNvPr id="46" name="Text 42"/>
          <p:cNvSpPr/>
          <p:nvPr/>
        </p:nvSpPr>
        <p:spPr>
          <a:xfrm>
            <a:off x="5810250" y="4010025"/>
            <a:ext cx="2762250" cy="485775"/>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Cashback e indicações são agendados, podem ser revisados pelo admin e depois pagos na blockchain automaticamente.</a:t>
            </a:r>
            <a:endParaRPr lang="en-US" sz="855" dirty="0"/>
          </a:p>
        </p:txBody>
      </p:sp>
      <p:sp>
        <p:nvSpPr>
          <p:cNvPr id="53" name="TextBox 5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06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7F2"/>
        </a:solidFill>
      </p:bgPr>
    </p:bg>
    <p:spTree>
      <p:nvGrpSpPr>
        <p:cNvPr id="1" name=""/>
        <p:cNvGrpSpPr/>
        <p:nvPr/>
      </p:nvGrpSpPr>
      <p:grpSpPr>
        <a:xfrm>
          <a:off x="0" y="0"/>
          <a:ext cx="0" cy="0"/>
          <a:chOff x="0" y="0"/>
          <a:chExt cx="0" cy="0"/>
        </a:xfrm>
      </p:grpSpPr>
      <p:sp>
        <p:nvSpPr>
          <p:cNvPr id="19" name="Shape 16"/>
          <p:cNvSpPr/>
          <p:nvPr/>
        </p:nvSpPr>
        <p:spPr>
          <a:xfrm>
            <a:off x="0" y="0"/>
            <a:ext cx="9144000" cy="2857500"/>
          </a:xfrm>
          <a:prstGeom prst="rect">
            <a:avLst/>
          </a:prstGeom>
          <a:solidFill>
            <a:srgbClr val="0E130F"/>
          </a:solidFill>
          <a:ln/>
        </p:spPr>
        <p:txBody>
          <a:bodyPr/>
          <a:p/>
        </p:txBody>
      </p:sp>
      <p:sp>
        <p:nvSpPr>
          <p:cNvPr id="44" name="TextBox 43"/>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06 — CONSTRUÍDO NA SOLANA</a:t>
            </a:r>
          </a:p>
        </p:txBody>
      </p:sp>
      <p:sp>
        <p:nvSpPr>
          <p:cNvPr id="21" name="Text 18"/>
          <p:cNvSpPr/>
          <p:nvPr/>
        </p:nvSpPr>
        <p:spPr>
          <a:xfrm>
            <a:off x="571500" y="809625"/>
            <a:ext cx="2476500" cy="1266825"/>
          </a:xfrm>
          <a:prstGeom prst="rect">
            <a:avLst/>
          </a:prstGeom>
          <a:noFill/>
          <a:ln/>
        </p:spPr>
        <p:txBody>
          <a:bodyPr wrap="square" lIns="0" tIns="0" rIns="0" bIns="0" rtlCol="0" anchor="t"/>
          <a:lstStyle/>
          <a:p>
            <a:pPr algn="l" indent="0" marL="0">
              <a:lnSpc>
                <a:spcPts val="9485"/>
              </a:lnSpc>
              <a:buNone/>
            </a:pPr>
            <a:r>
              <a:rPr lang="en-US" sz="7838" b="1" spc="-392" kern="0" dirty="0">
                <a:solidFill>
                  <a:srgbClr val="BDF06B">
                    <a:alpha val="99000"/>
                  </a:srgbClr>
                </a:solidFill>
                <a:latin typeface="Inter" pitchFamily="34" charset="0"/>
                <a:ea typeface="Inter" pitchFamily="34" charset="-122"/>
                <a:cs typeface="Inter" pitchFamily="34" charset="-120"/>
              </a:rPr>
              <a:t>~1s</a:t>
            </a:r>
            <a:endParaRPr lang="en-US" sz="7838" dirty="0"/>
          </a:p>
        </p:txBody>
      </p:sp>
      <p:sp>
        <p:nvSpPr>
          <p:cNvPr id="22" name="Text 19"/>
          <p:cNvSpPr/>
          <p:nvPr/>
        </p:nvSpPr>
        <p:spPr>
          <a:xfrm>
            <a:off x="571500" y="2238375"/>
            <a:ext cx="2476500" cy="371475"/>
          </a:xfrm>
          <a:prstGeom prst="rect">
            <a:avLst/>
          </a:prstGeom>
          <a:noFill/>
          <a:ln/>
        </p:spPr>
        <p:txBody>
          <a:bodyPr wrap="square" lIns="0" tIns="0" rIns="0" bIns="0" rtlCol="0" anchor="t"/>
          <a:lstStyle/>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para confirmar um</a:t>
            </a:r>
            <a:endParaRPr lang="en-US" sz="1069" dirty="0"/>
          </a:p>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pagamento no balcão</a:t>
            </a:r>
            <a:endParaRPr lang="en-US" sz="1069" dirty="0"/>
          </a:p>
        </p:txBody>
      </p:sp>
      <p:sp>
        <p:nvSpPr>
          <p:cNvPr id="23" name="Text 20"/>
          <p:cNvSpPr/>
          <p:nvPr/>
        </p:nvSpPr>
        <p:spPr>
          <a:xfrm>
            <a:off x="3429000" y="809625"/>
            <a:ext cx="5238750" cy="1266825"/>
          </a:xfrm>
          <a:prstGeom prst="rect">
            <a:avLst/>
          </a:prstGeom>
          <a:noFill/>
          <a:ln/>
        </p:spPr>
        <p:txBody>
          <a:bodyPr wrap="square" lIns="0" tIns="0" rIns="0" bIns="0" rtlCol="0" anchor="t"/>
          <a:lstStyle/>
          <a:p>
            <a:pPr algn="l" indent="0" marL="0">
              <a:lnSpc>
                <a:spcPts val="9485"/>
              </a:lnSpc>
              <a:buNone/>
            </a:pPr>
            <a:r>
              <a:rPr lang="en-US" sz="7838" b="1" spc="-392" kern="0" dirty="0">
                <a:solidFill>
                  <a:srgbClr val="F7F7F2">
                    <a:alpha val="99000"/>
                  </a:srgbClr>
                </a:solidFill>
                <a:latin typeface="Inter" pitchFamily="34" charset="0"/>
                <a:ea typeface="Inter" pitchFamily="34" charset="-122"/>
                <a:cs typeface="Inter" pitchFamily="34" charset="-120"/>
              </a:rPr>
              <a:t>&lt;$0.001</a:t>
            </a:r>
            <a:endParaRPr lang="en-US" sz="7838" dirty="0"/>
          </a:p>
        </p:txBody>
      </p:sp>
      <p:sp>
        <p:nvSpPr>
          <p:cNvPr id="24" name="Text 21"/>
          <p:cNvSpPr/>
          <p:nvPr/>
        </p:nvSpPr>
        <p:spPr>
          <a:xfrm>
            <a:off x="3429000" y="2238375"/>
            <a:ext cx="3333750" cy="371475"/>
          </a:xfrm>
          <a:prstGeom prst="rect">
            <a:avLst/>
          </a:prstGeom>
          <a:noFill/>
          <a:ln/>
        </p:spPr>
        <p:txBody>
          <a:bodyPr wrap="square" lIns="0" tIns="0" rIns="0" bIns="0" rtlCol="0" anchor="t"/>
          <a:lstStyle/>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de taxa de rede por transação:</a:t>
            </a:r>
            <a:endParaRPr lang="en-US" sz="1069" dirty="0"/>
          </a:p>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micropagamento passa a fazer sentido</a:t>
            </a:r>
            <a:endParaRPr lang="en-US" sz="1069" dirty="0"/>
          </a:p>
        </p:txBody>
      </p:sp>
      <p:sp>
        <p:nvSpPr>
          <p:cNvPr id="25" name="Text 22"/>
          <p:cNvSpPr/>
          <p:nvPr/>
        </p:nvSpPr>
        <p:spPr>
          <a:xfrm>
            <a:off x="571500" y="3143250"/>
            <a:ext cx="6667500" cy="252413"/>
          </a:xfrm>
          <a:prstGeom prst="rect">
            <a:avLst/>
          </a:prstGeom>
          <a:noFill/>
          <a:ln/>
        </p:spPr>
        <p:txBody>
          <a:bodyPr wrap="square" lIns="0" tIns="0" rIns="0" bIns="0" rtlCol="0" anchor="t"/>
          <a:lstStyle/>
          <a:p>
            <a:pPr algn="l" indent="0" marL="0">
              <a:lnSpc>
                <a:spcPts val="1897"/>
              </a:lnSpc>
              <a:buNone/>
            </a:pPr>
            <a:r>
              <a:rPr lang="en-US" sz="1140" b="1" spc="-24" kern="0" dirty="0">
                <a:solidFill>
                  <a:srgbClr val="0E130F">
                    <a:alpha val="99000"/>
                  </a:srgbClr>
                </a:solidFill>
                <a:latin typeface="Inter" pitchFamily="34" charset="0"/>
                <a:ea typeface="Inter" pitchFamily="34" charset="-122"/>
                <a:cs typeface="Inter" pitchFamily="34" charset="-120"/>
              </a:rPr>
              <a:t>Construído na devnet da Solana.</a:t>
            </a:r>
            <a:endParaRPr lang="en-US" sz="1568" dirty="0"/>
          </a:p>
        </p:txBody>
      </p:sp>
      <p:sp>
        <p:nvSpPr>
          <p:cNvPr id="26" name="Shape 23"/>
          <p:cNvSpPr/>
          <p:nvPr/>
        </p:nvSpPr>
        <p:spPr>
          <a:xfrm>
            <a:off x="571500" y="3571875"/>
            <a:ext cx="866775" cy="304800"/>
          </a:xfrm>
          <a:prstGeom prst="roundRect">
            <a:avLst>
              <a:gd name="adj" fmla="val 2997000"/>
            </a:avLst>
          </a:prstGeom>
          <a:noFill/>
          <a:ln w="9049">
            <a:solidFill>
              <a:srgbClr val="0E130F"/>
            </a:solidFill>
            <a:prstDash val="solid"/>
          </a:ln>
        </p:spPr>
        <p:txBody>
          <a:bodyPr/>
          <a:p/>
        </p:txBody>
      </p:sp>
      <p:sp>
        <p:nvSpPr>
          <p:cNvPr id="45" name="TextBox 44"/>
          <p:cNvSpPr txBox="1"/>
          <p:nvPr/>
        </p:nvSpPr>
        <p:spPr>
          <a:xfrm>
            <a:off x="695325" y="3648075"/>
            <a:ext cx="629257"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SPL Token</a:t>
            </a:r>
          </a:p>
        </p:txBody>
      </p:sp>
      <p:sp>
        <p:nvSpPr>
          <p:cNvPr id="28" name="Shape 25"/>
          <p:cNvSpPr/>
          <p:nvPr/>
        </p:nvSpPr>
        <p:spPr>
          <a:xfrm>
            <a:off x="1514475" y="3571875"/>
            <a:ext cx="1757363" cy="304800"/>
          </a:xfrm>
          <a:prstGeom prst="roundRect">
            <a:avLst>
              <a:gd name="adj" fmla="val 2997000"/>
            </a:avLst>
          </a:prstGeom>
          <a:noFill/>
          <a:ln w="9049">
            <a:solidFill>
              <a:srgbClr val="0E130F"/>
            </a:solidFill>
            <a:prstDash val="solid"/>
          </a:ln>
        </p:spPr>
        <p:txBody>
          <a:bodyPr/>
          <a:p/>
        </p:txBody>
      </p:sp>
      <p:sp>
        <p:nvSpPr>
          <p:cNvPr id="46" name="TextBox 45"/>
          <p:cNvSpPr txBox="1"/>
          <p:nvPr/>
        </p:nvSpPr>
        <p:spPr>
          <a:xfrm>
            <a:off x="1638300" y="3648075"/>
            <a:ext cx="1509713"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Referências Solana Pay</a:t>
            </a:r>
          </a:p>
        </p:txBody>
      </p:sp>
      <p:sp>
        <p:nvSpPr>
          <p:cNvPr id="30" name="Shape 27"/>
          <p:cNvSpPr/>
          <p:nvPr/>
        </p:nvSpPr>
        <p:spPr>
          <a:xfrm>
            <a:off x="3348038" y="3571875"/>
            <a:ext cx="1824038" cy="304800"/>
          </a:xfrm>
          <a:prstGeom prst="roundRect">
            <a:avLst>
              <a:gd name="adj" fmla="val 2997000"/>
            </a:avLst>
          </a:prstGeom>
          <a:noFill/>
          <a:ln w="9049">
            <a:solidFill>
              <a:srgbClr val="0E130F"/>
            </a:solidFill>
            <a:prstDash val="solid"/>
          </a:ln>
        </p:spPr>
        <p:txBody>
          <a:bodyPr/>
          <a:p/>
        </p:txBody>
      </p:sp>
      <p:sp>
        <p:nvSpPr>
          <p:cNvPr id="47" name="TextBox 46"/>
          <p:cNvSpPr txBox="1"/>
          <p:nvPr/>
        </p:nvSpPr>
        <p:spPr>
          <a:xfrm>
            <a:off x="3471863" y="3648075"/>
            <a:ext cx="1576388"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Solana Actions / Blinks</a:t>
            </a:r>
          </a:p>
        </p:txBody>
      </p:sp>
      <p:sp>
        <p:nvSpPr>
          <p:cNvPr id="32" name="Shape 29"/>
          <p:cNvSpPr/>
          <p:nvPr/>
        </p:nvSpPr>
        <p:spPr>
          <a:xfrm>
            <a:off x="5248275" y="3571875"/>
            <a:ext cx="1485900" cy="304800"/>
          </a:xfrm>
          <a:prstGeom prst="roundRect">
            <a:avLst>
              <a:gd name="adj" fmla="val 2997000"/>
            </a:avLst>
          </a:prstGeom>
          <a:noFill/>
          <a:ln w="9049">
            <a:solidFill>
              <a:srgbClr val="0E130F"/>
            </a:solidFill>
            <a:prstDash val="solid"/>
          </a:ln>
        </p:spPr>
        <p:txBody>
          <a:bodyPr/>
          <a:p/>
        </p:txBody>
      </p:sp>
      <p:sp>
        <p:nvSpPr>
          <p:cNvPr id="48" name="TextBox 47"/>
          <p:cNvSpPr txBox="1"/>
          <p:nvPr/>
        </p:nvSpPr>
        <p:spPr>
          <a:xfrm>
            <a:off x="5372100" y="3648075"/>
            <a:ext cx="123825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Metadados Metaplex</a:t>
            </a:r>
          </a:p>
        </p:txBody>
      </p:sp>
      <p:sp>
        <p:nvSpPr>
          <p:cNvPr id="34" name="Shape 31"/>
          <p:cNvSpPr/>
          <p:nvPr/>
        </p:nvSpPr>
        <p:spPr>
          <a:xfrm>
            <a:off x="571500" y="4010025"/>
            <a:ext cx="1962150" cy="304800"/>
          </a:xfrm>
          <a:prstGeom prst="roundRect">
            <a:avLst>
              <a:gd name="adj" fmla="val 2997000"/>
            </a:avLst>
          </a:prstGeom>
          <a:noFill/>
          <a:ln w="9049">
            <a:solidFill>
              <a:srgbClr val="0E130F"/>
            </a:solidFill>
            <a:prstDash val="solid"/>
          </a:ln>
        </p:spPr>
        <p:txBody>
          <a:bodyPr/>
          <a:p/>
        </p:txBody>
      </p:sp>
      <p:sp>
        <p:nvSpPr>
          <p:cNvPr id="49" name="TextBox 48"/>
          <p:cNvSpPr txBox="1"/>
          <p:nvPr/>
        </p:nvSpPr>
        <p:spPr>
          <a:xfrm>
            <a:off x="695325" y="4086225"/>
            <a:ext cx="171450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Pix via Delfinance (mTLS)</a:t>
            </a:r>
          </a:p>
        </p:txBody>
      </p:sp>
      <p:sp>
        <p:nvSpPr>
          <p:cNvPr id="36" name="Shape 33"/>
          <p:cNvSpPr/>
          <p:nvPr/>
        </p:nvSpPr>
        <p:spPr>
          <a:xfrm>
            <a:off x="2609850" y="4010025"/>
            <a:ext cx="1276350" cy="304800"/>
          </a:xfrm>
          <a:prstGeom prst="roundRect">
            <a:avLst>
              <a:gd name="adj" fmla="val 2997000"/>
            </a:avLst>
          </a:prstGeom>
          <a:noFill/>
          <a:ln w="9049">
            <a:solidFill>
              <a:srgbClr val="0E130F"/>
            </a:solidFill>
            <a:prstDash val="solid"/>
          </a:ln>
        </p:spPr>
        <p:txBody>
          <a:bodyPr/>
          <a:p/>
        </p:txBody>
      </p:sp>
      <p:sp>
        <p:nvSpPr>
          <p:cNvPr id="50" name="TextBox 49"/>
          <p:cNvSpPr txBox="1"/>
          <p:nvPr/>
        </p:nvSpPr>
        <p:spPr>
          <a:xfrm>
            <a:off x="2733675" y="4086225"/>
            <a:ext cx="102870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HashiCorp Vault</a:t>
            </a:r>
          </a:p>
        </p:txBody>
      </p:sp>
      <p:sp>
        <p:nvSpPr>
          <p:cNvPr id="38" name="Shape 35"/>
          <p:cNvSpPr/>
          <p:nvPr/>
        </p:nvSpPr>
        <p:spPr>
          <a:xfrm>
            <a:off x="3962400" y="4010025"/>
            <a:ext cx="1485900" cy="304800"/>
          </a:xfrm>
          <a:prstGeom prst="roundRect">
            <a:avLst>
              <a:gd name="adj" fmla="val 2997000"/>
            </a:avLst>
          </a:prstGeom>
          <a:noFill/>
          <a:ln w="9049">
            <a:solidFill>
              <a:srgbClr val="0E130F"/>
            </a:solidFill>
            <a:prstDash val="solid"/>
          </a:ln>
        </p:spPr>
        <p:txBody>
          <a:bodyPr/>
          <a:p/>
        </p:txBody>
      </p:sp>
      <p:sp>
        <p:nvSpPr>
          <p:cNvPr id="51" name="TextBox 50"/>
          <p:cNvSpPr txBox="1"/>
          <p:nvPr/>
        </p:nvSpPr>
        <p:spPr>
          <a:xfrm>
            <a:off x="4086225" y="4086225"/>
            <a:ext cx="123825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Push via OneSignal</a:t>
            </a:r>
          </a:p>
        </p:txBody>
      </p:sp>
      <p:sp>
        <p:nvSpPr>
          <p:cNvPr id="40" name="Shape 37"/>
          <p:cNvSpPr/>
          <p:nvPr/>
        </p:nvSpPr>
        <p:spPr>
          <a:xfrm>
            <a:off x="5524500" y="4010025"/>
            <a:ext cx="1690688" cy="304800"/>
          </a:xfrm>
          <a:prstGeom prst="roundRect">
            <a:avLst>
              <a:gd name="adj" fmla="val 2997000"/>
            </a:avLst>
          </a:prstGeom>
          <a:noFill/>
          <a:ln w="9049">
            <a:solidFill>
              <a:srgbClr val="0E130F"/>
            </a:solidFill>
            <a:prstDash val="solid"/>
          </a:ln>
        </p:spPr>
        <p:txBody>
          <a:bodyPr/>
          <a:p/>
        </p:txBody>
      </p:sp>
      <p:sp>
        <p:nvSpPr>
          <p:cNvPr id="52" name="TextBox 51"/>
          <p:cNvSpPr txBox="1"/>
          <p:nvPr/>
        </p:nvSpPr>
        <p:spPr>
          <a:xfrm>
            <a:off x="5648325" y="4086225"/>
            <a:ext cx="1443038"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Chaves não custodiais</a:t>
            </a:r>
          </a:p>
        </p:txBody>
      </p:sp>
      <p:sp>
        <p:nvSpPr>
          <p:cNvPr id="53" name="TextBox 52"/>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54" name="TextBox 53"/>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211B"/>
        </a:solidFill>
      </p:bgPr>
    </p:bg>
    <p:spTree>
      <p:nvGrpSpPr>
        <p:cNvPr id="1" name=""/>
        <p:cNvGrpSpPr/>
        <p:nvPr/>
      </p:nvGrpSpPr>
      <p:grpSpPr>
        <a:xfrm>
          <a:off x="0" y="0"/>
          <a:ext cx="0" cy="0"/>
          <a:chOff x="0" y="0"/>
          <a:chExt cx="0" cy="0"/>
        </a:xfrm>
      </p:grpSpPr>
      <p:sp>
        <p:nvSpPr>
          <p:cNvPr id="36" name="TextBox 35"/>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07 — PARA QUEM É</a:t>
            </a:r>
          </a:p>
        </p:txBody>
      </p:sp>
      <p:sp>
        <p:nvSpPr>
          <p:cNvPr id="21" name="Text 18"/>
          <p:cNvSpPr/>
          <p:nvPr/>
        </p:nvSpPr>
        <p:spPr>
          <a:xfrm>
            <a:off x="571500" y="809625"/>
            <a:ext cx="61912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Feito para o balcão,</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não para a mesa de trade.</a:t>
            </a:r>
            <a:endParaRPr lang="en-US" sz="2708" dirty="0"/>
          </a:p>
        </p:txBody>
      </p:sp>
      <p:sp>
        <p:nvSpPr>
          <p:cNvPr id="22" name="Shape 19"/>
          <p:cNvSpPr/>
          <p:nvPr/>
        </p:nvSpPr>
        <p:spPr>
          <a:xfrm>
            <a:off x="571500" y="2476500"/>
            <a:ext cx="2476500" cy="28575"/>
          </a:xfrm>
          <a:prstGeom prst="rect">
            <a:avLst/>
          </a:prstGeom>
          <a:solidFill>
            <a:srgbClr val="BDF06B"/>
          </a:solidFill>
          <a:ln/>
        </p:spPr>
        <p:txBody>
          <a:bodyPr/>
          <a:p/>
        </p:txBody>
      </p:sp>
      <p:sp>
        <p:nvSpPr>
          <p:cNvPr id="37" name="TextBox 36"/>
          <p:cNvSpPr txBox="1"/>
          <p:nvPr/>
        </p:nvSpPr>
        <p:spPr>
          <a:xfrm>
            <a:off x="571500" y="2647950"/>
            <a:ext cx="642366"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PRINCIPAL</a:t>
            </a:r>
          </a:p>
        </p:txBody>
      </p:sp>
      <p:sp>
        <p:nvSpPr>
          <p:cNvPr id="24" name="Text 21"/>
          <p:cNvSpPr/>
          <p:nvPr/>
        </p:nvSpPr>
        <p:spPr>
          <a:xfrm>
            <a:off x="571500" y="2857500"/>
            <a:ext cx="2476500" cy="228600"/>
          </a:xfrm>
          <a:prstGeom prst="rect">
            <a:avLst/>
          </a:prstGeom>
          <a:noFill/>
          <a:ln/>
        </p:spPr>
        <p:txBody>
          <a:bodyPr wrap="square" lIns="0" tIns="0" rIns="0" bIns="0" rtlCol="0" anchor="t"/>
          <a:lstStyle/>
          <a:p>
            <a:pPr algn="l" indent="0" marL="0">
              <a:lnSpc>
                <a:spcPts val="1693"/>
              </a:lnSpc>
              <a:buNone/>
            </a:pPr>
            <a:r>
              <a:rPr lang="en-US" sz="1568" b="1" spc="-24" kern="0" dirty="0">
                <a:solidFill>
                  <a:srgbClr val="F7F7F2">
                    <a:alpha val="99000"/>
                  </a:srgbClr>
                </a:solidFill>
                <a:latin typeface="Inter" pitchFamily="34" charset="0"/>
                <a:ea typeface="Inter" pitchFamily="34" charset="-122"/>
                <a:cs typeface="Inter" pitchFamily="34" charset="-120"/>
              </a:rPr>
              <a:t>Pequenos lojistas</a:t>
            </a:r>
            <a:endParaRPr lang="en-US" sz="1568" dirty="0"/>
          </a:p>
        </p:txBody>
      </p:sp>
      <p:sp>
        <p:nvSpPr>
          <p:cNvPr id="25" name="Text 22"/>
          <p:cNvSpPr/>
          <p:nvPr/>
        </p:nvSpPr>
        <p:spPr>
          <a:xfrm>
            <a:off x="571500" y="3219450"/>
            <a:ext cx="2381250" cy="528638"/>
          </a:xfrm>
          <a:prstGeom prst="rect">
            <a:avLst/>
          </a:prstGeom>
          <a:noFill/>
          <a:ln/>
        </p:spPr>
        <p:txBody>
          <a:bodyPr wrap="square" lIns="0" tIns="0" rIns="0" bIns="0" rtlCol="0" anchor="t"/>
          <a:lstStyle/>
          <a:p>
            <a:pPr algn="l" indent="0" marL="0">
              <a:lnSpc>
                <a:spcPts val="1315"/>
              </a:lnSpc>
              <a:buNone/>
            </a:pPr>
            <a:r>
              <a:rPr lang="en-US" sz="926" dirty="0">
                <a:solidFill>
                  <a:srgbClr val="B2BDB2">
                    <a:alpha val="99000"/>
                  </a:srgbClr>
                </a:solidFill>
                <a:latin typeface="Inter" pitchFamily="34" charset="0"/>
                <a:ea typeface="Inter" pitchFamily="34" charset="-122"/>
                <a:cs typeface="Inter" pitchFamily="34" charset="-120"/>
              </a:rPr>
              <a:t>Cafés, restaurantes e serviços locais que perdem margem com taxas de cartão e esperam dias pelo dinheiro.</a:t>
            </a:r>
            <a:endParaRPr lang="en-US" sz="926" dirty="0"/>
          </a:p>
        </p:txBody>
      </p:sp>
      <p:sp>
        <p:nvSpPr>
          <p:cNvPr id="26" name="Shape 23"/>
          <p:cNvSpPr/>
          <p:nvPr/>
        </p:nvSpPr>
        <p:spPr>
          <a:xfrm>
            <a:off x="3333750" y="2476500"/>
            <a:ext cx="2476500" cy="28575"/>
          </a:xfrm>
          <a:prstGeom prst="rect">
            <a:avLst/>
          </a:prstGeom>
          <a:solidFill>
            <a:srgbClr val="F7F7F2"/>
          </a:solidFill>
          <a:ln/>
        </p:spPr>
        <p:txBody>
          <a:bodyPr/>
          <a:p/>
        </p:txBody>
      </p:sp>
      <p:sp>
        <p:nvSpPr>
          <p:cNvPr id="38" name="TextBox 37"/>
          <p:cNvSpPr txBox="1"/>
          <p:nvPr/>
        </p:nvSpPr>
        <p:spPr>
          <a:xfrm>
            <a:off x="3333750" y="2647950"/>
            <a:ext cx="776288" cy="185115"/>
          </a:xfrm>
          <a:prstGeom prst="rect">
            <a:avLst/>
          </a:prstGeom>
          <a:noFill/>
        </p:spPr>
        <p:txBody>
          <a:bodyPr wrap="none" lIns="0" tIns="0" rIns="0" bIns="0">
            <a:noAutofit/>
          </a:bodyPr>
          <a:lstStyle/>
          <a:p>
            <a:pPr>
              <a:lnSpc>
                <a:spcPts val="956"/>
              </a:lnSpc>
              <a:defRPr sz="784" b="1">
                <a:solidFill>
                  <a:srgbClr val="F7F7F2"/>
                </a:solidFill>
                <a:latin typeface="JetBrains Mono"/>
              </a:defRPr>
            </a:pPr>
            <a:r>
              <a:t>CRESCIMENTO</a:t>
            </a:r>
          </a:p>
        </p:txBody>
      </p:sp>
      <p:sp>
        <p:nvSpPr>
          <p:cNvPr id="28" name="Text 25"/>
          <p:cNvSpPr/>
          <p:nvPr/>
        </p:nvSpPr>
        <p:spPr>
          <a:xfrm>
            <a:off x="3333750" y="2857500"/>
            <a:ext cx="2476500" cy="228600"/>
          </a:xfrm>
          <a:prstGeom prst="rect">
            <a:avLst/>
          </a:prstGeom>
          <a:noFill/>
          <a:ln/>
        </p:spPr>
        <p:txBody>
          <a:bodyPr wrap="square" lIns="0" tIns="0" rIns="0" bIns="0" rtlCol="0" anchor="t"/>
          <a:lstStyle/>
          <a:p>
            <a:pPr algn="l" indent="0" marL="0">
              <a:lnSpc>
                <a:spcPts val="1693"/>
              </a:lnSpc>
              <a:buNone/>
            </a:pPr>
            <a:r>
              <a:rPr lang="en-US" sz="1568" b="1" spc="-24" kern="0" dirty="0">
                <a:solidFill>
                  <a:srgbClr val="F7F7F2">
                    <a:alpha val="99000"/>
                  </a:srgbClr>
                </a:solidFill>
                <a:latin typeface="Inter" pitchFamily="34" charset="0"/>
                <a:ea typeface="Inter" pitchFamily="34" charset="-122"/>
                <a:cs typeface="Inter" pitchFamily="34" charset="-120"/>
              </a:rPr>
              <a:t>Consumidores do Pix</a:t>
            </a:r>
            <a:endParaRPr lang="en-US" sz="1568" dirty="0"/>
          </a:p>
        </p:txBody>
      </p:sp>
      <p:sp>
        <p:nvSpPr>
          <p:cNvPr id="29" name="Text 26"/>
          <p:cNvSpPr/>
          <p:nvPr/>
        </p:nvSpPr>
        <p:spPr>
          <a:xfrm>
            <a:off x="3333750" y="3219450"/>
            <a:ext cx="2381250" cy="528638"/>
          </a:xfrm>
          <a:prstGeom prst="rect">
            <a:avLst/>
          </a:prstGeom>
          <a:noFill/>
          <a:ln/>
        </p:spPr>
        <p:txBody>
          <a:bodyPr wrap="square" lIns="0" tIns="0" rIns="0" bIns="0" rtlCol="0" anchor="t"/>
          <a:lstStyle/>
          <a:p>
            <a:pPr algn="l" indent="0" marL="0">
              <a:lnSpc>
                <a:spcPts val="1315"/>
              </a:lnSpc>
              <a:buNone/>
            </a:pPr>
            <a:r>
              <a:rPr lang="en-US" sz="926" dirty="0">
                <a:solidFill>
                  <a:srgbClr val="B2BDB2">
                    <a:alpha val="99000"/>
                  </a:srgbClr>
                </a:solidFill>
                <a:latin typeface="Inter" pitchFamily="34" charset="0"/>
                <a:ea typeface="Inter" pitchFamily="34" charset="-122"/>
                <a:cs typeface="Inter" pitchFamily="34" charset="-120"/>
              </a:rPr>
              <a:t>Pessoas de 18 a 35 anos que já pagam tudo pelo celular, têm curiosidade por cripto e querem simplicidade.</a:t>
            </a:r>
            <a:endParaRPr lang="en-US" sz="926" dirty="0"/>
          </a:p>
        </p:txBody>
      </p:sp>
      <p:sp>
        <p:nvSpPr>
          <p:cNvPr id="30" name="Shape 27"/>
          <p:cNvSpPr/>
          <p:nvPr/>
        </p:nvSpPr>
        <p:spPr>
          <a:xfrm>
            <a:off x="6096000" y="2476500"/>
            <a:ext cx="2476500" cy="28575"/>
          </a:xfrm>
          <a:prstGeom prst="rect">
            <a:avLst/>
          </a:prstGeom>
          <a:solidFill>
            <a:srgbClr val="B2BDB2"/>
          </a:solidFill>
          <a:ln/>
        </p:spPr>
        <p:txBody>
          <a:bodyPr/>
          <a:p/>
        </p:txBody>
      </p:sp>
      <p:sp>
        <p:nvSpPr>
          <p:cNvPr id="39" name="TextBox 38"/>
          <p:cNvSpPr txBox="1"/>
          <p:nvPr/>
        </p:nvSpPr>
        <p:spPr>
          <a:xfrm>
            <a:off x="6096000" y="2647950"/>
            <a:ext cx="642366" cy="185115"/>
          </a:xfrm>
          <a:prstGeom prst="rect">
            <a:avLst/>
          </a:prstGeom>
          <a:noFill/>
        </p:spPr>
        <p:txBody>
          <a:bodyPr wrap="none" lIns="0" tIns="0" rIns="0" bIns="0">
            <a:noAutofit/>
          </a:bodyPr>
          <a:lstStyle/>
          <a:p>
            <a:pPr>
              <a:lnSpc>
                <a:spcPts val="956"/>
              </a:lnSpc>
              <a:defRPr sz="784" b="1">
                <a:solidFill>
                  <a:srgbClr val="B2BDB2"/>
                </a:solidFill>
                <a:latin typeface="JetBrains Mono"/>
              </a:defRPr>
            </a:pPr>
            <a:r>
              <a:t>PRIMEIROS</a:t>
            </a:r>
          </a:p>
        </p:txBody>
      </p:sp>
      <p:sp>
        <p:nvSpPr>
          <p:cNvPr id="32" name="Text 29"/>
          <p:cNvSpPr/>
          <p:nvPr/>
        </p:nvSpPr>
        <p:spPr>
          <a:xfrm>
            <a:off x="6096000" y="2857500"/>
            <a:ext cx="2476500" cy="228600"/>
          </a:xfrm>
          <a:prstGeom prst="rect">
            <a:avLst/>
          </a:prstGeom>
          <a:noFill/>
          <a:ln/>
        </p:spPr>
        <p:txBody>
          <a:bodyPr wrap="square" lIns="0" tIns="0" rIns="0" bIns="0" rtlCol="0" anchor="t"/>
          <a:lstStyle/>
          <a:p>
            <a:pPr algn="l" indent="0" marL="0">
              <a:lnSpc>
                <a:spcPts val="1693"/>
              </a:lnSpc>
              <a:buNone/>
            </a:pPr>
            <a:r>
              <a:rPr lang="en-US" sz="1568" b="1" spc="-24" kern="0" dirty="0">
                <a:solidFill>
                  <a:srgbClr val="F7F7F2">
                    <a:alpha val="99000"/>
                  </a:srgbClr>
                </a:solidFill>
                <a:latin typeface="Inter" pitchFamily="34" charset="0"/>
                <a:ea typeface="Inter" pitchFamily="34" charset="-122"/>
                <a:cs typeface="Inter" pitchFamily="34" charset="-120"/>
              </a:rPr>
              <a:t>Quem já tem cripto</a:t>
            </a:r>
            <a:endParaRPr lang="en-US" sz="1568" dirty="0"/>
          </a:p>
        </p:txBody>
      </p:sp>
      <p:sp>
        <p:nvSpPr>
          <p:cNvPr id="33" name="Text 30"/>
          <p:cNvSpPr/>
          <p:nvPr/>
        </p:nvSpPr>
        <p:spPr>
          <a:xfrm>
            <a:off x="6096000" y="3219450"/>
            <a:ext cx="2381250" cy="704850"/>
          </a:xfrm>
          <a:prstGeom prst="rect">
            <a:avLst/>
          </a:prstGeom>
          <a:noFill/>
          <a:ln/>
        </p:spPr>
        <p:txBody>
          <a:bodyPr wrap="square" lIns="0" tIns="0" rIns="0" bIns="0" rtlCol="0" anchor="t"/>
          <a:lstStyle/>
          <a:p>
            <a:pPr algn="l" indent="0" marL="0">
              <a:lnSpc>
                <a:spcPts val="1315"/>
              </a:lnSpc>
              <a:buNone/>
            </a:pPr>
            <a:r>
              <a:rPr lang="en-US" sz="926" dirty="0">
                <a:solidFill>
                  <a:srgbClr val="B2BDB2">
                    <a:alpha val="99000"/>
                  </a:srgbClr>
                </a:solidFill>
                <a:latin typeface="Inter" pitchFamily="34" charset="0"/>
                <a:ea typeface="Inter" pitchFamily="34" charset="-122"/>
                <a:cs typeface="Inter" pitchFamily="34" charset="-120"/>
              </a:rPr>
              <a:t>Usuários da Solana que querem gastar de verdade: pagar um Blink pela Phantom e ganhar cashback em compras reais.</a:t>
            </a:r>
            <a:endParaRPr lang="en-US" sz="926" dirty="0"/>
          </a:p>
        </p:txBody>
      </p:sp>
      <p:sp>
        <p:nvSpPr>
          <p:cNvPr id="40" name="TextBox 39"/>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41" name="TextBox 40"/>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08</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7F2"/>
        </a:solidFill>
      </p:bgPr>
    </p:bg>
    <p:spTree>
      <p:nvGrpSpPr>
        <p:cNvPr id="1" name=""/>
        <p:cNvGrpSpPr/>
        <p:nvPr/>
      </p:nvGrpSpPr>
      <p:grpSpPr>
        <a:xfrm>
          <a:off x="0" y="0"/>
          <a:ext cx="0" cy="0"/>
          <a:chOff x="0" y="0"/>
          <a:chExt cx="0" cy="0"/>
        </a:xfrm>
      </p:grpSpPr>
      <p:sp>
        <p:nvSpPr>
          <p:cNvPr id="41" name="TextBox 40"/>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08 — MODELO DE NEGÓCIO</a:t>
            </a:r>
          </a:p>
        </p:txBody>
      </p:sp>
      <p:sp>
        <p:nvSpPr>
          <p:cNvPr id="23" name="Text 20"/>
          <p:cNvSpPr/>
          <p:nvPr/>
        </p:nvSpPr>
        <p:spPr>
          <a:xfrm>
            <a:off x="571500" y="809625"/>
            <a:ext cx="3619500" cy="1085850"/>
          </a:xfrm>
          <a:prstGeom prst="rect">
            <a:avLst/>
          </a:prstGeom>
          <a:noFill/>
          <a:ln/>
        </p:spPr>
        <p:txBody>
          <a:bodyPr wrap="square" lIns="0" tIns="0" rIns="0" bIns="0" rtlCol="0" anchor="t"/>
          <a:lstStyle/>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Mais barato para o</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lojista. Sustentável</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para a rede.</a:t>
            </a:r>
            <a:endParaRPr lang="en-US" sz="2708" dirty="0"/>
          </a:p>
        </p:txBody>
      </p:sp>
      <p:sp>
        <p:nvSpPr>
          <p:cNvPr id="24" name="Shape 21"/>
          <p:cNvSpPr/>
          <p:nvPr/>
        </p:nvSpPr>
        <p:spPr>
          <a:xfrm>
            <a:off x="4572000" y="809625"/>
            <a:ext cx="4000500" cy="14288"/>
          </a:xfrm>
          <a:prstGeom prst="rect">
            <a:avLst/>
          </a:prstGeom>
          <a:solidFill>
            <a:srgbClr val="0E130F"/>
          </a:solidFill>
          <a:ln/>
        </p:spPr>
        <p:txBody>
          <a:bodyPr/>
          <a:p/>
        </p:txBody>
      </p:sp>
      <p:sp>
        <p:nvSpPr>
          <p:cNvPr id="25" name="Text 22"/>
          <p:cNvSpPr/>
          <p:nvPr/>
        </p:nvSpPr>
        <p:spPr>
          <a:xfrm>
            <a:off x="4572000" y="904875"/>
            <a:ext cx="1428750" cy="762000"/>
          </a:xfrm>
          <a:prstGeom prst="rect">
            <a:avLst/>
          </a:prstGeom>
          <a:noFill/>
          <a:ln/>
        </p:spPr>
        <p:txBody>
          <a:bodyPr wrap="square" lIns="0" tIns="0" rIns="0" bIns="0" rtlCol="0" anchor="t"/>
          <a:lstStyle/>
          <a:p>
            <a:pPr algn="l" indent="0" marL="0">
              <a:lnSpc>
                <a:spcPts val="5691"/>
              </a:lnSpc>
              <a:buNone/>
            </a:pPr>
            <a:r>
              <a:rPr lang="en-US" sz="4703" b="1" spc="-188" kern="0" dirty="0">
                <a:solidFill>
                  <a:srgbClr val="0E130F">
                    <a:alpha val="99000"/>
                  </a:srgbClr>
                </a:solidFill>
                <a:latin typeface="Inter" pitchFamily="34" charset="0"/>
                <a:ea typeface="Inter" pitchFamily="34" charset="-122"/>
                <a:cs typeface="Inter" pitchFamily="34" charset="-120"/>
              </a:rPr>
              <a:t>0%</a:t>
            </a:r>
            <a:endParaRPr lang="en-US" sz="4703" dirty="0"/>
          </a:p>
        </p:txBody>
      </p:sp>
      <p:sp>
        <p:nvSpPr>
          <p:cNvPr id="26" name="Text 23"/>
          <p:cNvSpPr/>
          <p:nvPr/>
        </p:nvSpPr>
        <p:spPr>
          <a:xfrm>
            <a:off x="6096000" y="1019175"/>
            <a:ext cx="2476500" cy="176213"/>
          </a:xfrm>
          <a:prstGeom prst="rect">
            <a:avLst/>
          </a:prstGeom>
          <a:noFill/>
          <a:ln/>
        </p:spPr>
        <p:txBody>
          <a:bodyPr wrap="square" lIns="0" tIns="0" rIns="0" bIns="0" rtlCol="0" anchor="t"/>
          <a:lstStyle/>
          <a:p>
            <a:pPr algn="l" indent="0" marL="0">
              <a:lnSpc>
                <a:spcPts val="1311"/>
              </a:lnSpc>
              <a:buNone/>
            </a:pPr>
            <a:r>
              <a:rPr lang="en-US" sz="1140" b="1" spc="-6" kern="0" dirty="0">
                <a:solidFill>
                  <a:srgbClr val="0E130F">
                    <a:alpha val="99000"/>
                  </a:srgbClr>
                </a:solidFill>
                <a:latin typeface="Inter" pitchFamily="34" charset="0"/>
                <a:ea typeface="Inter" pitchFamily="34" charset="-122"/>
                <a:cs typeface="Inter" pitchFamily="34" charset="-120"/>
              </a:rPr>
              <a:t>para receber um pagamento</a:t>
            </a:r>
            <a:endParaRPr lang="en-US" sz="1140" dirty="0"/>
          </a:p>
        </p:txBody>
      </p:sp>
      <p:sp>
        <p:nvSpPr>
          <p:cNvPr id="27" name="Text 24"/>
          <p:cNvSpPr/>
          <p:nvPr/>
        </p:nvSpPr>
        <p:spPr>
          <a:xfrm>
            <a:off x="6096000" y="1266825"/>
            <a:ext cx="2476500" cy="323850"/>
          </a:xfrm>
          <a:prstGeom prst="rect">
            <a:avLst/>
          </a:prstGeom>
          <a:noFill/>
          <a:ln/>
        </p:spPr>
        <p:txBody>
          <a:bodyPr wrap="square" lIns="0" tIns="0" rIns="0" bIns="0" rtlCol="0" anchor="t"/>
          <a:lstStyle/>
          <a:p>
            <a:pPr algn="l" indent="0" marL="0">
              <a:lnSpc>
                <a:spcPts val="1197"/>
              </a:lnSpc>
              <a:buNone/>
            </a:pPr>
            <a:r>
              <a:rPr lang="en-US" sz="855" dirty="0">
                <a:solidFill>
                  <a:srgbClr val="545C54">
                    <a:alpha val="99000"/>
                  </a:srgbClr>
                </a:solidFill>
                <a:latin typeface="Inter" pitchFamily="34" charset="0"/>
                <a:ea typeface="Inter" pitchFamily="34" charset="-122"/>
                <a:cs typeface="Inter" pitchFamily="34" charset="-120"/>
              </a:rPr>
              <a:t>O lojista fica com a venda inteira. Sem aluguel de maquininha, sem esperar dias.</a:t>
            </a:r>
            <a:endParaRPr lang="en-US" sz="855" dirty="0"/>
          </a:p>
        </p:txBody>
      </p:sp>
      <p:sp>
        <p:nvSpPr>
          <p:cNvPr id="28" name="Shape 25"/>
          <p:cNvSpPr/>
          <p:nvPr/>
        </p:nvSpPr>
        <p:spPr>
          <a:xfrm>
            <a:off x="4572000" y="2000250"/>
            <a:ext cx="4000500" cy="14288"/>
          </a:xfrm>
          <a:prstGeom prst="rect">
            <a:avLst/>
          </a:prstGeom>
          <a:solidFill>
            <a:srgbClr val="0E130F"/>
          </a:solidFill>
          <a:ln/>
        </p:spPr>
        <p:txBody>
          <a:bodyPr/>
          <a:p/>
        </p:txBody>
      </p:sp>
      <p:sp>
        <p:nvSpPr>
          <p:cNvPr id="29" name="Text 26"/>
          <p:cNvSpPr/>
          <p:nvPr/>
        </p:nvSpPr>
        <p:spPr>
          <a:xfrm>
            <a:off x="4572000" y="2095500"/>
            <a:ext cx="1428750" cy="762000"/>
          </a:xfrm>
          <a:prstGeom prst="rect">
            <a:avLst/>
          </a:prstGeom>
          <a:noFill/>
          <a:ln/>
        </p:spPr>
        <p:txBody>
          <a:bodyPr wrap="square" lIns="0" tIns="0" rIns="0" bIns="0" rtlCol="0" anchor="t"/>
          <a:lstStyle/>
          <a:p>
            <a:pPr algn="l" indent="0" marL="0">
              <a:lnSpc>
                <a:spcPts val="5691"/>
              </a:lnSpc>
              <a:buNone/>
            </a:pPr>
            <a:r>
              <a:rPr lang="en-US" sz="4703" b="1" spc="-188" kern="0" dirty="0">
                <a:solidFill>
                  <a:srgbClr val="0E130F">
                    <a:alpha val="99000"/>
                  </a:srgbClr>
                </a:solidFill>
                <a:latin typeface="Inter" pitchFamily="34" charset="0"/>
                <a:ea typeface="Inter" pitchFamily="34" charset="-122"/>
                <a:cs typeface="Inter" pitchFamily="34" charset="-120"/>
              </a:rPr>
              <a:t>5%</a:t>
            </a:r>
            <a:endParaRPr lang="en-US" sz="4703" dirty="0"/>
          </a:p>
        </p:txBody>
      </p:sp>
      <p:sp>
        <p:nvSpPr>
          <p:cNvPr id="30" name="Text 27"/>
          <p:cNvSpPr/>
          <p:nvPr/>
        </p:nvSpPr>
        <p:spPr>
          <a:xfrm>
            <a:off x="6096000" y="2209800"/>
            <a:ext cx="2476500" cy="176213"/>
          </a:xfrm>
          <a:prstGeom prst="rect">
            <a:avLst/>
          </a:prstGeom>
          <a:noFill/>
          <a:ln/>
        </p:spPr>
        <p:txBody>
          <a:bodyPr wrap="square" lIns="0" tIns="0" rIns="0" bIns="0" rtlCol="0" anchor="t"/>
          <a:lstStyle/>
          <a:p>
            <a:pPr algn="l" indent="0" marL="0">
              <a:lnSpc>
                <a:spcPts val="1311"/>
              </a:lnSpc>
              <a:buNone/>
            </a:pPr>
            <a:r>
              <a:rPr lang="en-US" sz="1140" b="1" spc="-6" kern="0" dirty="0">
                <a:solidFill>
                  <a:srgbClr val="0E130F">
                    <a:alpha val="99000"/>
                  </a:srgbClr>
                </a:solidFill>
                <a:latin typeface="Inter" pitchFamily="34" charset="0"/>
                <a:ea typeface="Inter" pitchFamily="34" charset="-122"/>
                <a:cs typeface="Inter" pitchFamily="34" charset="-120"/>
              </a:rPr>
              <a:t>só ao sacar para o Pix</a:t>
            </a:r>
            <a:endParaRPr lang="en-US" sz="1140" dirty="0"/>
          </a:p>
        </p:txBody>
      </p:sp>
      <p:sp>
        <p:nvSpPr>
          <p:cNvPr id="31" name="Text 28"/>
          <p:cNvSpPr/>
          <p:nvPr/>
        </p:nvSpPr>
        <p:spPr>
          <a:xfrm>
            <a:off x="6096000" y="2457450"/>
            <a:ext cx="2476500" cy="323850"/>
          </a:xfrm>
          <a:prstGeom prst="rect">
            <a:avLst/>
          </a:prstGeom>
          <a:noFill/>
          <a:ln/>
        </p:spPr>
        <p:txBody>
          <a:bodyPr wrap="square" lIns="0" tIns="0" rIns="0" bIns="0" rtlCol="0" anchor="t"/>
          <a:lstStyle/>
          <a:p>
            <a:pPr algn="l" indent="0" marL="0">
              <a:lnSpc>
                <a:spcPts val="1197"/>
              </a:lnSpc>
              <a:buNone/>
            </a:pPr>
            <a:r>
              <a:rPr lang="en-US" sz="855" dirty="0">
                <a:solidFill>
                  <a:srgbClr val="545C54">
                    <a:alpha val="99000"/>
                  </a:srgbClr>
                </a:solidFill>
                <a:latin typeface="Inter" pitchFamily="34" charset="0"/>
                <a:ea typeface="Inter" pitchFamily="34" charset="-122"/>
                <a:cs typeface="Inter" pitchFamily="34" charset="-120"/>
              </a:rPr>
              <a:t>O lojista escolhe quando converter. Muitos mantêm SIMPAY para gastar na rede.</a:t>
            </a:r>
            <a:endParaRPr lang="en-US" sz="855" dirty="0"/>
          </a:p>
        </p:txBody>
      </p:sp>
      <p:sp>
        <p:nvSpPr>
          <p:cNvPr id="32" name="Shape 29"/>
          <p:cNvSpPr/>
          <p:nvPr/>
        </p:nvSpPr>
        <p:spPr>
          <a:xfrm>
            <a:off x="4572000" y="3190875"/>
            <a:ext cx="4000500" cy="14288"/>
          </a:xfrm>
          <a:prstGeom prst="rect">
            <a:avLst/>
          </a:prstGeom>
          <a:solidFill>
            <a:srgbClr val="0E130F"/>
          </a:solidFill>
          <a:ln/>
        </p:spPr>
        <p:txBody>
          <a:bodyPr/>
          <a:p/>
        </p:txBody>
      </p:sp>
      <p:sp>
        <p:nvSpPr>
          <p:cNvPr id="33" name="Text 30"/>
          <p:cNvSpPr/>
          <p:nvPr/>
        </p:nvSpPr>
        <p:spPr>
          <a:xfrm>
            <a:off x="4572000" y="3286125"/>
            <a:ext cx="1428750" cy="762000"/>
          </a:xfrm>
          <a:prstGeom prst="rect">
            <a:avLst/>
          </a:prstGeom>
          <a:noFill/>
          <a:ln/>
        </p:spPr>
        <p:txBody>
          <a:bodyPr wrap="square" lIns="0" tIns="0" rIns="0" bIns="0" rtlCol="0" anchor="t"/>
          <a:lstStyle/>
          <a:p>
            <a:pPr algn="l" indent="0" marL="0">
              <a:lnSpc>
                <a:spcPts val="5691"/>
              </a:lnSpc>
              <a:buNone/>
            </a:pPr>
            <a:r>
              <a:rPr lang="en-US" sz="4703" b="1" spc="-188" kern="0" dirty="0">
                <a:solidFill>
                  <a:srgbClr val="0E130F">
                    <a:alpha val="99000"/>
                  </a:srgbClr>
                </a:solidFill>
                <a:latin typeface="Inter" pitchFamily="34" charset="0"/>
                <a:ea typeface="Inter" pitchFamily="34" charset="-122"/>
                <a:cs typeface="Inter" pitchFamily="34" charset="-120"/>
              </a:rPr>
              <a:t>+</a:t>
            </a:r>
            <a:endParaRPr lang="en-US" sz="4703" dirty="0"/>
          </a:p>
        </p:txBody>
      </p:sp>
      <p:sp>
        <p:nvSpPr>
          <p:cNvPr id="34" name="Text 31"/>
          <p:cNvSpPr/>
          <p:nvPr/>
        </p:nvSpPr>
        <p:spPr>
          <a:xfrm>
            <a:off x="6096000" y="3400425"/>
            <a:ext cx="2476500" cy="176213"/>
          </a:xfrm>
          <a:prstGeom prst="rect">
            <a:avLst/>
          </a:prstGeom>
          <a:noFill/>
          <a:ln/>
        </p:spPr>
        <p:txBody>
          <a:bodyPr wrap="square" lIns="0" tIns="0" rIns="0" bIns="0" rtlCol="0" anchor="t"/>
          <a:lstStyle/>
          <a:p>
            <a:pPr algn="l" indent="0" marL="0">
              <a:lnSpc>
                <a:spcPts val="1311"/>
              </a:lnSpc>
              <a:buNone/>
            </a:pPr>
            <a:r>
              <a:rPr lang="en-US" sz="1140" b="1" spc="-6" kern="0" dirty="0">
                <a:solidFill>
                  <a:srgbClr val="0E130F">
                    <a:alpha val="99000"/>
                  </a:srgbClr>
                </a:solidFill>
                <a:latin typeface="Inter" pitchFamily="34" charset="0"/>
                <a:ea typeface="Inter" pitchFamily="34" charset="-122"/>
                <a:cs typeface="Inter" pitchFamily="34" charset="-120"/>
              </a:rPr>
              <a:t>taxa de serviço na compra via Pix</a:t>
            </a:r>
            <a:endParaRPr lang="en-US" sz="1140" dirty="0"/>
          </a:p>
        </p:txBody>
      </p:sp>
      <p:sp>
        <p:nvSpPr>
          <p:cNvPr id="35" name="Text 32"/>
          <p:cNvSpPr/>
          <p:nvPr/>
        </p:nvSpPr>
        <p:spPr>
          <a:xfrm>
            <a:off x="6096000" y="3648075"/>
            <a:ext cx="2476500" cy="323850"/>
          </a:xfrm>
          <a:prstGeom prst="rect">
            <a:avLst/>
          </a:prstGeom>
          <a:noFill/>
          <a:ln/>
        </p:spPr>
        <p:txBody>
          <a:bodyPr wrap="square" lIns="0" tIns="0" rIns="0" bIns="0" rtlCol="0" anchor="t"/>
          <a:lstStyle/>
          <a:p>
            <a:pPr algn="l" indent="0" marL="0">
              <a:lnSpc>
                <a:spcPts val="1197"/>
              </a:lnSpc>
              <a:buNone/>
            </a:pPr>
            <a:r>
              <a:rPr lang="en-US" sz="855" dirty="0">
                <a:solidFill>
                  <a:srgbClr val="545C54">
                    <a:alpha val="99000"/>
                  </a:srgbClr>
                </a:solidFill>
                <a:latin typeface="Inter" pitchFamily="34" charset="0"/>
                <a:ea typeface="Inter" pitchFamily="34" charset="-122"/>
                <a:cs typeface="Inter" pitchFamily="34" charset="-120"/>
              </a:rPr>
              <a:t>O cliente compra SIMPAY com Pix; uma pequena taxa custeia a operação.</a:t>
            </a:r>
            <a:endParaRPr lang="en-US" sz="855" dirty="0"/>
          </a:p>
        </p:txBody>
      </p:sp>
      <p:sp>
        <p:nvSpPr>
          <p:cNvPr id="36" name="Text 33"/>
          <p:cNvSpPr/>
          <p:nvPr/>
        </p:nvSpPr>
        <p:spPr>
          <a:xfrm>
            <a:off x="571500" y="4142232"/>
            <a:ext cx="3611880" cy="557213"/>
          </a:xfrm>
          <a:prstGeom prst="rect">
            <a:avLst/>
          </a:prstGeom>
          <a:noFill/>
          <a:ln/>
        </p:spPr>
        <p:txBody>
          <a:bodyPr wrap="square" lIns="0" tIns="0" rIns="0" bIns="0" rtlCol="0" anchor="t"/>
          <a:lstStyle/>
          <a:p>
            <a:pPr algn="l" indent="0" marL="0">
              <a:lnSpc>
                <a:spcPts val="1397"/>
              </a:lnSpc>
              <a:buNone/>
            </a:pPr>
            <a:r>
              <a:rPr lang="en-US" sz="855" dirty="0">
                <a:solidFill>
                  <a:srgbClr val="545C54">
                    <a:alpha val="99000"/>
                  </a:srgbClr>
                </a:solidFill>
                <a:latin typeface="Inter" pitchFamily="34" charset="0"/>
                <a:ea typeface="Inter" pitchFamily="34" charset="-122"/>
                <a:cs typeface="Inter" pitchFamily="34" charset="-120"/>
              </a:rPr>
              <a:t>Cashback e indicações: financiados pela alocação de 20% para recompensas.</a:t>
            </a:r>
            <a:endParaRPr lang="en-US" sz="998" dirty="0"/>
          </a:p>
        </p:txBody>
      </p:sp>
      <p:sp>
        <p:nvSpPr>
          <p:cNvPr id="42" name="TextBox 4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43" name="TextBox 4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09</a:t>
            </a:r>
          </a:p>
        </p:txBody>
      </p:sp>
      <p:pic>
        <p:nvPicPr>
          <p:cNvPr id="39" name="simulator-pt.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71500" y="2395728"/>
            <a:ext cx="3611880" cy="1473906"/>
          </a:xfrm>
          <a:prstGeom prst="rect">
            <a:avLst/>
          </a:prstGeom>
        </p:spPr>
      </p:pic>
      <p:sp>
        <p:nvSpPr>
          <p:cNvPr id="40" name="TextBox 39"/>
          <p:cNvSpPr txBox="1"/>
          <p:nvPr/>
        </p:nvSpPr>
        <p:spPr>
          <a:xfrm>
            <a:off x="571500" y="2185416"/>
            <a:ext cx="3611880" cy="137160"/>
          </a:xfrm>
          <a:prstGeom prst="rect">
            <a:avLst/>
          </a:prstGeom>
          <a:noFill/>
        </p:spPr>
        <p:txBody>
          <a:bodyPr wrap="square" lIns="0" tIns="0" rIns="0" bIns="0">
            <a:noAutofit/>
          </a:bodyPr>
          <a:lstStyle/>
          <a:p>
            <a:pPr>
              <a:lnSpc>
                <a:spcPts val="878"/>
              </a:lnSpc>
              <a:defRPr sz="720" b="0">
                <a:solidFill>
                  <a:srgbClr val="545C54"/>
                </a:solidFill>
                <a:latin typeface="JetBrains Mono"/>
              </a:defRPr>
            </a:pPr>
            <a:r>
              <a:rPr/>
              <a:t>SIMULADOR DO SITE · 5s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9"/>
                </p:tgtEl>
              </p:cMediaNode>
            </p:vide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BDF06B"/>
        </a:solidFill>
      </p:bgPr>
    </p:bg>
    <p:spTree>
      <p:nvGrpSpPr>
        <p:cNvPr id="1" name=""/>
        <p:cNvGrpSpPr/>
        <p:nvPr/>
      </p:nvGrpSpPr>
      <p:grpSpPr>
        <a:xfrm>
          <a:off x="0" y="0"/>
          <a:ext cx="0" cy="0"/>
          <a:chOff x="0" y="0"/>
          <a:chExt cx="0" cy="0"/>
        </a:xfrm>
      </p:grpSpPr>
      <p:sp>
        <p:nvSpPr>
          <p:cNvPr id="38" name="TextBox 37"/>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0E130F"/>
                </a:solidFill>
                <a:latin typeface="JetBrains Mono"/>
              </a:defRPr>
            </a:pPr>
            <a:r>
              <a:t>09 — PLANO DE TRAÇÃO</a:t>
            </a:r>
          </a:p>
        </p:txBody>
      </p:sp>
      <p:sp>
        <p:nvSpPr>
          <p:cNvPr id="20" name="Text 17"/>
          <p:cNvSpPr/>
          <p:nvPr/>
        </p:nvSpPr>
        <p:spPr>
          <a:xfrm>
            <a:off x="571500" y="809625"/>
            <a:ext cx="6667500" cy="762000"/>
          </a:xfrm>
          <a:prstGeom prst="rect">
            <a:avLst/>
          </a:prstGeom>
          <a:noFill/>
          <a:ln/>
        </p:spPr>
        <p:txBody>
          <a:bodyPr wrap="square" lIns="0" tIns="0" rIns="0" bIns="0" rtlCol="0" anchor="t"/>
          <a:lstStyle/>
          <a:p>
            <a:pPr algn="l" indent="0" marL="0">
              <a:lnSpc>
                <a:spcPts val="2850"/>
              </a:lnSpc>
              <a:buNone/>
            </a:pPr>
            <a:r>
              <a:rPr lang="en-US" sz="2850" b="1" spc="-85" kern="0" dirty="0">
                <a:solidFill>
                  <a:srgbClr val="0E130F">
                    <a:alpha val="99000"/>
                  </a:srgbClr>
                </a:solidFill>
                <a:latin typeface="Inter" pitchFamily="34" charset="0"/>
                <a:ea typeface="Inter" pitchFamily="34" charset="-122"/>
                <a:cs typeface="Inter" pitchFamily="34" charset="-120"/>
              </a:rPr>
              <a:t>Um ciclo de crescimento</a:t>
            </a:r>
            <a:endParaRPr lang="en-US" sz="2850" dirty="0"/>
          </a:p>
          <a:p>
            <a:pPr algn="l" indent="0" marL="0">
              <a:lnSpc>
                <a:spcPts val="2850"/>
              </a:lnSpc>
              <a:buNone/>
            </a:pPr>
            <a:r>
              <a:rPr lang="en-US" sz="2850" b="1" spc="-85" kern="0" dirty="0">
                <a:solidFill>
                  <a:srgbClr val="0E130F">
                    <a:alpha val="99000"/>
                  </a:srgbClr>
                </a:solidFill>
                <a:latin typeface="Inter" pitchFamily="34" charset="0"/>
                <a:ea typeface="Inter" pitchFamily="34" charset="-122"/>
                <a:cs typeface="Inter" pitchFamily="34" charset="-120"/>
              </a:rPr>
              <a:t>dentro do produto.</a:t>
            </a:r>
            <a:endParaRPr lang="en-US" sz="2850" dirty="0"/>
          </a:p>
        </p:txBody>
      </p:sp>
      <p:sp>
        <p:nvSpPr>
          <p:cNvPr id="21" name="Text 18"/>
          <p:cNvSpPr/>
          <p:nvPr/>
        </p:nvSpPr>
        <p:spPr>
          <a:xfrm>
            <a:off x="571500"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1</a:t>
            </a:r>
            <a:endParaRPr lang="en-US" sz="4275" dirty="0"/>
          </a:p>
        </p:txBody>
      </p:sp>
      <p:sp>
        <p:nvSpPr>
          <p:cNvPr id="22" name="Text 19"/>
          <p:cNvSpPr/>
          <p:nvPr/>
        </p:nvSpPr>
        <p:spPr>
          <a:xfrm>
            <a:off x="571500"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Lojistas piloto</a:t>
            </a:r>
            <a:endParaRPr lang="en-US" sz="1211" dirty="0"/>
          </a:p>
        </p:txBody>
      </p:sp>
      <p:sp>
        <p:nvSpPr>
          <p:cNvPr id="23" name="Text 20"/>
          <p:cNvSpPr/>
          <p:nvPr/>
        </p:nvSpPr>
        <p:spPr>
          <a:xfrm>
            <a:off x="571500" y="3333750"/>
            <a:ext cx="1714500" cy="485775"/>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Cadastro assistido de cafés e lojas locais, com tags NFC e configuração em 5 minutos.</a:t>
            </a:r>
            <a:endParaRPr lang="en-US" sz="855" dirty="0"/>
          </a:p>
        </p:txBody>
      </p:sp>
      <p:sp>
        <p:nvSpPr>
          <p:cNvPr id="24" name="Text 21"/>
          <p:cNvSpPr/>
          <p:nvPr/>
        </p:nvSpPr>
        <p:spPr>
          <a:xfrm>
            <a:off x="2143125" y="2381250"/>
            <a:ext cx="295275" cy="366713"/>
          </a:xfrm>
          <a:prstGeom prst="rect">
            <a:avLst/>
          </a:prstGeom>
          <a:noFill/>
          <a:ln/>
        </p:spPr>
        <p:txBody>
          <a:bodyPr wrap="square" lIns="0" tIns="0" rIns="0" bIns="0" rtlCol="0" anchor="t"/>
          <a:lstStyle/>
          <a:p>
            <a:pPr algn="l" indent="0" marL="0">
              <a:lnSpc>
                <a:spcPts val="2759"/>
              </a:lnSpc>
              <a:buNone/>
            </a:pPr>
            <a:r>
              <a:rPr lang="en-US" sz="2280" b="1" dirty="0">
                <a:solidFill>
                  <a:srgbClr val="0E130F">
                    <a:alpha val="99000"/>
                  </a:srgbClr>
                </a:solidFill>
                <a:latin typeface="Inter" pitchFamily="34" charset="0"/>
                <a:ea typeface="Inter" pitchFamily="34" charset="-122"/>
                <a:cs typeface="Inter" pitchFamily="34" charset="-120"/>
              </a:rPr>
              <a:t>→</a:t>
            </a:r>
            <a:endParaRPr lang="en-US" sz="2280" dirty="0"/>
          </a:p>
        </p:txBody>
      </p:sp>
      <p:sp>
        <p:nvSpPr>
          <p:cNvPr id="25" name="Text 22"/>
          <p:cNvSpPr/>
          <p:nvPr/>
        </p:nvSpPr>
        <p:spPr>
          <a:xfrm>
            <a:off x="2619375"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2</a:t>
            </a:r>
            <a:endParaRPr lang="en-US" sz="4275" dirty="0"/>
          </a:p>
        </p:txBody>
      </p:sp>
      <p:sp>
        <p:nvSpPr>
          <p:cNvPr id="26" name="Text 23"/>
          <p:cNvSpPr/>
          <p:nvPr/>
        </p:nvSpPr>
        <p:spPr>
          <a:xfrm>
            <a:off x="2619375"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Lojista → lojista</a:t>
            </a:r>
            <a:endParaRPr lang="en-US" sz="1211" dirty="0"/>
          </a:p>
        </p:txBody>
      </p:sp>
      <p:sp>
        <p:nvSpPr>
          <p:cNvPr id="27" name="Text 24"/>
          <p:cNvSpPr/>
          <p:nvPr/>
        </p:nvSpPr>
        <p:spPr>
          <a:xfrm>
            <a:off x="2619375" y="3333750"/>
            <a:ext cx="1714500" cy="647700"/>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Cada lojista tem um código. Os dois ganham SIMPAY depois das primeiras vendas da nova loja.</a:t>
            </a:r>
            <a:endParaRPr lang="en-US" sz="855" dirty="0"/>
          </a:p>
        </p:txBody>
      </p:sp>
      <p:sp>
        <p:nvSpPr>
          <p:cNvPr id="28" name="Text 25"/>
          <p:cNvSpPr/>
          <p:nvPr/>
        </p:nvSpPr>
        <p:spPr>
          <a:xfrm>
            <a:off x="4191000" y="2381250"/>
            <a:ext cx="295275" cy="366713"/>
          </a:xfrm>
          <a:prstGeom prst="rect">
            <a:avLst/>
          </a:prstGeom>
          <a:noFill/>
          <a:ln/>
        </p:spPr>
        <p:txBody>
          <a:bodyPr wrap="square" lIns="0" tIns="0" rIns="0" bIns="0" rtlCol="0" anchor="t"/>
          <a:lstStyle/>
          <a:p>
            <a:pPr algn="l" indent="0" marL="0">
              <a:lnSpc>
                <a:spcPts val="2759"/>
              </a:lnSpc>
              <a:buNone/>
            </a:pPr>
            <a:r>
              <a:rPr lang="en-US" sz="2280" b="1" dirty="0">
                <a:solidFill>
                  <a:srgbClr val="0E130F">
                    <a:alpha val="99000"/>
                  </a:srgbClr>
                </a:solidFill>
                <a:latin typeface="Inter" pitchFamily="34" charset="0"/>
                <a:ea typeface="Inter" pitchFamily="34" charset="-122"/>
                <a:cs typeface="Inter" pitchFamily="34" charset="-120"/>
              </a:rPr>
              <a:t>→</a:t>
            </a:r>
            <a:endParaRPr lang="en-US" sz="2280" dirty="0"/>
          </a:p>
        </p:txBody>
      </p:sp>
      <p:sp>
        <p:nvSpPr>
          <p:cNvPr id="29" name="Text 26"/>
          <p:cNvSpPr/>
          <p:nvPr/>
        </p:nvSpPr>
        <p:spPr>
          <a:xfrm>
            <a:off x="4667250"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3</a:t>
            </a:r>
            <a:endParaRPr lang="en-US" sz="4275" dirty="0"/>
          </a:p>
        </p:txBody>
      </p:sp>
      <p:sp>
        <p:nvSpPr>
          <p:cNvPr id="30" name="Text 27"/>
          <p:cNvSpPr/>
          <p:nvPr/>
        </p:nvSpPr>
        <p:spPr>
          <a:xfrm>
            <a:off x="4667250"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Cliente → cliente</a:t>
            </a:r>
            <a:endParaRPr lang="en-US" sz="1211" dirty="0"/>
          </a:p>
        </p:txBody>
      </p:sp>
      <p:sp>
        <p:nvSpPr>
          <p:cNvPr id="31" name="Text 28"/>
          <p:cNvSpPr/>
          <p:nvPr/>
        </p:nvSpPr>
        <p:spPr>
          <a:xfrm>
            <a:off x="4667250" y="3333750"/>
            <a:ext cx="1714500" cy="647700"/>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Cashback em toda compra e códigos de convite. A recompensa sai no primeiro pagamento real.</a:t>
            </a:r>
            <a:endParaRPr lang="en-US" sz="855" dirty="0"/>
          </a:p>
        </p:txBody>
      </p:sp>
      <p:sp>
        <p:nvSpPr>
          <p:cNvPr id="32" name="Text 29"/>
          <p:cNvSpPr/>
          <p:nvPr/>
        </p:nvSpPr>
        <p:spPr>
          <a:xfrm>
            <a:off x="6238875" y="2381250"/>
            <a:ext cx="295275" cy="366713"/>
          </a:xfrm>
          <a:prstGeom prst="rect">
            <a:avLst/>
          </a:prstGeom>
          <a:noFill/>
          <a:ln/>
        </p:spPr>
        <p:txBody>
          <a:bodyPr wrap="square" lIns="0" tIns="0" rIns="0" bIns="0" rtlCol="0" anchor="t"/>
          <a:lstStyle/>
          <a:p>
            <a:pPr algn="l" indent="0" marL="0">
              <a:lnSpc>
                <a:spcPts val="2759"/>
              </a:lnSpc>
              <a:buNone/>
            </a:pPr>
            <a:r>
              <a:rPr lang="en-US" sz="2280" b="1" dirty="0">
                <a:solidFill>
                  <a:srgbClr val="0E130F">
                    <a:alpha val="99000"/>
                  </a:srgbClr>
                </a:solidFill>
                <a:latin typeface="Inter" pitchFamily="34" charset="0"/>
                <a:ea typeface="Inter" pitchFamily="34" charset="-122"/>
                <a:cs typeface="Inter" pitchFamily="34" charset="-120"/>
              </a:rPr>
              <a:t>→</a:t>
            </a:r>
            <a:endParaRPr lang="en-US" sz="2280" dirty="0"/>
          </a:p>
        </p:txBody>
      </p:sp>
      <p:sp>
        <p:nvSpPr>
          <p:cNvPr id="33" name="Text 30"/>
          <p:cNvSpPr/>
          <p:nvPr/>
        </p:nvSpPr>
        <p:spPr>
          <a:xfrm>
            <a:off x="6715125"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4</a:t>
            </a:r>
            <a:endParaRPr lang="en-US" sz="4275" dirty="0"/>
          </a:p>
        </p:txBody>
      </p:sp>
      <p:sp>
        <p:nvSpPr>
          <p:cNvPr id="34" name="Text 31"/>
          <p:cNvSpPr/>
          <p:nvPr/>
        </p:nvSpPr>
        <p:spPr>
          <a:xfrm>
            <a:off x="6715125"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Blinks em todo lugar</a:t>
            </a:r>
            <a:endParaRPr lang="en-US" sz="1211" dirty="0"/>
          </a:p>
        </p:txBody>
      </p:sp>
      <p:sp>
        <p:nvSpPr>
          <p:cNvPr id="35" name="Text 32"/>
          <p:cNvSpPr/>
          <p:nvPr/>
        </p:nvSpPr>
        <p:spPr>
          <a:xfrm>
            <a:off x="6715125" y="3333750"/>
            <a:ext cx="1714500" cy="647700"/>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Links de caixa compartilhados no X, WhatsApp e Phantom levam usuários de cripto ao balcão.</a:t>
            </a:r>
            <a:endParaRPr lang="en-US" sz="855" dirty="0"/>
          </a:p>
        </p:txBody>
      </p:sp>
      <p:sp>
        <p:nvSpPr>
          <p:cNvPr id="36" name="Shape 33"/>
          <p:cNvSpPr/>
          <p:nvPr/>
        </p:nvSpPr>
        <p:spPr>
          <a:xfrm>
            <a:off x="571500" y="4286250"/>
            <a:ext cx="8001000" cy="14288"/>
          </a:xfrm>
          <a:prstGeom prst="rect">
            <a:avLst/>
          </a:prstGeom>
          <a:solidFill>
            <a:srgbClr val="0E130F"/>
          </a:solidFill>
          <a:ln/>
        </p:spPr>
        <p:txBody>
          <a:bodyPr/>
          <a:p/>
        </p:txBody>
      </p:sp>
      <p:sp>
        <p:nvSpPr>
          <p:cNvPr id="39" name="TextBox 38"/>
          <p:cNvSpPr txBox="1"/>
          <p:nvPr/>
        </p:nvSpPr>
        <p:spPr>
          <a:xfrm>
            <a:off x="571500" y="4429125"/>
            <a:ext cx="8001000" cy="179070"/>
          </a:xfrm>
          <a:prstGeom prst="rect">
            <a:avLst/>
          </a:prstGeom>
          <a:noFill/>
        </p:spPr>
        <p:txBody>
          <a:bodyPr wrap="none" lIns="0" tIns="0" rIns="0" bIns="0">
            <a:noAutofit/>
          </a:bodyPr>
          <a:lstStyle/>
          <a:p>
            <a:pPr>
              <a:lnSpc>
                <a:spcPts val="915"/>
              </a:lnSpc>
              <a:defRPr sz="750" b="1">
                <a:solidFill>
                  <a:srgbClr val="0E130F"/>
                </a:solidFill>
                <a:latin typeface="JetBrains Mono"/>
              </a:defRPr>
            </a:pPr>
            <a:r>
              <a:t>PRÓXIMOS PASSOS: LOJISTAS PILOTO → PRIMEIROS PAGAMENTOS → CRESCIMENTO DA REDE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30F"/>
        </a:solidFill>
      </p:bgPr>
    </p:bg>
    <p:spTree>
      <p:nvGrpSpPr>
        <p:cNvPr id="1" name=""/>
        <p:cNvGrpSpPr/>
        <p:nvPr/>
      </p:nvGrpSpPr>
      <p:grpSpPr>
        <a:xfrm>
          <a:off x="0" y="0"/>
          <a:ext cx="0" cy="0"/>
          <a:chOff x="0" y="0"/>
          <a:chExt cx="0" cy="0"/>
        </a:xfrm>
      </p:grpSpPr>
      <p:sp>
        <p:nvSpPr>
          <p:cNvPr id="42" name="TextBox 41"/>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10 — ALÉM DO BALCÃO</a:t>
            </a:r>
          </a:p>
        </p:txBody>
      </p:sp>
      <p:sp>
        <p:nvSpPr>
          <p:cNvPr id="26" name="Text 23"/>
          <p:cNvSpPr/>
          <p:nvPr/>
        </p:nvSpPr>
        <p:spPr>
          <a:xfrm>
            <a:off x="571500" y="809625"/>
            <a:ext cx="71437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A mesma infraestrutura</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para todo pagamento que dói.</a:t>
            </a:r>
            <a:endParaRPr lang="en-US" sz="2708" dirty="0"/>
          </a:p>
        </p:txBody>
      </p:sp>
      <p:sp>
        <p:nvSpPr>
          <p:cNvPr id="27" name="Shape 24"/>
          <p:cNvSpPr/>
          <p:nvPr/>
        </p:nvSpPr>
        <p:spPr>
          <a:xfrm>
            <a:off x="571500" y="3143250"/>
            <a:ext cx="2476500" cy="1428750"/>
          </a:xfrm>
          <a:prstGeom prst="rect">
            <a:avLst/>
          </a:prstGeom>
          <a:solidFill>
            <a:srgbClr val="BDF06B"/>
          </a:solidFill>
          <a:ln/>
        </p:spPr>
        <p:txBody>
          <a:bodyPr/>
          <a:p/>
        </p:txBody>
      </p:sp>
      <p:sp>
        <p:nvSpPr>
          <p:cNvPr id="43" name="TextBox 42"/>
          <p:cNvSpPr txBox="1"/>
          <p:nvPr/>
        </p:nvSpPr>
        <p:spPr>
          <a:xfrm>
            <a:off x="742950" y="3314700"/>
            <a:ext cx="381762"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AGORA</a:t>
            </a:r>
          </a:p>
        </p:txBody>
      </p:sp>
      <p:sp>
        <p:nvSpPr>
          <p:cNvPr id="29" name="Text 26"/>
          <p:cNvSpPr/>
          <p:nvPr/>
        </p:nvSpPr>
        <p:spPr>
          <a:xfrm>
            <a:off x="742950" y="3524250"/>
            <a:ext cx="2133600" cy="204788"/>
          </a:xfrm>
          <a:prstGeom prst="rect">
            <a:avLst/>
          </a:prstGeom>
          <a:noFill/>
          <a:ln/>
        </p:spPr>
        <p:txBody>
          <a:bodyPr wrap="square" lIns="0" tIns="0" rIns="0" bIns="0" rtlCol="0" anchor="t"/>
          <a:lstStyle/>
          <a:p>
            <a:pPr algn="l" indent="0" marL="0">
              <a:lnSpc>
                <a:spcPts val="1539"/>
              </a:lnSpc>
              <a:buNone/>
            </a:pPr>
            <a:r>
              <a:rPr lang="en-US" sz="1425" b="1" spc="-17" kern="0" dirty="0">
                <a:solidFill>
                  <a:srgbClr val="0E130F">
                    <a:alpha val="99000"/>
                  </a:srgbClr>
                </a:solidFill>
                <a:latin typeface="Inter" pitchFamily="34" charset="0"/>
                <a:ea typeface="Inter" pitchFamily="34" charset="-122"/>
                <a:cs typeface="Inter" pitchFamily="34" charset="-120"/>
              </a:rPr>
              <a:t>Pagamentos no balcão</a:t>
            </a:r>
            <a:endParaRPr lang="en-US" sz="1425" dirty="0"/>
          </a:p>
        </p:txBody>
      </p:sp>
      <p:sp>
        <p:nvSpPr>
          <p:cNvPr id="30" name="Text 27"/>
          <p:cNvSpPr/>
          <p:nvPr/>
        </p:nvSpPr>
        <p:spPr>
          <a:xfrm>
            <a:off x="742950" y="4048125"/>
            <a:ext cx="2133600" cy="333375"/>
          </a:xfrm>
          <a:prstGeom prst="rect">
            <a:avLst/>
          </a:prstGeom>
          <a:noFill/>
          <a:ln/>
        </p:spPr>
        <p:txBody>
          <a:bodyPr wrap="square" lIns="0" tIns="0" rIns="0" bIns="0" rtlCol="0" anchor="t"/>
          <a:lstStyle/>
          <a:p>
            <a:pPr algn="l" indent="0" marL="0">
              <a:lnSpc>
                <a:spcPts val="1247"/>
              </a:lnSpc>
              <a:buNone/>
            </a:pPr>
            <a:r>
              <a:rPr lang="en-US" sz="891" dirty="0">
                <a:solidFill>
                  <a:srgbClr val="0E130F">
                    <a:alpha val="99000"/>
                  </a:srgbClr>
                </a:solidFill>
                <a:latin typeface="Inter" pitchFamily="34" charset="0"/>
                <a:ea typeface="Inter" pitchFamily="34" charset="-122"/>
                <a:cs typeface="Inter" pitchFamily="34" charset="-120"/>
              </a:rPr>
              <a:t>Clientes pagam o comércio local por QR, NFC e Blinks.</a:t>
            </a:r>
            <a:endParaRPr lang="en-US" sz="891" dirty="0"/>
          </a:p>
        </p:txBody>
      </p:sp>
      <p:sp>
        <p:nvSpPr>
          <p:cNvPr id="31" name="Shape 28"/>
          <p:cNvSpPr/>
          <p:nvPr/>
        </p:nvSpPr>
        <p:spPr>
          <a:xfrm>
            <a:off x="3333750" y="2762250"/>
            <a:ext cx="2476500" cy="1809750"/>
          </a:xfrm>
          <a:prstGeom prst="rect">
            <a:avLst/>
          </a:prstGeom>
          <a:solidFill>
            <a:srgbClr val="789E38"/>
          </a:solidFill>
          <a:ln/>
        </p:spPr>
        <p:txBody>
          <a:bodyPr/>
          <a:p/>
        </p:txBody>
      </p:sp>
      <p:sp>
        <p:nvSpPr>
          <p:cNvPr id="44" name="TextBox 43"/>
          <p:cNvSpPr txBox="1"/>
          <p:nvPr/>
        </p:nvSpPr>
        <p:spPr>
          <a:xfrm>
            <a:off x="3505200" y="2933700"/>
            <a:ext cx="446913"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DEPOIS</a:t>
            </a:r>
          </a:p>
        </p:txBody>
      </p:sp>
      <p:sp>
        <p:nvSpPr>
          <p:cNvPr id="33" name="Text 30"/>
          <p:cNvSpPr/>
          <p:nvPr/>
        </p:nvSpPr>
        <p:spPr>
          <a:xfrm>
            <a:off x="3505200" y="3143250"/>
            <a:ext cx="2133600" cy="204788"/>
          </a:xfrm>
          <a:prstGeom prst="rect">
            <a:avLst/>
          </a:prstGeom>
          <a:noFill/>
          <a:ln/>
        </p:spPr>
        <p:txBody>
          <a:bodyPr wrap="square" lIns="0" tIns="0" rIns="0" bIns="0" rtlCol="0" anchor="t"/>
          <a:lstStyle/>
          <a:p>
            <a:pPr algn="l" indent="0" marL="0">
              <a:lnSpc>
                <a:spcPts val="1539"/>
              </a:lnSpc>
              <a:buNone/>
            </a:pPr>
            <a:r>
              <a:rPr lang="en-US" sz="1425" b="1" spc="-17" kern="0" dirty="0">
                <a:solidFill>
                  <a:srgbClr val="0E130F">
                    <a:alpha val="99000"/>
                  </a:srgbClr>
                </a:solidFill>
                <a:latin typeface="Inter" pitchFamily="34" charset="0"/>
                <a:ea typeface="Inter" pitchFamily="34" charset="-122"/>
                <a:cs typeface="Inter" pitchFamily="34" charset="-120"/>
              </a:rPr>
              <a:t>Entre empresas (B2B)</a:t>
            </a:r>
            <a:endParaRPr lang="en-US" sz="1425" dirty="0"/>
          </a:p>
        </p:txBody>
      </p:sp>
      <p:sp>
        <p:nvSpPr>
          <p:cNvPr id="34" name="Text 31"/>
          <p:cNvSpPr/>
          <p:nvPr/>
        </p:nvSpPr>
        <p:spPr>
          <a:xfrm>
            <a:off x="3505200" y="3667125"/>
            <a:ext cx="2133600" cy="666750"/>
          </a:xfrm>
          <a:prstGeom prst="rect">
            <a:avLst/>
          </a:prstGeom>
          <a:noFill/>
          <a:ln/>
        </p:spPr>
        <p:txBody>
          <a:bodyPr wrap="square" lIns="0" tIns="0" rIns="0" bIns="0" rtlCol="0" anchor="t"/>
          <a:lstStyle/>
          <a:p>
            <a:pPr algn="l" indent="0" marL="0">
              <a:lnSpc>
                <a:spcPts val="1247"/>
              </a:lnSpc>
              <a:buNone/>
            </a:pPr>
            <a:r>
              <a:rPr lang="en-US" sz="891" dirty="0">
                <a:solidFill>
                  <a:srgbClr val="0E130F">
                    <a:alpha val="99000"/>
                  </a:srgbClr>
                </a:solidFill>
                <a:latin typeface="Inter" pitchFamily="34" charset="0"/>
                <a:ea typeface="Inter" pitchFamily="34" charset="-122"/>
                <a:cs typeface="Inter" pitchFamily="34" charset="-120"/>
              </a:rPr>
              <a:t>Empresas pagam fornecedores e umas às outras: valores altos, liquidados em segundos, em qualquer dia e hora.</a:t>
            </a:r>
            <a:endParaRPr lang="en-US" sz="891" dirty="0"/>
          </a:p>
        </p:txBody>
      </p:sp>
      <p:sp>
        <p:nvSpPr>
          <p:cNvPr id="35" name="Shape 32"/>
          <p:cNvSpPr/>
          <p:nvPr/>
        </p:nvSpPr>
        <p:spPr>
          <a:xfrm>
            <a:off x="6096000" y="2381250"/>
            <a:ext cx="2476500" cy="2190750"/>
          </a:xfrm>
          <a:prstGeom prst="rect">
            <a:avLst/>
          </a:prstGeom>
          <a:solidFill>
            <a:srgbClr val="333D33"/>
          </a:solidFill>
          <a:ln/>
        </p:spPr>
        <p:txBody>
          <a:bodyPr/>
          <a:p/>
        </p:txBody>
      </p:sp>
      <p:sp>
        <p:nvSpPr>
          <p:cNvPr id="45" name="TextBox 44"/>
          <p:cNvSpPr txBox="1"/>
          <p:nvPr/>
        </p:nvSpPr>
        <p:spPr>
          <a:xfrm>
            <a:off x="6267450" y="2552700"/>
            <a:ext cx="707517" cy="185115"/>
          </a:xfrm>
          <a:prstGeom prst="rect">
            <a:avLst/>
          </a:prstGeom>
          <a:noFill/>
        </p:spPr>
        <p:txBody>
          <a:bodyPr wrap="none" lIns="0" tIns="0" rIns="0" bIns="0">
            <a:noAutofit/>
          </a:bodyPr>
          <a:lstStyle/>
          <a:p>
            <a:pPr>
              <a:lnSpc>
                <a:spcPts val="956"/>
              </a:lnSpc>
              <a:defRPr sz="784" b="1">
                <a:solidFill>
                  <a:srgbClr val="F7F7F2"/>
                </a:solidFill>
                <a:latin typeface="JetBrains Mono"/>
              </a:defRPr>
            </a:pPr>
            <a:r>
              <a:t>EM SEGUIDA</a:t>
            </a:r>
          </a:p>
        </p:txBody>
      </p:sp>
      <p:sp>
        <p:nvSpPr>
          <p:cNvPr id="37" name="Text 34"/>
          <p:cNvSpPr/>
          <p:nvPr/>
        </p:nvSpPr>
        <p:spPr>
          <a:xfrm>
            <a:off x="6267450" y="2762250"/>
            <a:ext cx="2133600" cy="409575"/>
          </a:xfrm>
          <a:prstGeom prst="rect">
            <a:avLst/>
          </a:prstGeom>
          <a:noFill/>
          <a:ln/>
        </p:spPr>
        <p:txBody>
          <a:bodyPr wrap="square" lIns="0" tIns="0" rIns="0" bIns="0" rtlCol="0" anchor="t"/>
          <a:lstStyle/>
          <a:p>
            <a:pPr algn="l" indent="0" marL="0">
              <a:lnSpc>
                <a:spcPts val="1539"/>
              </a:lnSpc>
              <a:buNone/>
            </a:pPr>
            <a:r>
              <a:rPr lang="en-US" sz="1425" b="1" spc="-17" kern="0" dirty="0">
                <a:solidFill>
                  <a:srgbClr val="F7F7F2">
                    <a:alpha val="99000"/>
                  </a:srgbClr>
                </a:solidFill>
                <a:latin typeface="Inter" pitchFamily="34" charset="0"/>
                <a:ea typeface="Inter" pitchFamily="34" charset="-122"/>
                <a:cs typeface="Inter" pitchFamily="34" charset="-120"/>
              </a:rPr>
              <a:t>Remessas internacionais</a:t>
            </a:r>
            <a:endParaRPr lang="en-US" sz="1425" dirty="0"/>
          </a:p>
        </p:txBody>
      </p:sp>
      <p:sp>
        <p:nvSpPr>
          <p:cNvPr id="38" name="Text 35"/>
          <p:cNvSpPr/>
          <p:nvPr/>
        </p:nvSpPr>
        <p:spPr>
          <a:xfrm>
            <a:off x="6267450" y="3286125"/>
            <a:ext cx="2133600" cy="500063"/>
          </a:xfrm>
          <a:prstGeom prst="rect">
            <a:avLst/>
          </a:prstGeom>
          <a:noFill/>
          <a:ln/>
        </p:spPr>
        <p:txBody>
          <a:bodyPr wrap="square" lIns="0" tIns="0" rIns="0" bIns="0" rtlCol="0" anchor="t"/>
          <a:lstStyle/>
          <a:p>
            <a:pPr algn="l" indent="0" marL="0">
              <a:lnSpc>
                <a:spcPts val="1247"/>
              </a:lnSpc>
              <a:buNone/>
            </a:pPr>
            <a:r>
              <a:rPr lang="en-US" sz="891" dirty="0">
                <a:solidFill>
                  <a:srgbClr val="B2BDB2">
                    <a:alpha val="99000"/>
                  </a:srgbClr>
                </a:solidFill>
                <a:latin typeface="Inter" pitchFamily="34" charset="0"/>
                <a:ea typeface="Inter" pitchFamily="34" charset="-122"/>
                <a:cs typeface="Inter" pitchFamily="34" charset="-120"/>
              </a:rPr>
              <a:t>O dinheiro enviado do exterior chega numa carteira brasileira e é sacado via Pix, sem bancos correspondentes.</a:t>
            </a:r>
            <a:endParaRPr lang="en-US" sz="891" dirty="0"/>
          </a:p>
        </p:txBody>
      </p:sp>
      <p:sp>
        <p:nvSpPr>
          <p:cNvPr id="46" name="TextBox 45"/>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47" name="TextBox 46"/>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11</a:t>
            </a:r>
          </a:p>
        </p:txBody>
      </p:sp>
      <p:sp>
        <p:nvSpPr>
          <p:cNvPr id="41" name="TextBox 40"/>
          <p:cNvSpPr txBox="1"/>
          <p:nvPr/>
        </p:nvSpPr>
        <p:spPr>
          <a:xfrm>
            <a:off x="571500" y="1847088"/>
            <a:ext cx="5029200" cy="201168"/>
          </a:xfrm>
          <a:prstGeom prst="rect">
            <a:avLst/>
          </a:prstGeom>
          <a:noFill/>
        </p:spPr>
        <p:txBody>
          <a:bodyPr wrap="square" lIns="0" tIns="0" rIns="0" bIns="0">
            <a:noAutofit/>
          </a:bodyPr>
          <a:lstStyle/>
          <a:p>
            <a:pPr>
              <a:lnSpc>
                <a:spcPts val="976"/>
              </a:lnSpc>
              <a:defRPr sz="800" b="0">
                <a:solidFill>
                  <a:srgbClr val="BDF06B"/>
                </a:solidFill>
                <a:latin typeface="JetBrains Mono"/>
              </a:defRPr>
            </a:pPr>
            <a:r>
              <a:rPr/>
              <a:t>VISÃO DE EXPANSÃO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7F2"/>
        </a:solidFill>
      </p:bgPr>
    </p:bg>
    <p:spTree>
      <p:nvGrpSpPr>
        <p:cNvPr id="1" name=""/>
        <p:cNvGrpSpPr/>
        <p:nvPr/>
      </p:nvGrpSpPr>
      <p:grpSpPr>
        <a:xfrm>
          <a:off x="0" y="0"/>
          <a:ext cx="0" cy="0"/>
          <a:chOff x="0" y="0"/>
          <a:chExt cx="0" cy="0"/>
        </a:xfrm>
      </p:grpSpPr>
      <p:sp>
        <p:nvSpPr>
          <p:cNvPr id="55" name="TextBox 54"/>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11 — NOVAS FRENTES</a:t>
            </a:r>
          </a:p>
        </p:txBody>
      </p:sp>
      <p:sp>
        <p:nvSpPr>
          <p:cNvPr id="33" name="Text 30"/>
          <p:cNvSpPr/>
          <p:nvPr/>
        </p:nvSpPr>
        <p:spPr>
          <a:xfrm>
            <a:off x="571500" y="809625"/>
            <a:ext cx="71437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Menos atrito, menos taxas,</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menos intermediários.</a:t>
            </a:r>
            <a:endParaRPr lang="en-US" sz="2708" dirty="0"/>
          </a:p>
        </p:txBody>
      </p:sp>
      <p:sp>
        <p:nvSpPr>
          <p:cNvPr id="34" name="Shape 31"/>
          <p:cNvSpPr/>
          <p:nvPr/>
        </p:nvSpPr>
        <p:spPr>
          <a:xfrm>
            <a:off x="571500" y="2238375"/>
            <a:ext cx="3714750" cy="28575"/>
          </a:xfrm>
          <a:prstGeom prst="rect">
            <a:avLst/>
          </a:prstGeom>
          <a:solidFill>
            <a:srgbClr val="0E130F"/>
          </a:solidFill>
          <a:ln/>
        </p:spPr>
        <p:txBody>
          <a:bodyPr/>
          <a:p/>
        </p:txBody>
      </p:sp>
      <p:sp>
        <p:nvSpPr>
          <p:cNvPr id="56" name="TextBox 55"/>
          <p:cNvSpPr txBox="1"/>
          <p:nvPr/>
        </p:nvSpPr>
        <p:spPr>
          <a:xfrm>
            <a:off x="571500" y="240982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B2B</a:t>
            </a:r>
          </a:p>
        </p:txBody>
      </p:sp>
      <p:sp>
        <p:nvSpPr>
          <p:cNvPr id="36" name="Text 33"/>
          <p:cNvSpPr/>
          <p:nvPr/>
        </p:nvSpPr>
        <p:spPr>
          <a:xfrm>
            <a:off x="571500" y="2600325"/>
            <a:ext cx="3714750" cy="252413"/>
          </a:xfrm>
          <a:prstGeom prst="rect">
            <a:avLst/>
          </a:prstGeom>
          <a:noFill/>
          <a:ln/>
        </p:spPr>
        <p:txBody>
          <a:bodyPr wrap="square" lIns="0" tIns="0" rIns="0" bIns="0" rtlCol="0" anchor="t"/>
          <a:lstStyle/>
          <a:p>
            <a:pPr algn="l" indent="0" marL="0">
              <a:lnSpc>
                <a:spcPts val="1897"/>
              </a:lnSpc>
              <a:buNone/>
            </a:pPr>
            <a:r>
              <a:rPr lang="en-US" sz="1568" b="1" spc="-24" kern="0" dirty="0">
                <a:solidFill>
                  <a:srgbClr val="0E130F">
                    <a:alpha val="99000"/>
                  </a:srgbClr>
                </a:solidFill>
                <a:latin typeface="Inter" pitchFamily="34" charset="0"/>
                <a:ea typeface="Inter" pitchFamily="34" charset="-122"/>
                <a:cs typeface="Inter" pitchFamily="34" charset="-120"/>
              </a:rPr>
              <a:t>Pagamentos entre empresas</a:t>
            </a:r>
            <a:endParaRPr lang="en-US" sz="1568" dirty="0"/>
          </a:p>
        </p:txBody>
      </p:sp>
      <p:sp>
        <p:nvSpPr>
          <p:cNvPr id="57" name="TextBox 56"/>
          <p:cNvSpPr txBox="1"/>
          <p:nvPr/>
        </p:nvSpPr>
        <p:spPr>
          <a:xfrm>
            <a:off x="571500" y="30765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HOJE</a:t>
            </a:r>
          </a:p>
        </p:txBody>
      </p:sp>
      <p:sp>
        <p:nvSpPr>
          <p:cNvPr id="38" name="Text 35"/>
          <p:cNvSpPr/>
          <p:nvPr/>
        </p:nvSpPr>
        <p:spPr>
          <a:xfrm>
            <a:off x="1524000" y="30480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Transferências com horário de corte, atraso no fim de semana e taxa em todo pagamento alto.</a:t>
            </a:r>
            <a:endParaRPr lang="en-US" sz="891" dirty="0"/>
          </a:p>
        </p:txBody>
      </p:sp>
      <p:sp>
        <p:nvSpPr>
          <p:cNvPr id="58" name="TextBox 57"/>
          <p:cNvSpPr txBox="1"/>
          <p:nvPr/>
        </p:nvSpPr>
        <p:spPr>
          <a:xfrm>
            <a:off x="571500" y="3571875"/>
            <a:ext cx="857250" cy="172491"/>
          </a:xfrm>
          <a:prstGeom prst="rect">
            <a:avLst/>
          </a:prstGeom>
          <a:noFill/>
        </p:spPr>
        <p:txBody>
          <a:bodyPr wrap="none" lIns="0" tIns="0" rIns="0" bIns="0">
            <a:noAutofit/>
          </a:bodyPr>
          <a:lstStyle/>
          <a:p>
            <a:pPr>
              <a:lnSpc>
                <a:spcPts val="869"/>
              </a:lnSpc>
              <a:defRPr sz="713" b="1">
                <a:solidFill>
                  <a:srgbClr val="789E38"/>
                </a:solidFill>
                <a:latin typeface="JetBrains Mono"/>
              </a:defRPr>
            </a:pPr>
            <a:r>
              <a:t>COM A SIMPAY</a:t>
            </a:r>
          </a:p>
        </p:txBody>
      </p:sp>
      <p:sp>
        <p:nvSpPr>
          <p:cNvPr id="40" name="Text 37"/>
          <p:cNvSpPr/>
          <p:nvPr/>
        </p:nvSpPr>
        <p:spPr>
          <a:xfrm>
            <a:off x="1524000" y="3543300"/>
            <a:ext cx="2762250" cy="485775"/>
          </a:xfrm>
          <a:prstGeom prst="rect">
            <a:avLst/>
          </a:prstGeom>
          <a:noFill/>
          <a:ln/>
        </p:spPr>
        <p:txBody>
          <a:bodyPr wrap="square" lIns="0" tIns="0" rIns="0" bIns="0" rtlCol="0" anchor="t"/>
          <a:lstStyle/>
          <a:p>
            <a:pPr algn="l" indent="0" marL="0">
              <a:lnSpc>
                <a:spcPts val="1229"/>
              </a:lnSpc>
              <a:buNone/>
            </a:pPr>
            <a:r>
              <a:rPr lang="en-US" sz="891" b="1" dirty="0">
                <a:solidFill>
                  <a:srgbClr val="0E130F">
                    <a:alpha val="99000"/>
                  </a:srgbClr>
                </a:solidFill>
                <a:latin typeface="Inter" pitchFamily="34" charset="0"/>
                <a:ea typeface="Inter" pitchFamily="34" charset="-122"/>
                <a:cs typeface="Inter" pitchFamily="34" charset="-120"/>
              </a:rPr>
              <a:t>Paga fornecedores em segundos, 24/7, com comprovante na blockchain pronto para a conciliação.</a:t>
            </a:r>
            <a:endParaRPr lang="en-US" sz="891" dirty="0"/>
          </a:p>
        </p:txBody>
      </p:sp>
      <p:sp>
        <p:nvSpPr>
          <p:cNvPr id="59" name="TextBox 58"/>
          <p:cNvSpPr txBox="1"/>
          <p:nvPr/>
        </p:nvSpPr>
        <p:spPr>
          <a:xfrm>
            <a:off x="571500" y="40671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CICLO</a:t>
            </a:r>
          </a:p>
        </p:txBody>
      </p:sp>
      <p:sp>
        <p:nvSpPr>
          <p:cNvPr id="42" name="Text 39"/>
          <p:cNvSpPr/>
          <p:nvPr/>
        </p:nvSpPr>
        <p:spPr>
          <a:xfrm>
            <a:off x="1524000" y="40386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Quem já recebe em SIMPAY paga os próprios fornecedores sem precisar sacar.</a:t>
            </a:r>
            <a:endParaRPr lang="en-US" sz="891" dirty="0"/>
          </a:p>
        </p:txBody>
      </p:sp>
      <p:sp>
        <p:nvSpPr>
          <p:cNvPr id="43" name="Shape 40"/>
          <p:cNvSpPr/>
          <p:nvPr/>
        </p:nvSpPr>
        <p:spPr>
          <a:xfrm>
            <a:off x="4667250" y="2238375"/>
            <a:ext cx="3714750" cy="28575"/>
          </a:xfrm>
          <a:prstGeom prst="rect">
            <a:avLst/>
          </a:prstGeom>
          <a:solidFill>
            <a:srgbClr val="0E130F"/>
          </a:solidFill>
          <a:ln/>
        </p:spPr>
        <p:txBody>
          <a:bodyPr/>
          <a:p/>
        </p:txBody>
      </p:sp>
      <p:sp>
        <p:nvSpPr>
          <p:cNvPr id="60" name="TextBox 59"/>
          <p:cNvSpPr txBox="1"/>
          <p:nvPr/>
        </p:nvSpPr>
        <p:spPr>
          <a:xfrm>
            <a:off x="4667250" y="2409825"/>
            <a:ext cx="577215"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REMESSAS</a:t>
            </a:r>
          </a:p>
        </p:txBody>
      </p:sp>
      <p:sp>
        <p:nvSpPr>
          <p:cNvPr id="45" name="Text 42"/>
          <p:cNvSpPr/>
          <p:nvPr/>
        </p:nvSpPr>
        <p:spPr>
          <a:xfrm>
            <a:off x="4667250" y="2600325"/>
            <a:ext cx="3714750" cy="252413"/>
          </a:xfrm>
          <a:prstGeom prst="rect">
            <a:avLst/>
          </a:prstGeom>
          <a:noFill/>
          <a:ln/>
        </p:spPr>
        <p:txBody>
          <a:bodyPr wrap="square" lIns="0" tIns="0" rIns="0" bIns="0" rtlCol="0" anchor="t"/>
          <a:lstStyle/>
          <a:p>
            <a:pPr algn="l" indent="0" marL="0">
              <a:lnSpc>
                <a:spcPts val="1897"/>
              </a:lnSpc>
              <a:buNone/>
            </a:pPr>
            <a:r>
              <a:rPr lang="en-US" sz="1568" b="1" spc="-24" kern="0" dirty="0">
                <a:solidFill>
                  <a:srgbClr val="0E130F">
                    <a:alpha val="99000"/>
                  </a:srgbClr>
                </a:solidFill>
                <a:latin typeface="Inter" pitchFamily="34" charset="0"/>
                <a:ea typeface="Inter" pitchFamily="34" charset="-122"/>
                <a:cs typeface="Inter" pitchFamily="34" charset="-120"/>
              </a:rPr>
              <a:t>Remessas internacionais</a:t>
            </a:r>
            <a:endParaRPr lang="en-US" sz="1568" dirty="0"/>
          </a:p>
        </p:txBody>
      </p:sp>
      <p:sp>
        <p:nvSpPr>
          <p:cNvPr id="61" name="TextBox 60"/>
          <p:cNvSpPr txBox="1"/>
          <p:nvPr/>
        </p:nvSpPr>
        <p:spPr>
          <a:xfrm>
            <a:off x="4667250" y="30765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HOJE</a:t>
            </a:r>
          </a:p>
        </p:txBody>
      </p:sp>
      <p:sp>
        <p:nvSpPr>
          <p:cNvPr id="47" name="Text 44"/>
          <p:cNvSpPr/>
          <p:nvPr/>
        </p:nvSpPr>
        <p:spPr>
          <a:xfrm>
            <a:off x="5619750" y="30480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Vários bancos no meio, taxas altas e dias até o dinheiro chegar.</a:t>
            </a:r>
            <a:endParaRPr lang="en-US" sz="891" dirty="0"/>
          </a:p>
        </p:txBody>
      </p:sp>
      <p:sp>
        <p:nvSpPr>
          <p:cNvPr id="62" name="TextBox 61"/>
          <p:cNvSpPr txBox="1"/>
          <p:nvPr/>
        </p:nvSpPr>
        <p:spPr>
          <a:xfrm>
            <a:off x="4667250" y="3571875"/>
            <a:ext cx="857250" cy="172491"/>
          </a:xfrm>
          <a:prstGeom prst="rect">
            <a:avLst/>
          </a:prstGeom>
          <a:noFill/>
        </p:spPr>
        <p:txBody>
          <a:bodyPr wrap="none" lIns="0" tIns="0" rIns="0" bIns="0">
            <a:noAutofit/>
          </a:bodyPr>
          <a:lstStyle/>
          <a:p>
            <a:pPr>
              <a:lnSpc>
                <a:spcPts val="869"/>
              </a:lnSpc>
              <a:defRPr sz="713" b="1">
                <a:solidFill>
                  <a:srgbClr val="789E38"/>
                </a:solidFill>
                <a:latin typeface="JetBrains Mono"/>
              </a:defRPr>
            </a:pPr>
            <a:r>
              <a:t>COM A SIMPAY</a:t>
            </a:r>
          </a:p>
        </p:txBody>
      </p:sp>
      <p:sp>
        <p:nvSpPr>
          <p:cNvPr id="49" name="Text 46"/>
          <p:cNvSpPr/>
          <p:nvPr/>
        </p:nvSpPr>
        <p:spPr>
          <a:xfrm>
            <a:off x="5619750" y="3543300"/>
            <a:ext cx="2762250" cy="323850"/>
          </a:xfrm>
          <a:prstGeom prst="rect">
            <a:avLst/>
          </a:prstGeom>
          <a:noFill/>
          <a:ln/>
        </p:spPr>
        <p:txBody>
          <a:bodyPr wrap="square" lIns="0" tIns="0" rIns="0" bIns="0" rtlCol="0" anchor="t"/>
          <a:lstStyle/>
          <a:p>
            <a:pPr algn="l" indent="0" marL="0">
              <a:lnSpc>
                <a:spcPts val="1229"/>
              </a:lnSpc>
              <a:buNone/>
            </a:pPr>
            <a:r>
              <a:rPr lang="en-US" sz="891" b="1" dirty="0">
                <a:solidFill>
                  <a:srgbClr val="0E130F">
                    <a:alpha val="99000"/>
                  </a:srgbClr>
                </a:solidFill>
                <a:latin typeface="Inter" pitchFamily="34" charset="0"/>
                <a:ea typeface="Inter" pitchFamily="34" charset="-122"/>
                <a:cs typeface="Inter" pitchFamily="34" charset="-120"/>
              </a:rPr>
              <a:t>Enviado pela Solana em segundos; a família saca via Pix ou gasta nos parceiros.</a:t>
            </a:r>
            <a:endParaRPr lang="en-US" sz="891" dirty="0"/>
          </a:p>
        </p:txBody>
      </p:sp>
      <p:sp>
        <p:nvSpPr>
          <p:cNvPr id="63" name="TextBox 62"/>
          <p:cNvSpPr txBox="1"/>
          <p:nvPr/>
        </p:nvSpPr>
        <p:spPr>
          <a:xfrm>
            <a:off x="4667250" y="40671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CONFORMIDADE</a:t>
            </a:r>
          </a:p>
        </p:txBody>
      </p:sp>
      <p:sp>
        <p:nvSpPr>
          <p:cNvPr id="51" name="Text 48"/>
          <p:cNvSpPr/>
          <p:nvPr/>
        </p:nvSpPr>
        <p:spPr>
          <a:xfrm>
            <a:off x="5619750" y="40386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Operado com parceiros de câmbio autorizados, seguindo as regras brasileiras de criptoativos.</a:t>
            </a:r>
            <a:endParaRPr lang="en-US" sz="891" dirty="0"/>
          </a:p>
        </p:txBody>
      </p:sp>
      <p:sp>
        <p:nvSpPr>
          <p:cNvPr id="64" name="TextBox 63"/>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65" name="TextBox 64"/>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12</a:t>
            </a:r>
          </a:p>
        </p:txBody>
      </p:sp>
      <p:sp>
        <p:nvSpPr>
          <p:cNvPr id="54" name="TextBox 53"/>
          <p:cNvSpPr txBox="1"/>
          <p:nvPr/>
        </p:nvSpPr>
        <p:spPr>
          <a:xfrm>
            <a:off x="571500" y="1847088"/>
            <a:ext cx="5029200" cy="201168"/>
          </a:xfrm>
          <a:prstGeom prst="rect">
            <a:avLst/>
          </a:prstGeom>
          <a:noFill/>
        </p:spPr>
        <p:txBody>
          <a:bodyPr wrap="square" lIns="0" tIns="0" rIns="0" bIns="0">
            <a:noAutofit/>
          </a:bodyPr>
          <a:lstStyle/>
          <a:p>
            <a:pPr>
              <a:lnSpc>
                <a:spcPts val="976"/>
              </a:lnSpc>
              <a:defRPr sz="800" b="0">
                <a:solidFill>
                  <a:srgbClr val="545C54"/>
                </a:solidFill>
                <a:latin typeface="JetBrains Mono"/>
              </a:defRPr>
            </a:pPr>
            <a:r>
              <a:rPr/>
              <a:t>VISÃO DE EXPANSÃO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30F"/>
        </a:solidFill>
      </p:bgPr>
    </p:bg>
    <p:spTree>
      <p:nvGrpSpPr>
        <p:cNvPr id="1" name=""/>
        <p:cNvGrpSpPr/>
        <p:nvPr/>
      </p:nvGrpSpPr>
      <p:grpSpPr>
        <a:xfrm>
          <a:off x="0" y="0"/>
          <a:ext cx="0" cy="0"/>
          <a:chOff x="0" y="0"/>
          <a:chExt cx="0" cy="0"/>
        </a:xfrm>
      </p:grpSpPr>
      <p:sp>
        <p:nvSpPr>
          <p:cNvPr id="61" name="TextBox 60"/>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12 — ONDE ESTAMOS</a:t>
            </a:r>
          </a:p>
        </p:txBody>
      </p:sp>
      <p:sp>
        <p:nvSpPr>
          <p:cNvPr id="30" name="Text 27"/>
          <p:cNvSpPr/>
          <p:nvPr/>
        </p:nvSpPr>
        <p:spPr>
          <a:xfrm>
            <a:off x="571500" y="809625"/>
            <a:ext cx="666750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Não é protótipo.</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É uma rede funcionando na devnet.</a:t>
            </a:r>
            <a:endParaRPr lang="en-US" sz="2708" dirty="0"/>
          </a:p>
        </p:txBody>
      </p:sp>
      <p:sp>
        <p:nvSpPr>
          <p:cNvPr id="31" name="Shape 28"/>
          <p:cNvSpPr/>
          <p:nvPr/>
        </p:nvSpPr>
        <p:spPr>
          <a:xfrm>
            <a:off x="571500" y="2181225"/>
            <a:ext cx="114300" cy="114300"/>
          </a:xfrm>
          <a:prstGeom prst="roundRect">
            <a:avLst/>
          </a:prstGeom>
          <a:solidFill>
            <a:srgbClr val="BDF06B"/>
          </a:solidFill>
          <a:ln/>
        </p:spPr>
        <p:txBody>
          <a:bodyPr/>
          <a:p/>
        </p:txBody>
      </p:sp>
      <p:sp>
        <p:nvSpPr>
          <p:cNvPr id="32" name="Text 29"/>
          <p:cNvSpPr/>
          <p:nvPr/>
        </p:nvSpPr>
        <p:spPr>
          <a:xfrm>
            <a:off x="800100" y="2143125"/>
            <a:ext cx="2286000" cy="161925"/>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App de carteira para iOS e Android</a:t>
            </a:r>
            <a:endParaRPr lang="en-US" sz="998" dirty="0"/>
          </a:p>
        </p:txBody>
      </p:sp>
      <p:sp>
        <p:nvSpPr>
          <p:cNvPr id="33" name="Shape 30"/>
          <p:cNvSpPr/>
          <p:nvPr/>
        </p:nvSpPr>
        <p:spPr>
          <a:xfrm>
            <a:off x="3238500" y="2181225"/>
            <a:ext cx="114300" cy="114300"/>
          </a:xfrm>
          <a:prstGeom prst="roundRect">
            <a:avLst/>
          </a:prstGeom>
          <a:solidFill>
            <a:srgbClr val="BDF06B"/>
          </a:solidFill>
          <a:ln/>
        </p:spPr>
        <p:txBody>
          <a:bodyPr/>
          <a:p/>
        </p:txBody>
      </p:sp>
      <p:sp>
        <p:nvSpPr>
          <p:cNvPr id="34" name="Text 31"/>
          <p:cNvSpPr/>
          <p:nvPr/>
        </p:nvSpPr>
        <p:spPr>
          <a:xfrm>
            <a:off x="3467100" y="2143125"/>
            <a:ext cx="2286000" cy="161925"/>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PDV do lojista com QR e tags NFC</a:t>
            </a:r>
            <a:endParaRPr lang="en-US" sz="998" dirty="0"/>
          </a:p>
        </p:txBody>
      </p:sp>
      <p:sp>
        <p:nvSpPr>
          <p:cNvPr id="35" name="Shape 32"/>
          <p:cNvSpPr/>
          <p:nvPr/>
        </p:nvSpPr>
        <p:spPr>
          <a:xfrm>
            <a:off x="571500" y="2676525"/>
            <a:ext cx="114300" cy="114300"/>
          </a:xfrm>
          <a:prstGeom prst="roundRect">
            <a:avLst/>
          </a:prstGeom>
          <a:solidFill>
            <a:srgbClr val="BDF06B"/>
          </a:solidFill>
          <a:ln/>
        </p:spPr>
        <p:txBody>
          <a:bodyPr/>
          <a:p/>
        </p:txBody>
      </p:sp>
      <p:sp>
        <p:nvSpPr>
          <p:cNvPr id="36" name="Text 33"/>
          <p:cNvSpPr/>
          <p:nvPr/>
        </p:nvSpPr>
        <p:spPr>
          <a:xfrm>
            <a:off x="800100" y="2638425"/>
            <a:ext cx="2286000" cy="323850"/>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Compra via Pix, entregue na blockchain</a:t>
            </a:r>
            <a:endParaRPr lang="en-US" sz="998" dirty="0"/>
          </a:p>
        </p:txBody>
      </p:sp>
      <p:sp>
        <p:nvSpPr>
          <p:cNvPr id="37" name="Shape 34"/>
          <p:cNvSpPr/>
          <p:nvPr/>
        </p:nvSpPr>
        <p:spPr>
          <a:xfrm>
            <a:off x="3238500" y="2676525"/>
            <a:ext cx="114300" cy="114300"/>
          </a:xfrm>
          <a:prstGeom prst="roundRect">
            <a:avLst/>
          </a:prstGeom>
          <a:solidFill>
            <a:srgbClr val="BDF06B"/>
          </a:solidFill>
          <a:ln/>
        </p:spPr>
        <p:txBody>
          <a:bodyPr/>
          <a:p/>
        </p:txBody>
      </p:sp>
      <p:sp>
        <p:nvSpPr>
          <p:cNvPr id="38" name="Text 35"/>
          <p:cNvSpPr/>
          <p:nvPr/>
        </p:nvSpPr>
        <p:spPr>
          <a:xfrm>
            <a:off x="3467100" y="2638425"/>
            <a:ext cx="2286000" cy="161925"/>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Blinks da Solana em todo caixa</a:t>
            </a:r>
            <a:endParaRPr lang="en-US" sz="998" dirty="0"/>
          </a:p>
        </p:txBody>
      </p:sp>
      <p:sp>
        <p:nvSpPr>
          <p:cNvPr id="39" name="Shape 36"/>
          <p:cNvSpPr/>
          <p:nvPr/>
        </p:nvSpPr>
        <p:spPr>
          <a:xfrm>
            <a:off x="571500" y="3171825"/>
            <a:ext cx="114300" cy="114300"/>
          </a:xfrm>
          <a:prstGeom prst="roundRect">
            <a:avLst/>
          </a:prstGeom>
          <a:solidFill>
            <a:srgbClr val="BDF06B"/>
          </a:solidFill>
          <a:ln/>
        </p:spPr>
        <p:txBody>
          <a:bodyPr/>
          <a:p/>
        </p:txBody>
      </p:sp>
      <p:sp>
        <p:nvSpPr>
          <p:cNvPr id="40" name="Text 37"/>
          <p:cNvSpPr/>
          <p:nvPr/>
        </p:nvSpPr>
        <p:spPr>
          <a:xfrm>
            <a:off x="800100" y="3133725"/>
            <a:ext cx="2286000" cy="323850"/>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Programas de cashback e indicação</a:t>
            </a:r>
            <a:endParaRPr lang="en-US" sz="998" dirty="0"/>
          </a:p>
        </p:txBody>
      </p:sp>
      <p:sp>
        <p:nvSpPr>
          <p:cNvPr id="41" name="Shape 38"/>
          <p:cNvSpPr/>
          <p:nvPr/>
        </p:nvSpPr>
        <p:spPr>
          <a:xfrm>
            <a:off x="3238500" y="3171825"/>
            <a:ext cx="114300" cy="114300"/>
          </a:xfrm>
          <a:prstGeom prst="roundRect">
            <a:avLst/>
          </a:prstGeom>
          <a:solidFill>
            <a:srgbClr val="BDF06B"/>
          </a:solidFill>
          <a:ln/>
        </p:spPr>
        <p:txBody>
          <a:bodyPr/>
          <a:p/>
        </p:txBody>
      </p:sp>
      <p:sp>
        <p:nvSpPr>
          <p:cNvPr id="42" name="Text 39"/>
          <p:cNvSpPr/>
          <p:nvPr/>
        </p:nvSpPr>
        <p:spPr>
          <a:xfrm>
            <a:off x="3467100" y="3133725"/>
            <a:ext cx="2286000" cy="323850"/>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Painel administrativo com auditoria completa</a:t>
            </a:r>
            <a:endParaRPr lang="en-US" sz="998" dirty="0"/>
          </a:p>
        </p:txBody>
      </p:sp>
      <p:sp>
        <p:nvSpPr>
          <p:cNvPr id="43" name="Shape 40"/>
          <p:cNvSpPr/>
          <p:nvPr/>
        </p:nvSpPr>
        <p:spPr>
          <a:xfrm>
            <a:off x="571500" y="3667125"/>
            <a:ext cx="114300" cy="114300"/>
          </a:xfrm>
          <a:prstGeom prst="roundRect">
            <a:avLst/>
          </a:prstGeom>
          <a:solidFill>
            <a:srgbClr val="BDF06B"/>
          </a:solidFill>
          <a:ln/>
        </p:spPr>
        <p:txBody>
          <a:bodyPr/>
          <a:p/>
        </p:txBody>
      </p:sp>
      <p:sp>
        <p:nvSpPr>
          <p:cNvPr id="44" name="Text 41"/>
          <p:cNvSpPr/>
          <p:nvPr/>
        </p:nvSpPr>
        <p:spPr>
          <a:xfrm>
            <a:off x="800100" y="3629025"/>
            <a:ext cx="2286000" cy="323850"/>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Notificação quando o dinheiro chega</a:t>
            </a:r>
            <a:endParaRPr lang="en-US" sz="998" dirty="0"/>
          </a:p>
        </p:txBody>
      </p:sp>
      <p:sp>
        <p:nvSpPr>
          <p:cNvPr id="45" name="Shape 42"/>
          <p:cNvSpPr/>
          <p:nvPr/>
        </p:nvSpPr>
        <p:spPr>
          <a:xfrm>
            <a:off x="3238500" y="3667125"/>
            <a:ext cx="114300" cy="114300"/>
          </a:xfrm>
          <a:prstGeom prst="roundRect">
            <a:avLst/>
          </a:prstGeom>
          <a:solidFill>
            <a:srgbClr val="BDF06B"/>
          </a:solidFill>
          <a:ln/>
        </p:spPr>
        <p:txBody>
          <a:bodyPr/>
          <a:p/>
        </p:txBody>
      </p:sp>
      <p:sp>
        <p:nvSpPr>
          <p:cNvPr id="46" name="Text 43"/>
          <p:cNvSpPr/>
          <p:nvPr/>
        </p:nvSpPr>
        <p:spPr>
          <a:xfrm>
            <a:off x="3467100" y="3629025"/>
            <a:ext cx="2286000" cy="323850"/>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Metadados do token e whitepaper v2.0</a:t>
            </a:r>
            <a:endParaRPr lang="en-US" sz="998" dirty="0"/>
          </a:p>
        </p:txBody>
      </p:sp>
      <p:sp>
        <p:nvSpPr>
          <p:cNvPr id="62" name="TextBox 6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63" name="TextBox 6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13</a:t>
            </a:r>
          </a:p>
        </p:txBody>
      </p:sp>
      <p:sp>
        <p:nvSpPr>
          <p:cNvPr id="58" name="TextBox 57"/>
          <p:cNvSpPr txBox="1"/>
          <p:nvPr/>
        </p:nvSpPr>
        <p:spPr>
          <a:xfrm>
            <a:off x="6382512" y="1847088"/>
            <a:ext cx="2331720" cy="173736"/>
          </a:xfrm>
          <a:prstGeom prst="rect">
            <a:avLst/>
          </a:prstGeom>
          <a:noFill/>
        </p:spPr>
        <p:txBody>
          <a:bodyPr wrap="square" lIns="0" tIns="0" rIns="0" bIns="0">
            <a:noAutofit/>
          </a:bodyPr>
          <a:lstStyle/>
          <a:p>
            <a:pPr>
              <a:lnSpc>
                <a:spcPts val="976"/>
              </a:lnSpc>
              <a:defRPr sz="800" b="0">
                <a:solidFill>
                  <a:srgbClr val="BDF06B"/>
                </a:solidFill>
                <a:latin typeface="JetBrains Mono"/>
              </a:defRPr>
            </a:pPr>
            <a:r>
              <a:rPr/>
              <a:t>PIX → SUA CARTEIRA</a:t>
            </a:r>
          </a:p>
        </p:txBody>
      </p:sp>
      <p:pic>
        <p:nvPicPr>
          <p:cNvPr id="59" name="Picture 58" descr="pix-entry-pt.png"/>
          <p:cNvPicPr>
            <a:picLocks noChangeAspect="1"/>
          </p:cNvPicPr>
          <p:nvPr/>
        </p:nvPicPr>
        <p:blipFill>
          <a:blip r:embed="rId3"/>
          <a:stretch>
            <a:fillRect/>
          </a:stretch>
        </p:blipFill>
        <p:spPr>
          <a:xfrm>
            <a:off x="6382512" y="2103120"/>
            <a:ext cx="2176272" cy="2422642"/>
          </a:xfrm>
          <a:prstGeom prst="rect">
            <a:avLst/>
          </a:prstGeom>
        </p:spPr>
      </p:pic>
      <p:sp>
        <p:nvSpPr>
          <p:cNvPr id="60" name="TextBox 59"/>
          <p:cNvSpPr txBox="1"/>
          <p:nvPr/>
        </p:nvSpPr>
        <p:spPr>
          <a:xfrm>
            <a:off x="6382512" y="4562856"/>
            <a:ext cx="2240280" cy="146304"/>
          </a:xfrm>
          <a:prstGeom prst="rect">
            <a:avLst/>
          </a:prstGeom>
          <a:noFill/>
        </p:spPr>
        <p:txBody>
          <a:bodyPr wrap="square" lIns="0" tIns="0" rIns="0" bIns="0">
            <a:noAutofit/>
          </a:bodyPr>
          <a:lstStyle/>
          <a:p>
            <a:pPr>
              <a:lnSpc>
                <a:spcPts val="829"/>
              </a:lnSpc>
              <a:defRPr sz="680" b="0">
                <a:solidFill>
                  <a:srgbClr val="B2BDB2"/>
                </a:solidFill>
                <a:latin typeface="JetBrains Mono"/>
              </a:defRPr>
            </a:pPr>
            <a:r>
              <a:rPr/>
              <a:t>CHECKOUT WEB · FLUXO INICIAL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7F2"/>
        </a:solidFill>
      </p:bgPr>
    </p:bg>
    <p:spTree>
      <p:nvGrpSpPr>
        <p:cNvPr id="1" name=""/>
        <p:cNvGrpSpPr/>
        <p:nvPr/>
      </p:nvGrpSpPr>
      <p:grpSpPr>
        <a:xfrm>
          <a:off x="0" y="0"/>
          <a:ext cx="0" cy="0"/>
          <a:chOff x="0" y="0"/>
          <a:chExt cx="0" cy="0"/>
        </a:xfrm>
      </p:grpSpPr>
      <p:sp>
        <p:nvSpPr>
          <p:cNvPr id="53" name="TextBox 52"/>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13 — TOKEN</a:t>
            </a:r>
          </a:p>
        </p:txBody>
      </p:sp>
      <p:sp>
        <p:nvSpPr>
          <p:cNvPr id="54" name="TextBox 53"/>
          <p:cNvSpPr txBox="1"/>
          <p:nvPr/>
        </p:nvSpPr>
        <p:spPr>
          <a:xfrm>
            <a:off x="571500" y="809625"/>
            <a:ext cx="3343275" cy="210362"/>
          </a:xfrm>
          <a:prstGeom prst="rect">
            <a:avLst/>
          </a:prstGeom>
          <a:noFill/>
        </p:spPr>
        <p:txBody>
          <a:bodyPr wrap="none" lIns="0" tIns="0" rIns="0" bIns="0">
            <a:noAutofit/>
          </a:bodyPr>
          <a:lstStyle/>
          <a:p>
            <a:pPr>
              <a:lnSpc>
                <a:spcPts val="1129"/>
              </a:lnSpc>
              <a:defRPr sz="926" b="1">
                <a:solidFill>
                  <a:srgbClr val="545C54"/>
                </a:solidFill>
                <a:latin typeface="JetBrains Mono"/>
              </a:defRPr>
            </a:pPr>
            <a:r>
              <a:t>OFERTA FIXA  ·  TOKEN SPL  ·  SÍMBOLO SPY</a:t>
            </a:r>
          </a:p>
        </p:txBody>
      </p:sp>
      <p:sp>
        <p:nvSpPr>
          <p:cNvPr id="29" name="Text 26"/>
          <p:cNvSpPr/>
          <p:nvPr/>
        </p:nvSpPr>
        <p:spPr>
          <a:xfrm>
            <a:off x="523875" y="1000125"/>
            <a:ext cx="8572500" cy="1014413"/>
          </a:xfrm>
          <a:prstGeom prst="rect">
            <a:avLst/>
          </a:prstGeom>
          <a:noFill/>
          <a:ln/>
        </p:spPr>
        <p:txBody>
          <a:bodyPr wrap="square" lIns="0" tIns="0" rIns="0" bIns="0" rtlCol="0" anchor="t"/>
          <a:lstStyle/>
          <a:p>
            <a:pPr algn="l" indent="0" marL="0">
              <a:lnSpc>
                <a:spcPts val="7588"/>
              </a:lnSpc>
              <a:buNone/>
            </a:pPr>
            <a:r>
              <a:rPr lang="en-US" sz="6270" b="1" spc="-313" kern="0" dirty="0">
                <a:solidFill>
                  <a:srgbClr val="0E130F">
                    <a:alpha val="99000"/>
                  </a:srgbClr>
                </a:solidFill>
                <a:latin typeface="Inter" pitchFamily="34" charset="0"/>
                <a:ea typeface="Inter" pitchFamily="34" charset="-122"/>
                <a:cs typeface="Inter" pitchFamily="34" charset="-120"/>
              </a:rPr>
              <a:t>5.000.000.000</a:t>
            </a:r>
            <a:endParaRPr lang="en-US" sz="6270" dirty="0"/>
          </a:p>
        </p:txBody>
      </p:sp>
      <p:sp>
        <p:nvSpPr>
          <p:cNvPr id="30" name="Text 27"/>
          <p:cNvSpPr/>
          <p:nvPr/>
        </p:nvSpPr>
        <p:spPr>
          <a:xfrm>
            <a:off x="571500" y="2143125"/>
            <a:ext cx="6191250" cy="409575"/>
          </a:xfrm>
          <a:prstGeom prst="rect">
            <a:avLst/>
          </a:prstGeom>
          <a:noFill/>
          <a:ln/>
        </p:spPr>
        <p:txBody>
          <a:bodyPr wrap="square" lIns="0" tIns="0" rIns="0" bIns="0" rtlCol="0" anchor="t"/>
          <a:lstStyle/>
          <a:p>
            <a:pPr algn="l" indent="0" marL="0">
              <a:lnSpc>
                <a:spcPts val="1539"/>
              </a:lnSpc>
              <a:buNone/>
            </a:pPr>
            <a:r>
              <a:rPr lang="en-US" sz="1140" dirty="0">
                <a:solidFill>
                  <a:srgbClr val="545C54">
                    <a:alpha val="99000"/>
                  </a:srgbClr>
                </a:solidFill>
                <a:latin typeface="Inter" pitchFamily="34" charset="0"/>
                <a:ea typeface="Inter" pitchFamily="34" charset="-122"/>
                <a:cs typeface="Inter" pitchFamily="34" charset="-120"/>
              </a:rPr>
              <a:t>Emitido uma única vez. A autoridade de emissão será revogada no lançamento na mainnet: nenhum token novo poderá ser criado.</a:t>
            </a:r>
            <a:endParaRPr lang="en-US" sz="1140" dirty="0"/>
          </a:p>
        </p:txBody>
      </p:sp>
      <p:sp>
        <p:nvSpPr>
          <p:cNvPr id="31" name="Shape 28"/>
          <p:cNvSpPr/>
          <p:nvPr/>
        </p:nvSpPr>
        <p:spPr>
          <a:xfrm>
            <a:off x="571500" y="2809875"/>
            <a:ext cx="3962400" cy="342900"/>
          </a:xfrm>
          <a:prstGeom prst="rect">
            <a:avLst/>
          </a:prstGeom>
          <a:solidFill>
            <a:srgbClr val="0E130F"/>
          </a:solidFill>
          <a:ln/>
        </p:spPr>
        <p:txBody>
          <a:bodyPr/>
          <a:p/>
        </p:txBody>
      </p:sp>
      <p:sp>
        <p:nvSpPr>
          <p:cNvPr id="32" name="Text 29"/>
          <p:cNvSpPr/>
          <p:nvPr/>
        </p:nvSpPr>
        <p:spPr>
          <a:xfrm>
            <a:off x="571500" y="3286125"/>
            <a:ext cx="3962400" cy="323850"/>
          </a:xfrm>
          <a:prstGeom prst="rect">
            <a:avLst/>
          </a:prstGeom>
          <a:noFill/>
          <a:ln/>
        </p:spPr>
        <p:txBody>
          <a:bodyPr wrap="square" lIns="0" tIns="0" rIns="0" bIns="0" rtlCol="0" anchor="t"/>
          <a:lstStyle/>
          <a:p>
            <a:pPr algn="l" indent="0" marL="0">
              <a:lnSpc>
                <a:spcPts val="2414"/>
              </a:lnSpc>
              <a:buNone/>
            </a:pPr>
            <a:r>
              <a:rPr lang="en-US" sz="1995" b="1" spc="-40" kern="0" dirty="0">
                <a:solidFill>
                  <a:srgbClr val="0E130F">
                    <a:alpha val="99000"/>
                  </a:srgbClr>
                </a:solidFill>
                <a:latin typeface="Inter" pitchFamily="34" charset="0"/>
                <a:ea typeface="Inter" pitchFamily="34" charset="-122"/>
                <a:cs typeface="Inter" pitchFamily="34" charset="-120"/>
              </a:rPr>
              <a:t>50%</a:t>
            </a:r>
            <a:endParaRPr lang="en-US" sz="1995" dirty="0"/>
          </a:p>
        </p:txBody>
      </p:sp>
      <p:sp>
        <p:nvSpPr>
          <p:cNvPr id="33" name="Text 30"/>
          <p:cNvSpPr/>
          <p:nvPr/>
        </p:nvSpPr>
        <p:spPr>
          <a:xfrm>
            <a:off x="571500" y="3629025"/>
            <a:ext cx="3867150" cy="133350"/>
          </a:xfrm>
          <a:prstGeom prst="rect">
            <a:avLst/>
          </a:prstGeom>
          <a:noFill/>
          <a:ln/>
        </p:spPr>
        <p:txBody>
          <a:bodyPr wrap="square" lIns="0" tIns="0" rIns="0" bIns="0" rtlCol="0" anchor="t"/>
          <a:lstStyle/>
          <a:p>
            <a:pPr algn="l" indent="0" marL="0">
              <a:lnSpc>
                <a:spcPts val="983"/>
              </a:lnSpc>
              <a:buNone/>
            </a:pPr>
            <a:r>
              <a:rPr lang="en-US" sz="855" b="1" dirty="0">
                <a:solidFill>
                  <a:srgbClr val="0E130F">
                    <a:alpha val="99000"/>
                  </a:srgbClr>
                </a:solidFill>
                <a:latin typeface="Inter" pitchFamily="34" charset="0"/>
                <a:ea typeface="Inter" pitchFamily="34" charset="-122"/>
                <a:cs typeface="Inter" pitchFamily="34" charset="-120"/>
              </a:rPr>
              <a:t>Liquidez de mercado</a:t>
            </a:r>
            <a:endParaRPr lang="en-US" sz="855" dirty="0"/>
          </a:p>
        </p:txBody>
      </p:sp>
      <p:sp>
        <p:nvSpPr>
          <p:cNvPr id="34" name="Text 31"/>
          <p:cNvSpPr/>
          <p:nvPr/>
        </p:nvSpPr>
        <p:spPr>
          <a:xfrm>
            <a:off x="571500" y="3810000"/>
            <a:ext cx="3771900" cy="147638"/>
          </a:xfrm>
          <a:prstGeom prst="rect">
            <a:avLst/>
          </a:prstGeom>
          <a:noFill/>
          <a:ln/>
        </p:spPr>
        <p:txBody>
          <a:bodyPr wrap="square" lIns="0" tIns="0" rIns="0" bIns="0" rtlCol="0" anchor="t"/>
          <a:lstStyle/>
          <a:p>
            <a:pPr algn="l" indent="0" marL="0">
              <a:lnSpc>
                <a:spcPts val="1097"/>
              </a:lnSpc>
              <a:buNone/>
            </a:pPr>
            <a:r>
              <a:rPr lang="en-US" sz="784" dirty="0">
                <a:solidFill>
                  <a:srgbClr val="545C54">
                    <a:alpha val="99000"/>
                  </a:srgbClr>
                </a:solidFill>
                <a:latin typeface="Inter" pitchFamily="34" charset="0"/>
                <a:ea typeface="Inter" pitchFamily="34" charset="-122"/>
                <a:cs typeface="Inter" pitchFamily="34" charset="-120"/>
              </a:rPr>
              <a:t>Sustenta a compra via Pix, o saque dos lojistas e futuras listagens</a:t>
            </a:r>
            <a:endParaRPr lang="en-US" sz="784" dirty="0"/>
          </a:p>
        </p:txBody>
      </p:sp>
      <p:sp>
        <p:nvSpPr>
          <p:cNvPr id="35" name="Shape 32"/>
          <p:cNvSpPr/>
          <p:nvPr/>
        </p:nvSpPr>
        <p:spPr>
          <a:xfrm>
            <a:off x="4572000" y="2809875"/>
            <a:ext cx="1562100" cy="342900"/>
          </a:xfrm>
          <a:prstGeom prst="rect">
            <a:avLst/>
          </a:prstGeom>
          <a:solidFill>
            <a:srgbClr val="789E38"/>
          </a:solidFill>
          <a:ln/>
        </p:spPr>
        <p:txBody>
          <a:bodyPr/>
          <a:p/>
        </p:txBody>
      </p:sp>
      <p:sp>
        <p:nvSpPr>
          <p:cNvPr id="36" name="Text 33"/>
          <p:cNvSpPr/>
          <p:nvPr/>
        </p:nvSpPr>
        <p:spPr>
          <a:xfrm>
            <a:off x="4572000" y="3286125"/>
            <a:ext cx="1562100" cy="323850"/>
          </a:xfrm>
          <a:prstGeom prst="rect">
            <a:avLst/>
          </a:prstGeom>
          <a:noFill/>
          <a:ln/>
        </p:spPr>
        <p:txBody>
          <a:bodyPr wrap="square" lIns="0" tIns="0" rIns="0" bIns="0" rtlCol="0" anchor="t"/>
          <a:lstStyle/>
          <a:p>
            <a:pPr algn="l" indent="0" marL="0">
              <a:lnSpc>
                <a:spcPts val="2414"/>
              </a:lnSpc>
              <a:buNone/>
            </a:pPr>
            <a:r>
              <a:rPr lang="en-US" sz="1995" b="1" spc="-40" kern="0" dirty="0">
                <a:solidFill>
                  <a:srgbClr val="0E130F">
                    <a:alpha val="99000"/>
                  </a:srgbClr>
                </a:solidFill>
                <a:latin typeface="Inter" pitchFamily="34" charset="0"/>
                <a:ea typeface="Inter" pitchFamily="34" charset="-122"/>
                <a:cs typeface="Inter" pitchFamily="34" charset="-120"/>
              </a:rPr>
              <a:t>20%</a:t>
            </a:r>
            <a:endParaRPr lang="en-US" sz="1995" dirty="0"/>
          </a:p>
        </p:txBody>
      </p:sp>
      <p:sp>
        <p:nvSpPr>
          <p:cNvPr id="37" name="Text 34"/>
          <p:cNvSpPr/>
          <p:nvPr/>
        </p:nvSpPr>
        <p:spPr>
          <a:xfrm>
            <a:off x="4572000" y="3629025"/>
            <a:ext cx="1466850" cy="133350"/>
          </a:xfrm>
          <a:prstGeom prst="rect">
            <a:avLst/>
          </a:prstGeom>
          <a:noFill/>
          <a:ln/>
        </p:spPr>
        <p:txBody>
          <a:bodyPr wrap="square" lIns="0" tIns="0" rIns="0" bIns="0" rtlCol="0" anchor="t"/>
          <a:lstStyle/>
          <a:p>
            <a:pPr algn="l" indent="0" marL="0">
              <a:lnSpc>
                <a:spcPts val="983"/>
              </a:lnSpc>
              <a:buNone/>
            </a:pPr>
            <a:r>
              <a:rPr lang="en-US" sz="855" b="1" dirty="0">
                <a:solidFill>
                  <a:srgbClr val="0E130F">
                    <a:alpha val="99000"/>
                  </a:srgbClr>
                </a:solidFill>
                <a:latin typeface="Inter" pitchFamily="34" charset="0"/>
                <a:ea typeface="Inter" pitchFamily="34" charset="-122"/>
                <a:cs typeface="Inter" pitchFamily="34" charset="-120"/>
              </a:rPr>
              <a:t>Airdrop e recompensas</a:t>
            </a:r>
            <a:endParaRPr lang="en-US" sz="855" dirty="0"/>
          </a:p>
        </p:txBody>
      </p:sp>
      <p:sp>
        <p:nvSpPr>
          <p:cNvPr id="38" name="Text 35"/>
          <p:cNvSpPr/>
          <p:nvPr/>
        </p:nvSpPr>
        <p:spPr>
          <a:xfrm>
            <a:off x="4572000" y="3810000"/>
            <a:ext cx="1371600" cy="295275"/>
          </a:xfrm>
          <a:prstGeom prst="rect">
            <a:avLst/>
          </a:prstGeom>
          <a:noFill/>
          <a:ln/>
        </p:spPr>
        <p:txBody>
          <a:bodyPr wrap="square" lIns="0" tIns="0" rIns="0" bIns="0" rtlCol="0" anchor="t"/>
          <a:lstStyle/>
          <a:p>
            <a:pPr algn="l" indent="0" marL="0">
              <a:lnSpc>
                <a:spcPts val="1097"/>
              </a:lnSpc>
              <a:buNone/>
            </a:pPr>
            <a:r>
              <a:rPr lang="en-US" sz="784" dirty="0">
                <a:solidFill>
                  <a:srgbClr val="545C54">
                    <a:alpha val="99000"/>
                  </a:srgbClr>
                </a:solidFill>
                <a:latin typeface="Inter" pitchFamily="34" charset="0"/>
                <a:ea typeface="Inter" pitchFamily="34" charset="-122"/>
                <a:cs typeface="Inter" pitchFamily="34" charset="-120"/>
              </a:rPr>
              <a:t>Cashback, indicações e campanhas da comunidade</a:t>
            </a:r>
            <a:endParaRPr lang="en-US" sz="784" dirty="0"/>
          </a:p>
        </p:txBody>
      </p:sp>
      <p:sp>
        <p:nvSpPr>
          <p:cNvPr id="39" name="Shape 36"/>
          <p:cNvSpPr/>
          <p:nvPr/>
        </p:nvSpPr>
        <p:spPr>
          <a:xfrm>
            <a:off x="6172200" y="2809875"/>
            <a:ext cx="962025" cy="342900"/>
          </a:xfrm>
          <a:prstGeom prst="rect">
            <a:avLst/>
          </a:prstGeom>
          <a:solidFill>
            <a:srgbClr val="BDF06B"/>
          </a:solidFill>
          <a:ln/>
        </p:spPr>
        <p:txBody>
          <a:bodyPr/>
          <a:p/>
        </p:txBody>
      </p:sp>
      <p:sp>
        <p:nvSpPr>
          <p:cNvPr id="40" name="Shape 37"/>
          <p:cNvSpPr/>
          <p:nvPr/>
        </p:nvSpPr>
        <p:spPr>
          <a:xfrm>
            <a:off x="7172325" y="2809875"/>
            <a:ext cx="762000" cy="342900"/>
          </a:xfrm>
          <a:prstGeom prst="rect">
            <a:avLst/>
          </a:prstGeom>
          <a:solidFill>
            <a:srgbClr val="99A894"/>
          </a:solidFill>
          <a:ln/>
        </p:spPr>
        <p:txBody>
          <a:bodyPr/>
          <a:p/>
        </p:txBody>
      </p:sp>
      <p:sp>
        <p:nvSpPr>
          <p:cNvPr id="41" name="Shape 38"/>
          <p:cNvSpPr/>
          <p:nvPr/>
        </p:nvSpPr>
        <p:spPr>
          <a:xfrm>
            <a:off x="7972425" y="2809875"/>
            <a:ext cx="600075" cy="342900"/>
          </a:xfrm>
          <a:prstGeom prst="rect">
            <a:avLst/>
          </a:prstGeom>
          <a:solidFill>
            <a:srgbClr val="D9DBD1"/>
          </a:solidFill>
          <a:ln/>
        </p:spPr>
        <p:txBody>
          <a:bodyPr/>
          <a:p/>
        </p:txBody>
      </p:sp>
      <p:sp>
        <p:nvSpPr>
          <p:cNvPr id="55" name="TextBox 54"/>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56" name="TextBox 55"/>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14</a:t>
            </a:r>
          </a:p>
        </p:txBody>
      </p:sp>
      <p:sp>
        <p:nvSpPr>
          <p:cNvPr id="44" name="Shape 41"/>
          <p:cNvSpPr/>
          <p:nvPr/>
        </p:nvSpPr>
        <p:spPr>
          <a:xfrm>
            <a:off x="6172200" y="3362325"/>
            <a:ext cx="133350" cy="133350"/>
          </a:xfrm>
          <a:prstGeom prst="roundRect">
            <a:avLst/>
          </a:prstGeom>
          <a:solidFill>
            <a:srgbClr val="BDF06B"/>
          </a:solidFill>
          <a:ln/>
        </p:spPr>
        <p:txBody>
          <a:bodyPr/>
          <a:p/>
        </p:txBody>
      </p:sp>
      <p:sp>
        <p:nvSpPr>
          <p:cNvPr id="45" name="Text 42"/>
          <p:cNvSpPr/>
          <p:nvPr/>
        </p:nvSpPr>
        <p:spPr>
          <a:xfrm>
            <a:off x="6400800" y="3314700"/>
            <a:ext cx="714375" cy="228600"/>
          </a:xfrm>
          <a:prstGeom prst="rect">
            <a:avLst/>
          </a:prstGeom>
          <a:noFill/>
          <a:ln/>
        </p:spPr>
        <p:txBody>
          <a:bodyPr wrap="square" lIns="0" tIns="0" rIns="0" bIns="0" rtlCol="0" anchor="t"/>
          <a:lstStyle/>
          <a:p>
            <a:pPr algn="l" indent="0" marL="0">
              <a:lnSpc>
                <a:spcPts val="1725"/>
              </a:lnSpc>
              <a:buNone/>
            </a:pPr>
            <a:r>
              <a:rPr lang="en-US" sz="1425" b="1" spc="-21" kern="0" dirty="0">
                <a:solidFill>
                  <a:srgbClr val="0E130F">
                    <a:alpha val="99000"/>
                  </a:srgbClr>
                </a:solidFill>
                <a:latin typeface="Inter" pitchFamily="34" charset="0"/>
                <a:ea typeface="Inter" pitchFamily="34" charset="-122"/>
                <a:cs typeface="Inter" pitchFamily="34" charset="-120"/>
              </a:rPr>
              <a:t>12,5%</a:t>
            </a:r>
            <a:endParaRPr lang="en-US" sz="1425" dirty="0"/>
          </a:p>
        </p:txBody>
      </p:sp>
      <p:sp>
        <p:nvSpPr>
          <p:cNvPr id="46" name="Text 43"/>
          <p:cNvSpPr/>
          <p:nvPr/>
        </p:nvSpPr>
        <p:spPr>
          <a:xfrm>
            <a:off x="7172325" y="3352800"/>
            <a:ext cx="1619250" cy="147638"/>
          </a:xfrm>
          <a:prstGeom prst="rect">
            <a:avLst/>
          </a:prstGeom>
          <a:noFill/>
          <a:ln/>
        </p:spPr>
        <p:txBody>
          <a:bodyPr wrap="square" lIns="0" tIns="0" rIns="0" bIns="0" rtlCol="0" anchor="t"/>
          <a:lstStyle/>
          <a:p>
            <a:pPr algn="l" indent="0" marL="0">
              <a:lnSpc>
                <a:spcPts val="1121"/>
              </a:lnSpc>
              <a:buNone/>
            </a:pPr>
            <a:r>
              <a:rPr lang="en-US" sz="926" b="1" dirty="0">
                <a:solidFill>
                  <a:srgbClr val="0E130F">
                    <a:alpha val="99000"/>
                  </a:srgbClr>
                </a:solidFill>
                <a:latin typeface="Inter" pitchFamily="34" charset="0"/>
                <a:ea typeface="Inter" pitchFamily="34" charset="-122"/>
                <a:cs typeface="Inter" pitchFamily="34" charset="-120"/>
              </a:rPr>
              <a:t>Marketing e expansão</a:t>
            </a:r>
            <a:endParaRPr lang="en-US" sz="926" dirty="0"/>
          </a:p>
        </p:txBody>
      </p:sp>
      <p:sp>
        <p:nvSpPr>
          <p:cNvPr id="47" name="Shape 44"/>
          <p:cNvSpPr/>
          <p:nvPr/>
        </p:nvSpPr>
        <p:spPr>
          <a:xfrm>
            <a:off x="6172200" y="3705225"/>
            <a:ext cx="133350" cy="133350"/>
          </a:xfrm>
          <a:prstGeom prst="roundRect">
            <a:avLst/>
          </a:prstGeom>
          <a:solidFill>
            <a:srgbClr val="99A894"/>
          </a:solidFill>
          <a:ln/>
        </p:spPr>
        <p:txBody>
          <a:bodyPr/>
          <a:p/>
        </p:txBody>
      </p:sp>
      <p:sp>
        <p:nvSpPr>
          <p:cNvPr id="48" name="Text 45"/>
          <p:cNvSpPr/>
          <p:nvPr/>
        </p:nvSpPr>
        <p:spPr>
          <a:xfrm>
            <a:off x="6400800" y="3657600"/>
            <a:ext cx="714375" cy="228600"/>
          </a:xfrm>
          <a:prstGeom prst="rect">
            <a:avLst/>
          </a:prstGeom>
          <a:noFill/>
          <a:ln/>
        </p:spPr>
        <p:txBody>
          <a:bodyPr wrap="square" lIns="0" tIns="0" rIns="0" bIns="0" rtlCol="0" anchor="t"/>
          <a:lstStyle/>
          <a:p>
            <a:pPr algn="l" indent="0" marL="0">
              <a:lnSpc>
                <a:spcPts val="1725"/>
              </a:lnSpc>
              <a:buNone/>
            </a:pPr>
            <a:r>
              <a:rPr lang="en-US" sz="1425" b="1" spc="-21" kern="0" dirty="0">
                <a:solidFill>
                  <a:srgbClr val="0E130F">
                    <a:alpha val="99000"/>
                  </a:srgbClr>
                </a:solidFill>
                <a:latin typeface="Inter" pitchFamily="34" charset="0"/>
                <a:ea typeface="Inter" pitchFamily="34" charset="-122"/>
                <a:cs typeface="Inter" pitchFamily="34" charset="-120"/>
              </a:rPr>
              <a:t>10%</a:t>
            </a:r>
            <a:endParaRPr lang="en-US" sz="1425" dirty="0"/>
          </a:p>
        </p:txBody>
      </p:sp>
      <p:sp>
        <p:nvSpPr>
          <p:cNvPr id="49" name="Text 46"/>
          <p:cNvSpPr/>
          <p:nvPr/>
        </p:nvSpPr>
        <p:spPr>
          <a:xfrm>
            <a:off x="7172325" y="3695700"/>
            <a:ext cx="1619250" cy="147638"/>
          </a:xfrm>
          <a:prstGeom prst="rect">
            <a:avLst/>
          </a:prstGeom>
          <a:noFill/>
          <a:ln/>
        </p:spPr>
        <p:txBody>
          <a:bodyPr wrap="square" lIns="0" tIns="0" rIns="0" bIns="0" rtlCol="0" anchor="t"/>
          <a:lstStyle/>
          <a:p>
            <a:pPr algn="l" indent="0" marL="0">
              <a:lnSpc>
                <a:spcPts val="1121"/>
              </a:lnSpc>
              <a:buNone/>
            </a:pPr>
            <a:r>
              <a:rPr lang="en-US" sz="926" b="1" dirty="0">
                <a:solidFill>
                  <a:srgbClr val="0E130F">
                    <a:alpha val="99000"/>
                  </a:srgbClr>
                </a:solidFill>
                <a:latin typeface="Inter" pitchFamily="34" charset="0"/>
                <a:ea typeface="Inter" pitchFamily="34" charset="-122"/>
                <a:cs typeface="Inter" pitchFamily="34" charset="-120"/>
              </a:rPr>
              <a:t>Venda privada</a:t>
            </a:r>
            <a:endParaRPr lang="en-US" sz="926" dirty="0"/>
          </a:p>
        </p:txBody>
      </p:sp>
      <p:sp>
        <p:nvSpPr>
          <p:cNvPr id="50" name="Shape 47"/>
          <p:cNvSpPr/>
          <p:nvPr/>
        </p:nvSpPr>
        <p:spPr>
          <a:xfrm>
            <a:off x="6172200" y="4048125"/>
            <a:ext cx="133350" cy="133350"/>
          </a:xfrm>
          <a:prstGeom prst="roundRect">
            <a:avLst/>
          </a:prstGeom>
          <a:solidFill>
            <a:srgbClr val="D9DBD1"/>
          </a:solidFill>
          <a:ln/>
        </p:spPr>
        <p:txBody>
          <a:bodyPr/>
          <a:p/>
        </p:txBody>
      </p:sp>
      <p:sp>
        <p:nvSpPr>
          <p:cNvPr id="51" name="Text 48"/>
          <p:cNvSpPr/>
          <p:nvPr/>
        </p:nvSpPr>
        <p:spPr>
          <a:xfrm>
            <a:off x="6400800" y="4000500"/>
            <a:ext cx="714375" cy="228600"/>
          </a:xfrm>
          <a:prstGeom prst="rect">
            <a:avLst/>
          </a:prstGeom>
          <a:noFill/>
          <a:ln/>
        </p:spPr>
        <p:txBody>
          <a:bodyPr wrap="square" lIns="0" tIns="0" rIns="0" bIns="0" rtlCol="0" anchor="t"/>
          <a:lstStyle/>
          <a:p>
            <a:pPr algn="l" indent="0" marL="0">
              <a:lnSpc>
                <a:spcPts val="1725"/>
              </a:lnSpc>
              <a:buNone/>
            </a:pPr>
            <a:r>
              <a:rPr lang="en-US" sz="1425" b="1" spc="-21" kern="0" dirty="0">
                <a:solidFill>
                  <a:srgbClr val="0E130F">
                    <a:alpha val="99000"/>
                  </a:srgbClr>
                </a:solidFill>
                <a:latin typeface="Inter" pitchFamily="34" charset="0"/>
                <a:ea typeface="Inter" pitchFamily="34" charset="-122"/>
                <a:cs typeface="Inter" pitchFamily="34" charset="-120"/>
              </a:rPr>
              <a:t>7,5%</a:t>
            </a:r>
            <a:endParaRPr lang="en-US" sz="1425" dirty="0"/>
          </a:p>
        </p:txBody>
      </p:sp>
      <p:sp>
        <p:nvSpPr>
          <p:cNvPr id="52" name="Text 49"/>
          <p:cNvSpPr/>
          <p:nvPr/>
        </p:nvSpPr>
        <p:spPr>
          <a:xfrm>
            <a:off x="7172325" y="4038600"/>
            <a:ext cx="1619250" cy="147638"/>
          </a:xfrm>
          <a:prstGeom prst="rect">
            <a:avLst/>
          </a:prstGeom>
          <a:noFill/>
          <a:ln/>
        </p:spPr>
        <p:txBody>
          <a:bodyPr wrap="square" lIns="0" tIns="0" rIns="0" bIns="0" rtlCol="0" anchor="t"/>
          <a:lstStyle/>
          <a:p>
            <a:pPr algn="l" indent="0" marL="0">
              <a:lnSpc>
                <a:spcPts val="1121"/>
              </a:lnSpc>
              <a:buNone/>
            </a:pPr>
            <a:r>
              <a:rPr lang="en-US" sz="926" b="1" dirty="0">
                <a:solidFill>
                  <a:srgbClr val="0E130F">
                    <a:alpha val="99000"/>
                  </a:srgbClr>
                </a:solidFill>
                <a:latin typeface="Inter" pitchFamily="34" charset="0"/>
                <a:ea typeface="Inter" pitchFamily="34" charset="-122"/>
                <a:cs typeface="Inter" pitchFamily="34" charset="-120"/>
              </a:rPr>
              <a:t>Equipe fundadora</a:t>
            </a:r>
            <a:endParaRPr lang="en-US" sz="926"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30F"/>
        </a:solidFill>
      </p:bgPr>
    </p:bg>
    <p:spTree>
      <p:nvGrpSpPr>
        <p:cNvPr id="1" name=""/>
        <p:cNvGrpSpPr/>
        <p:nvPr/>
      </p:nvGrpSpPr>
      <p:grpSpPr>
        <a:xfrm>
          <a:off x="0" y="0"/>
          <a:ext cx="0" cy="0"/>
          <a:chOff x="0" y="0"/>
          <a:chExt cx="0" cy="0"/>
        </a:xfrm>
      </p:grpSpPr>
      <p:sp>
        <p:nvSpPr>
          <p:cNvPr id="48" name="TextBox 47"/>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14 — ROADMAP</a:t>
            </a:r>
          </a:p>
        </p:txBody>
      </p:sp>
      <p:sp>
        <p:nvSpPr>
          <p:cNvPr id="25" name="Text 22"/>
          <p:cNvSpPr/>
          <p:nvPr/>
        </p:nvSpPr>
        <p:spPr>
          <a:xfrm>
            <a:off x="571500" y="809625"/>
            <a:ext cx="571500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Devnet hoje.</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Mainnet a seguir.</a:t>
            </a:r>
            <a:endParaRPr lang="en-US" sz="2708" dirty="0"/>
          </a:p>
        </p:txBody>
      </p:sp>
      <p:sp>
        <p:nvSpPr>
          <p:cNvPr id="26" name="Shape 23"/>
          <p:cNvSpPr/>
          <p:nvPr/>
        </p:nvSpPr>
        <p:spPr>
          <a:xfrm>
            <a:off x="571500" y="2476500"/>
            <a:ext cx="8001000" cy="19050"/>
          </a:xfrm>
          <a:prstGeom prst="rect">
            <a:avLst/>
          </a:prstGeom>
          <a:solidFill>
            <a:srgbClr val="333D33"/>
          </a:solidFill>
          <a:ln/>
        </p:spPr>
        <p:txBody>
          <a:bodyPr/>
          <a:p/>
        </p:txBody>
      </p:sp>
      <p:sp>
        <p:nvSpPr>
          <p:cNvPr id="27" name="Shape 24"/>
          <p:cNvSpPr/>
          <p:nvPr/>
        </p:nvSpPr>
        <p:spPr>
          <a:xfrm>
            <a:off x="571500" y="2476500"/>
            <a:ext cx="2476500" cy="19050"/>
          </a:xfrm>
          <a:prstGeom prst="rect">
            <a:avLst/>
          </a:prstGeom>
          <a:solidFill>
            <a:srgbClr val="BDF06B"/>
          </a:solidFill>
          <a:ln/>
        </p:spPr>
        <p:txBody>
          <a:bodyPr/>
          <a:p/>
        </p:txBody>
      </p:sp>
      <p:sp>
        <p:nvSpPr>
          <p:cNvPr id="28" name="Shape 25"/>
          <p:cNvSpPr/>
          <p:nvPr/>
        </p:nvSpPr>
        <p:spPr>
          <a:xfrm>
            <a:off x="571500" y="2400300"/>
            <a:ext cx="171450" cy="171450"/>
          </a:xfrm>
          <a:prstGeom prst="ellipse">
            <a:avLst/>
          </a:prstGeom>
          <a:solidFill>
            <a:srgbClr val="BDF06B"/>
          </a:solidFill>
          <a:ln w="13573">
            <a:solidFill>
              <a:srgbClr val="BDF06B"/>
            </a:solidFill>
            <a:prstDash val="solid"/>
          </a:ln>
        </p:spPr>
        <p:txBody>
          <a:bodyPr/>
          <a:p/>
        </p:txBody>
      </p:sp>
      <p:sp>
        <p:nvSpPr>
          <p:cNvPr id="49" name="TextBox 48"/>
          <p:cNvSpPr txBox="1"/>
          <p:nvPr/>
        </p:nvSpPr>
        <p:spPr>
          <a:xfrm>
            <a:off x="571500" y="2762250"/>
            <a:ext cx="962024"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FASE 1 · AGORA</a:t>
            </a:r>
          </a:p>
        </p:txBody>
      </p:sp>
      <p:sp>
        <p:nvSpPr>
          <p:cNvPr id="30" name="Text 27"/>
          <p:cNvSpPr/>
          <p:nvPr/>
        </p:nvSpPr>
        <p:spPr>
          <a:xfrm>
            <a:off x="571500" y="2952750"/>
            <a:ext cx="2476500" cy="266700"/>
          </a:xfrm>
          <a:prstGeom prst="rect">
            <a:avLst/>
          </a:prstGeom>
          <a:noFill/>
          <a:ln/>
        </p:spPr>
        <p:txBody>
          <a:bodyPr wrap="square" lIns="0" tIns="0" rIns="0" bIns="0" rtlCol="0" anchor="t"/>
          <a:lstStyle/>
          <a:p>
            <a:pPr algn="l" indent="0" marL="0">
              <a:lnSpc>
                <a:spcPts val="1983"/>
              </a:lnSpc>
              <a:buNone/>
            </a:pPr>
            <a:r>
              <a:rPr lang="en-US" sz="1639" b="1" spc="-25" kern="0" dirty="0">
                <a:solidFill>
                  <a:srgbClr val="F7F7F2">
                    <a:alpha val="99000"/>
                  </a:srgbClr>
                </a:solidFill>
                <a:latin typeface="Inter" pitchFamily="34" charset="0"/>
                <a:ea typeface="Inter" pitchFamily="34" charset="-122"/>
                <a:cs typeface="Inter" pitchFamily="34" charset="-120"/>
              </a:rPr>
              <a:t>Devnet</a:t>
            </a:r>
            <a:endParaRPr lang="en-US" sz="1639" dirty="0"/>
          </a:p>
        </p:txBody>
      </p:sp>
      <p:sp>
        <p:nvSpPr>
          <p:cNvPr id="31" name="Text 28"/>
          <p:cNvSpPr/>
          <p:nvPr/>
        </p:nvSpPr>
        <p:spPr>
          <a:xfrm>
            <a:off x="571500" y="3333750"/>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Token ativo na devnet da Solana</a:t>
            </a:r>
            <a:endParaRPr lang="en-US" sz="855" dirty="0"/>
          </a:p>
        </p:txBody>
      </p:sp>
      <p:sp>
        <p:nvSpPr>
          <p:cNvPr id="32" name="Text 29"/>
          <p:cNvSpPr/>
          <p:nvPr/>
        </p:nvSpPr>
        <p:spPr>
          <a:xfrm>
            <a:off x="571500" y="3538538"/>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Produto completo entregue</a:t>
            </a:r>
            <a:endParaRPr lang="en-US" sz="855" dirty="0"/>
          </a:p>
        </p:txBody>
      </p:sp>
      <p:sp>
        <p:nvSpPr>
          <p:cNvPr id="33" name="Text 30"/>
          <p:cNvSpPr/>
          <p:nvPr/>
        </p:nvSpPr>
        <p:spPr>
          <a:xfrm>
            <a:off x="571500" y="3743325"/>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Pilotos e hackathon</a:t>
            </a:r>
            <a:endParaRPr lang="en-US" sz="855" dirty="0"/>
          </a:p>
        </p:txBody>
      </p:sp>
      <p:sp>
        <p:nvSpPr>
          <p:cNvPr id="34" name="Shape 31"/>
          <p:cNvSpPr/>
          <p:nvPr/>
        </p:nvSpPr>
        <p:spPr>
          <a:xfrm>
            <a:off x="3333750" y="2400300"/>
            <a:ext cx="171450" cy="171450"/>
          </a:xfrm>
          <a:prstGeom prst="ellipse">
            <a:avLst/>
          </a:prstGeom>
          <a:solidFill>
            <a:srgbClr val="0E130F"/>
          </a:solidFill>
          <a:ln w="13573">
            <a:solidFill>
              <a:srgbClr val="B2BDB2"/>
            </a:solidFill>
            <a:prstDash val="solid"/>
          </a:ln>
        </p:spPr>
        <p:txBody>
          <a:bodyPr/>
          <a:p/>
        </p:txBody>
      </p:sp>
      <p:sp>
        <p:nvSpPr>
          <p:cNvPr id="50" name="TextBox 49"/>
          <p:cNvSpPr txBox="1"/>
          <p:nvPr/>
        </p:nvSpPr>
        <p:spPr>
          <a:xfrm>
            <a:off x="3333750" y="2762250"/>
            <a:ext cx="1100138" cy="185115"/>
          </a:xfrm>
          <a:prstGeom prst="rect">
            <a:avLst/>
          </a:prstGeom>
          <a:noFill/>
        </p:spPr>
        <p:txBody>
          <a:bodyPr wrap="none" lIns="0" tIns="0" rIns="0" bIns="0">
            <a:noAutofit/>
          </a:bodyPr>
          <a:lstStyle/>
          <a:p>
            <a:pPr>
              <a:lnSpc>
                <a:spcPts val="956"/>
              </a:lnSpc>
              <a:defRPr sz="784" b="1">
                <a:solidFill>
                  <a:srgbClr val="B2BDB2"/>
                </a:solidFill>
                <a:latin typeface="JetBrains Mono"/>
              </a:defRPr>
            </a:pPr>
            <a:r>
              <a:t>FASE 2 · PRÓXIMA</a:t>
            </a:r>
          </a:p>
        </p:txBody>
      </p:sp>
      <p:sp>
        <p:nvSpPr>
          <p:cNvPr id="36" name="Text 33"/>
          <p:cNvSpPr/>
          <p:nvPr/>
        </p:nvSpPr>
        <p:spPr>
          <a:xfrm>
            <a:off x="3333750" y="2952750"/>
            <a:ext cx="2476500" cy="266700"/>
          </a:xfrm>
          <a:prstGeom prst="rect">
            <a:avLst/>
          </a:prstGeom>
          <a:noFill/>
          <a:ln/>
        </p:spPr>
        <p:txBody>
          <a:bodyPr wrap="square" lIns="0" tIns="0" rIns="0" bIns="0" rtlCol="0" anchor="t"/>
          <a:lstStyle/>
          <a:p>
            <a:pPr algn="l" indent="0" marL="0">
              <a:lnSpc>
                <a:spcPts val="1983"/>
              </a:lnSpc>
              <a:buNone/>
            </a:pPr>
            <a:r>
              <a:rPr lang="en-US" sz="1639" b="1" spc="-25" kern="0" dirty="0">
                <a:solidFill>
                  <a:srgbClr val="F7F7F2">
                    <a:alpha val="99000"/>
                  </a:srgbClr>
                </a:solidFill>
                <a:latin typeface="Inter" pitchFamily="34" charset="0"/>
                <a:ea typeface="Inter" pitchFamily="34" charset="-122"/>
                <a:cs typeface="Inter" pitchFamily="34" charset="-120"/>
              </a:rPr>
              <a:t>Mainnet</a:t>
            </a:r>
            <a:endParaRPr lang="en-US" sz="1639" dirty="0"/>
          </a:p>
        </p:txBody>
      </p:sp>
      <p:sp>
        <p:nvSpPr>
          <p:cNvPr id="37" name="Text 34"/>
          <p:cNvSpPr/>
          <p:nvPr/>
        </p:nvSpPr>
        <p:spPr>
          <a:xfrm>
            <a:off x="3333750" y="3333750"/>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Auditoria de segurança independente</a:t>
            </a:r>
            <a:endParaRPr lang="en-US" sz="855" dirty="0"/>
          </a:p>
        </p:txBody>
      </p:sp>
      <p:sp>
        <p:nvSpPr>
          <p:cNvPr id="38" name="Text 35"/>
          <p:cNvSpPr/>
          <p:nvPr/>
        </p:nvSpPr>
        <p:spPr>
          <a:xfrm>
            <a:off x="3333750" y="3538538"/>
            <a:ext cx="2476500" cy="276225"/>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Emissão na mainnet e revogação da autoridade</a:t>
            </a:r>
            <a:endParaRPr lang="en-US" sz="855" dirty="0"/>
          </a:p>
        </p:txBody>
      </p:sp>
      <p:sp>
        <p:nvSpPr>
          <p:cNvPr id="39" name="Text 36"/>
          <p:cNvSpPr/>
          <p:nvPr/>
        </p:nvSpPr>
        <p:spPr>
          <a:xfrm>
            <a:off x="3333750" y="3881438"/>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Distribuição conforme o tokenomics</a:t>
            </a:r>
            <a:endParaRPr lang="en-US" sz="855" dirty="0"/>
          </a:p>
        </p:txBody>
      </p:sp>
      <p:sp>
        <p:nvSpPr>
          <p:cNvPr id="40" name="Shape 37"/>
          <p:cNvSpPr/>
          <p:nvPr/>
        </p:nvSpPr>
        <p:spPr>
          <a:xfrm>
            <a:off x="6096000" y="2400300"/>
            <a:ext cx="171450" cy="171450"/>
          </a:xfrm>
          <a:prstGeom prst="ellipse">
            <a:avLst/>
          </a:prstGeom>
          <a:solidFill>
            <a:srgbClr val="0E130F"/>
          </a:solidFill>
          <a:ln w="13573">
            <a:solidFill>
              <a:srgbClr val="B2BDB2"/>
            </a:solidFill>
            <a:prstDash val="solid"/>
          </a:ln>
        </p:spPr>
        <p:txBody>
          <a:bodyPr/>
          <a:p/>
        </p:txBody>
      </p:sp>
      <p:sp>
        <p:nvSpPr>
          <p:cNvPr id="51" name="TextBox 50"/>
          <p:cNvSpPr txBox="1"/>
          <p:nvPr/>
        </p:nvSpPr>
        <p:spPr>
          <a:xfrm>
            <a:off x="6096000" y="2762250"/>
            <a:ext cx="436753" cy="185115"/>
          </a:xfrm>
          <a:prstGeom prst="rect">
            <a:avLst/>
          </a:prstGeom>
          <a:noFill/>
        </p:spPr>
        <p:txBody>
          <a:bodyPr wrap="none" lIns="0" tIns="0" rIns="0" bIns="0">
            <a:noAutofit/>
          </a:bodyPr>
          <a:lstStyle/>
          <a:p>
            <a:pPr>
              <a:lnSpc>
                <a:spcPts val="956"/>
              </a:lnSpc>
              <a:defRPr sz="784" b="1">
                <a:solidFill>
                  <a:srgbClr val="B2BDB2"/>
                </a:solidFill>
                <a:latin typeface="JetBrains Mono"/>
              </a:defRPr>
            </a:pPr>
            <a:r>
              <a:t>FASE 3</a:t>
            </a:r>
          </a:p>
        </p:txBody>
      </p:sp>
      <p:sp>
        <p:nvSpPr>
          <p:cNvPr id="42" name="Text 39"/>
          <p:cNvSpPr/>
          <p:nvPr/>
        </p:nvSpPr>
        <p:spPr>
          <a:xfrm>
            <a:off x="6096000" y="2952750"/>
            <a:ext cx="2476500" cy="266700"/>
          </a:xfrm>
          <a:prstGeom prst="rect">
            <a:avLst/>
          </a:prstGeom>
          <a:noFill/>
          <a:ln/>
        </p:spPr>
        <p:txBody>
          <a:bodyPr wrap="square" lIns="0" tIns="0" rIns="0" bIns="0" rtlCol="0" anchor="t"/>
          <a:lstStyle/>
          <a:p>
            <a:pPr algn="l" indent="0" marL="0">
              <a:lnSpc>
                <a:spcPts val="1983"/>
              </a:lnSpc>
              <a:buNone/>
            </a:pPr>
            <a:r>
              <a:rPr lang="en-US" sz="1639" b="1" spc="-25" kern="0" dirty="0">
                <a:solidFill>
                  <a:srgbClr val="F7F7F2">
                    <a:alpha val="99000"/>
                  </a:srgbClr>
                </a:solidFill>
                <a:latin typeface="Inter" pitchFamily="34" charset="0"/>
                <a:ea typeface="Inter" pitchFamily="34" charset="-122"/>
                <a:cs typeface="Inter" pitchFamily="34" charset="-120"/>
              </a:rPr>
              <a:t>Escalar a rede</a:t>
            </a:r>
            <a:endParaRPr lang="en-US" sz="1639" dirty="0"/>
          </a:p>
        </p:txBody>
      </p:sp>
      <p:sp>
        <p:nvSpPr>
          <p:cNvPr id="43" name="Text 40"/>
          <p:cNvSpPr/>
          <p:nvPr/>
        </p:nvSpPr>
        <p:spPr>
          <a:xfrm>
            <a:off x="6096000" y="3333750"/>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Indicação e cashback em escala</a:t>
            </a:r>
            <a:endParaRPr lang="en-US" sz="855" dirty="0"/>
          </a:p>
        </p:txBody>
      </p:sp>
      <p:sp>
        <p:nvSpPr>
          <p:cNvPr id="44" name="Text 41"/>
          <p:cNvSpPr/>
          <p:nvPr/>
        </p:nvSpPr>
        <p:spPr>
          <a:xfrm>
            <a:off x="6096000" y="3538538"/>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Liquidez e listagens</a:t>
            </a:r>
            <a:endParaRPr lang="en-US" sz="855" dirty="0"/>
          </a:p>
        </p:txBody>
      </p:sp>
      <p:sp>
        <p:nvSpPr>
          <p:cNvPr id="45" name="Text 42"/>
          <p:cNvSpPr/>
          <p:nvPr/>
        </p:nvSpPr>
        <p:spPr>
          <a:xfrm>
            <a:off x="6096000" y="3743325"/>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Integrações abertas para qualquer app</a:t>
            </a:r>
            <a:endParaRPr lang="en-US" sz="855" dirty="0"/>
          </a:p>
        </p:txBody>
      </p:sp>
      <p:sp>
        <p:nvSpPr>
          <p:cNvPr id="52" name="TextBox 5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53" name="TextBox 5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15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7F2"/>
        </a:solidFill>
      </p:bgPr>
    </p:bg>
    <p:spTree>
      <p:nvGrpSpPr>
        <p:cNvPr id="1" name=""/>
        <p:cNvGrpSpPr/>
        <p:nvPr/>
      </p:nvGrpSpPr>
      <p:grpSpPr>
        <a:xfrm>
          <a:off x="0" y="0"/>
          <a:ext cx="0" cy="0"/>
          <a:chOff x="0" y="0"/>
          <a:chExt cx="0" cy="0"/>
        </a:xfrm>
      </p:grpSpPr>
      <p:sp>
        <p:nvSpPr>
          <p:cNvPr id="6" name="Shape 3"/>
          <p:cNvSpPr/>
          <p:nvPr/>
        </p:nvSpPr>
        <p:spPr>
          <a:xfrm>
            <a:off x="5905500" y="0"/>
            <a:ext cx="3238500" cy="5143500"/>
          </a:xfrm>
          <a:prstGeom prst="rect">
            <a:avLst/>
          </a:prstGeom>
          <a:solidFill>
            <a:srgbClr val="BDF06B"/>
          </a:solidFill>
          <a:ln/>
        </p:spPr>
        <p:txBody>
          <a:bodyPr/>
          <a:p/>
        </p:txBody>
      </p:sp>
      <p:sp>
        <p:nvSpPr>
          <p:cNvPr id="31" name="TextBox 30"/>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15 — POR QUE CONFIAR</a:t>
            </a:r>
          </a:p>
        </p:txBody>
      </p:sp>
      <p:sp>
        <p:nvSpPr>
          <p:cNvPr id="8" name="Text 5"/>
          <p:cNvSpPr/>
          <p:nvPr/>
        </p:nvSpPr>
        <p:spPr>
          <a:xfrm>
            <a:off x="571500" y="809625"/>
            <a:ext cx="4762500" cy="1085850"/>
          </a:xfrm>
          <a:prstGeom prst="rect">
            <a:avLst/>
          </a:prstGeom>
          <a:noFill/>
          <a:ln/>
        </p:spPr>
        <p:txBody>
          <a:bodyPr wrap="square" lIns="0" tIns="0" rIns="0" bIns="0" rtlCol="0" anchor="t"/>
          <a:lstStyle/>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Construído como</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infraestrutura</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financeira.</a:t>
            </a:r>
            <a:endParaRPr lang="en-US" sz="2708" dirty="0"/>
          </a:p>
        </p:txBody>
      </p:sp>
      <p:sp>
        <p:nvSpPr>
          <p:cNvPr id="9" name="Text 6"/>
          <p:cNvSpPr/>
          <p:nvPr/>
        </p:nvSpPr>
        <p:spPr>
          <a:xfrm>
            <a:off x="571500" y="2667000"/>
            <a:ext cx="4762500" cy="185738"/>
          </a:xfrm>
          <a:prstGeom prst="rect">
            <a:avLst/>
          </a:prstGeom>
          <a:noFill/>
          <a:ln/>
        </p:spPr>
        <p:txBody>
          <a:bodyPr wrap="square" lIns="0" tIns="0" rIns="0" bIns="0" rtlCol="0" anchor="t"/>
          <a:lstStyle/>
          <a:p>
            <a:pPr algn="l" indent="0" marL="0">
              <a:lnSpc>
                <a:spcPts val="1380"/>
              </a:lnSpc>
              <a:buNone/>
            </a:pPr>
            <a:r>
              <a:rPr lang="en-US" sz="1140" b="1" spc="-6" kern="0" dirty="0">
                <a:solidFill>
                  <a:srgbClr val="0E130F">
                    <a:alpha val="99000"/>
                  </a:srgbClr>
                </a:solidFill>
                <a:latin typeface="Inter" pitchFamily="34" charset="0"/>
                <a:ea typeface="Inter" pitchFamily="34" charset="-122"/>
                <a:cs typeface="Inter" pitchFamily="34" charset="-120"/>
              </a:rPr>
              <a:t>Segurança em primeiro lugar</a:t>
            </a:r>
            <a:endParaRPr lang="en-US" sz="1140" dirty="0"/>
          </a:p>
        </p:txBody>
      </p:sp>
      <p:sp>
        <p:nvSpPr>
          <p:cNvPr id="10" name="Text 7"/>
          <p:cNvSpPr/>
          <p:nvPr/>
        </p:nvSpPr>
        <p:spPr>
          <a:xfrm>
            <a:off x="571500" y="2886075"/>
            <a:ext cx="4762500" cy="333375"/>
          </a:xfrm>
          <a:prstGeom prst="rect">
            <a:avLst/>
          </a:prstGeom>
          <a:noFill/>
          <a:ln/>
        </p:spPr>
        <p:txBody>
          <a:bodyPr wrap="square" lIns="0" tIns="0" rIns="0" bIns="0" rtlCol="0" anchor="t"/>
          <a:lstStyle/>
          <a:p>
            <a:pPr algn="l" indent="0" marL="0">
              <a:lnSpc>
                <a:spcPts val="1247"/>
              </a:lnSpc>
              <a:buNone/>
            </a:pPr>
            <a:r>
              <a:rPr lang="en-US" sz="891" dirty="0">
                <a:solidFill>
                  <a:srgbClr val="545C54">
                    <a:alpha val="99000"/>
                  </a:srgbClr>
                </a:solidFill>
                <a:latin typeface="Inter" pitchFamily="34" charset="0"/>
                <a:ea typeface="Inter" pitchFamily="34" charset="-122"/>
                <a:cs typeface="Inter" pitchFamily="34" charset="-120"/>
              </a:rPr>
              <a:t>Segredos no HashiCorp Vault, API bancária com mTLS e chaves que nunca saem do aparelho do usuário.</a:t>
            </a:r>
            <a:endParaRPr lang="en-US" sz="891" dirty="0"/>
          </a:p>
        </p:txBody>
      </p:sp>
      <p:sp>
        <p:nvSpPr>
          <p:cNvPr id="11" name="Text 8"/>
          <p:cNvSpPr/>
          <p:nvPr/>
        </p:nvSpPr>
        <p:spPr>
          <a:xfrm>
            <a:off x="571500" y="3286125"/>
            <a:ext cx="4762500" cy="185738"/>
          </a:xfrm>
          <a:prstGeom prst="rect">
            <a:avLst/>
          </a:prstGeom>
          <a:noFill/>
          <a:ln/>
        </p:spPr>
        <p:txBody>
          <a:bodyPr wrap="square" lIns="0" tIns="0" rIns="0" bIns="0" rtlCol="0" anchor="t"/>
          <a:lstStyle/>
          <a:p>
            <a:pPr algn="l" indent="0" marL="0">
              <a:lnSpc>
                <a:spcPts val="1380"/>
              </a:lnSpc>
              <a:buNone/>
            </a:pPr>
            <a:r>
              <a:rPr lang="en-US" sz="1140" b="1" spc="-6" kern="0" dirty="0">
                <a:solidFill>
                  <a:srgbClr val="0E130F">
                    <a:alpha val="99000"/>
                  </a:srgbClr>
                </a:solidFill>
                <a:latin typeface="Inter" pitchFamily="34" charset="0"/>
                <a:ea typeface="Inter" pitchFamily="34" charset="-122"/>
                <a:cs typeface="Inter" pitchFamily="34" charset="-120"/>
              </a:rPr>
              <a:t>Toda ação auditada</a:t>
            </a:r>
            <a:endParaRPr lang="en-US" sz="1140" dirty="0"/>
          </a:p>
        </p:txBody>
      </p:sp>
      <p:sp>
        <p:nvSpPr>
          <p:cNvPr id="12" name="Text 9"/>
          <p:cNvSpPr/>
          <p:nvPr/>
        </p:nvSpPr>
        <p:spPr>
          <a:xfrm>
            <a:off x="571500" y="3505200"/>
            <a:ext cx="4762500" cy="333375"/>
          </a:xfrm>
          <a:prstGeom prst="rect">
            <a:avLst/>
          </a:prstGeom>
          <a:noFill/>
          <a:ln/>
        </p:spPr>
        <p:txBody>
          <a:bodyPr wrap="square" lIns="0" tIns="0" rIns="0" bIns="0" rtlCol="0" anchor="t"/>
          <a:lstStyle/>
          <a:p>
            <a:pPr algn="l" indent="0" marL="0">
              <a:lnSpc>
                <a:spcPts val="1247"/>
              </a:lnSpc>
              <a:buNone/>
            </a:pPr>
            <a:r>
              <a:rPr lang="en-US" sz="891" dirty="0">
                <a:solidFill>
                  <a:srgbClr val="545C54">
                    <a:alpha val="99000"/>
                  </a:srgbClr>
                </a:solidFill>
                <a:latin typeface="Inter" pitchFamily="34" charset="0"/>
                <a:ea typeface="Inter" pitchFamily="34" charset="-122"/>
                <a:cs typeface="Inter" pitchFamily="34" charset="-120"/>
              </a:rPr>
              <a:t>Alterações do admin, ajustes e bloqueios de recompensas ficam registrados com o antes e o depois.</a:t>
            </a:r>
            <a:endParaRPr lang="en-US" sz="891" dirty="0"/>
          </a:p>
        </p:txBody>
      </p:sp>
      <p:sp>
        <p:nvSpPr>
          <p:cNvPr id="13" name="Text 10"/>
          <p:cNvSpPr/>
          <p:nvPr/>
        </p:nvSpPr>
        <p:spPr>
          <a:xfrm>
            <a:off x="571500" y="3905250"/>
            <a:ext cx="4762500" cy="185738"/>
          </a:xfrm>
          <a:prstGeom prst="rect">
            <a:avLst/>
          </a:prstGeom>
          <a:noFill/>
          <a:ln/>
        </p:spPr>
        <p:txBody>
          <a:bodyPr wrap="square" lIns="0" tIns="0" rIns="0" bIns="0" rtlCol="0" anchor="t"/>
          <a:lstStyle/>
          <a:p>
            <a:pPr algn="l" indent="0" marL="0">
              <a:lnSpc>
                <a:spcPts val="1380"/>
              </a:lnSpc>
              <a:buNone/>
            </a:pPr>
            <a:r>
              <a:rPr lang="en-US" sz="1140" b="1" spc="-6" kern="0" dirty="0">
                <a:solidFill>
                  <a:srgbClr val="0E130F">
                    <a:alpha val="99000"/>
                  </a:srgbClr>
                </a:solidFill>
                <a:latin typeface="Inter" pitchFamily="34" charset="0"/>
                <a:ea typeface="Inter" pitchFamily="34" charset="-122"/>
                <a:cs typeface="Inter" pitchFamily="34" charset="-120"/>
              </a:rPr>
              <a:t>Testado de ponta a ponta</a:t>
            </a:r>
            <a:endParaRPr lang="en-US" sz="1140" dirty="0"/>
          </a:p>
        </p:txBody>
      </p:sp>
      <p:sp>
        <p:nvSpPr>
          <p:cNvPr id="14" name="Text 11"/>
          <p:cNvSpPr/>
          <p:nvPr/>
        </p:nvSpPr>
        <p:spPr>
          <a:xfrm>
            <a:off x="571500" y="4124325"/>
            <a:ext cx="4762500" cy="166688"/>
          </a:xfrm>
          <a:prstGeom prst="rect">
            <a:avLst/>
          </a:prstGeom>
          <a:noFill/>
          <a:ln/>
        </p:spPr>
        <p:txBody>
          <a:bodyPr wrap="square" lIns="0" tIns="0" rIns="0" bIns="0" rtlCol="0" anchor="t"/>
          <a:lstStyle/>
          <a:p>
            <a:pPr algn="l" indent="0" marL="0">
              <a:lnSpc>
                <a:spcPts val="1247"/>
              </a:lnSpc>
              <a:buNone/>
            </a:pPr>
            <a:r>
              <a:rPr lang="en-US" sz="891" dirty="0">
                <a:solidFill>
                  <a:srgbClr val="545C54">
                    <a:alpha val="99000"/>
                  </a:srgbClr>
                </a:solidFill>
                <a:latin typeface="Inter" pitchFamily="34" charset="0"/>
                <a:ea typeface="Inter" pitchFamily="34" charset="-122"/>
                <a:cs typeface="Inter" pitchFamily="34" charset="-120"/>
              </a:rPr>
              <a:t>Mais de 300 testes automatizados entre API, PDV e carteira.</a:t>
            </a:r>
            <a:endParaRPr lang="en-US" sz="891" dirty="0"/>
          </a:p>
        </p:txBody>
      </p:sp>
      <p:sp>
        <p:nvSpPr>
          <p:cNvPr id="32" name="TextBox 3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33" name="TextBox 3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16</a:t>
            </a:r>
          </a:p>
        </p:txBody>
      </p:sp>
      <p:sp>
        <p:nvSpPr>
          <p:cNvPr id="27" name="TextBox 26"/>
          <p:cNvSpPr txBox="1"/>
          <p:nvPr/>
        </p:nvSpPr>
        <p:spPr>
          <a:xfrm>
            <a:off x="6286500" y="813816"/>
            <a:ext cx="2468880" cy="192024"/>
          </a:xfrm>
          <a:prstGeom prst="rect">
            <a:avLst/>
          </a:prstGeom>
          <a:noFill/>
        </p:spPr>
        <p:txBody>
          <a:bodyPr wrap="square" lIns="0" tIns="0" rIns="0" bIns="0">
            <a:noAutofit/>
          </a:bodyPr>
          <a:lstStyle/>
          <a:p>
            <a:pPr>
              <a:lnSpc>
                <a:spcPts val="951"/>
              </a:lnSpc>
              <a:defRPr sz="780" b="0">
                <a:solidFill>
                  <a:srgbClr val="0E130F"/>
                </a:solidFill>
                <a:latin typeface="JetBrains Mono"/>
              </a:defRPr>
            </a:pPr>
            <a:r>
              <a:rPr/>
              <a:t>FEITO PARA O DIA A DIA</a:t>
            </a:r>
          </a:p>
        </p:txBody>
      </p:sp>
      <p:sp>
        <p:nvSpPr>
          <p:cNvPr id="28" name="TextBox 27"/>
          <p:cNvSpPr txBox="1"/>
          <p:nvPr/>
        </p:nvSpPr>
        <p:spPr>
          <a:xfrm>
            <a:off x="6286500" y="1225296"/>
            <a:ext cx="2487168" cy="1097280"/>
          </a:xfrm>
          <a:prstGeom prst="rect">
            <a:avLst/>
          </a:prstGeom>
          <a:noFill/>
        </p:spPr>
        <p:txBody>
          <a:bodyPr wrap="square" lIns="0" tIns="0" rIns="0" bIns="0">
            <a:noAutofit/>
          </a:bodyPr>
          <a:lstStyle/>
          <a:p>
            <a:pPr>
              <a:lnSpc>
                <a:spcPts val="2928"/>
              </a:lnSpc>
              <a:defRPr sz="2400" b="1">
                <a:solidFill>
                  <a:srgbClr val="0E130F"/>
                </a:solidFill>
                <a:latin typeface="Inter"/>
              </a:defRPr>
            </a:pPr>
            <a:r>
              <a:rPr/>
              <a:t>Suas chaves.</a:t>
            </a:r>
          </a:p>
          <a:p>
            <a:pPr>
              <a:lnSpc>
                <a:spcPts val="2928"/>
              </a:lnSpc>
              <a:defRPr sz="2400" b="1">
                <a:solidFill>
                  <a:srgbClr val="0E130F"/>
                </a:solidFill>
                <a:latin typeface="Inter"/>
              </a:defRPr>
            </a:pPr>
            <a:r>
              <a:t>Seu dinheiro.</a:t>
            </a:r>
          </a:p>
        </p:txBody>
      </p:sp>
      <p:sp>
        <p:nvSpPr>
          <p:cNvPr id="29" name="TextBox 28"/>
          <p:cNvSpPr txBox="1"/>
          <p:nvPr/>
        </p:nvSpPr>
        <p:spPr>
          <a:xfrm>
            <a:off x="6286500" y="2615184"/>
            <a:ext cx="2487168" cy="512064"/>
          </a:xfrm>
          <a:prstGeom prst="rect">
            <a:avLst/>
          </a:prstGeom>
          <a:noFill/>
        </p:spPr>
        <p:txBody>
          <a:bodyPr wrap="square" lIns="0" tIns="0" rIns="0" bIns="0">
            <a:noAutofit/>
          </a:bodyPr>
          <a:lstStyle/>
          <a:p>
            <a:pPr>
              <a:lnSpc>
                <a:spcPts val="1586"/>
              </a:lnSpc>
              <a:defRPr sz="1300" b="1">
                <a:solidFill>
                  <a:srgbClr val="0E130F"/>
                </a:solidFill>
                <a:latin typeface="Inter"/>
              </a:defRPr>
            </a:pPr>
            <a:r>
              <a:rPr/>
              <a:t>Entrada via Pix.</a:t>
            </a:r>
          </a:p>
          <a:p>
            <a:pPr>
              <a:lnSpc>
                <a:spcPts val="1586"/>
              </a:lnSpc>
              <a:defRPr sz="1300" b="1">
                <a:solidFill>
                  <a:srgbClr val="0E130F"/>
                </a:solidFill>
                <a:latin typeface="Inter"/>
              </a:defRPr>
            </a:pPr>
            <a:r>
              <a:t>Pagamentos por QR e NFC.</a:t>
            </a:r>
          </a:p>
        </p:txBody>
      </p:sp>
      <p:sp>
        <p:nvSpPr>
          <p:cNvPr id="30" name="TextBox 29"/>
          <p:cNvSpPr txBox="1"/>
          <p:nvPr/>
        </p:nvSpPr>
        <p:spPr>
          <a:xfrm>
            <a:off x="6286500" y="3511296"/>
            <a:ext cx="2487168" cy="457200"/>
          </a:xfrm>
          <a:prstGeom prst="rect">
            <a:avLst/>
          </a:prstGeom>
          <a:noFill/>
        </p:spPr>
        <p:txBody>
          <a:bodyPr wrap="square" lIns="0" tIns="0" rIns="0" bIns="0">
            <a:noAutofit/>
          </a:bodyPr>
          <a:lstStyle/>
          <a:p>
            <a:pPr>
              <a:lnSpc>
                <a:spcPts val="1220"/>
              </a:lnSpc>
              <a:defRPr sz="1000" b="0">
                <a:solidFill>
                  <a:srgbClr val="545C54"/>
                </a:solidFill>
                <a:latin typeface="Inter"/>
              </a:defRPr>
            </a:pPr>
            <a:r>
              <a:rPr/>
              <a:t>Uma experiência integrada.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30F"/>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12000" t="0" b="5440"/>
          <a:stretch/>
        </p:blipFill>
        <p:spPr>
          <a:xfrm>
            <a:off x="4953000" y="-285750"/>
            <a:ext cx="4191000" cy="4967288"/>
          </a:xfrm>
          <a:prstGeom prst="rect">
            <a:avLst/>
          </a:prstGeom>
        </p:spPr>
      </p:pic>
      <p:pic>
        <p:nvPicPr>
          <p:cNvPr id="4" name="Image 1" descr="preencoded.png">    </p:cNvPr>
          <p:cNvPicPr>
            <a:picLocks noChangeAspect="1"/>
          </p:cNvPicPr>
          <p:nvPr/>
        </p:nvPicPr>
        <p:blipFill>
          <a:blip r:embed="rId2"/>
          <a:srcRect l="0" r="0" t="0" b="0"/>
          <a:stretch/>
        </p:blipFill>
        <p:spPr>
          <a:xfrm>
            <a:off x="571500" y="457200"/>
            <a:ext cx="1514475" cy="381000"/>
          </a:xfrm>
          <a:prstGeom prst="rect">
            <a:avLst/>
          </a:prstGeom>
        </p:spPr>
      </p:pic>
      <p:sp>
        <p:nvSpPr>
          <p:cNvPr id="5" name="Text 0"/>
          <p:cNvSpPr/>
          <p:nvPr/>
        </p:nvSpPr>
        <p:spPr>
          <a:xfrm>
            <a:off x="571500" y="1428750"/>
            <a:ext cx="4762500" cy="1500188"/>
          </a:xfrm>
          <a:prstGeom prst="rect">
            <a:avLst/>
          </a:prstGeom>
          <a:noFill/>
          <a:ln/>
        </p:spPr>
        <p:txBody>
          <a:bodyPr wrap="square" lIns="0" tIns="0" rIns="0" bIns="0" rtlCol="0" anchor="t"/>
          <a:lstStyle/>
          <a:p>
            <a:pPr algn="l" indent="0" marL="0">
              <a:lnSpc>
                <a:spcPts val="3751"/>
              </a:lnSpc>
              <a:buNone/>
            </a:pPr>
            <a:r>
              <a:rPr lang="en-US" sz="3990" b="1" spc="-160" kern="0" dirty="0">
                <a:solidFill>
                  <a:srgbClr val="F7F7F2">
                    <a:alpha val="99000"/>
                  </a:srgbClr>
                </a:solidFill>
                <a:latin typeface="Inter" pitchFamily="34" charset="0"/>
                <a:ea typeface="Inter" pitchFamily="34" charset="-122"/>
                <a:cs typeface="Inter" pitchFamily="34" charset="-120"/>
              </a:rPr>
              <a:t>Pague como Pix.</a:t>
            </a:r>
            <a:endParaRPr lang="en-US" sz="3990" dirty="0"/>
          </a:p>
          <a:p>
            <a:pPr algn="l" indent="0" marL="0">
              <a:lnSpc>
                <a:spcPts val="3751"/>
              </a:lnSpc>
              <a:buNone/>
            </a:pPr>
            <a:r>
              <a:rPr lang="en-US" sz="3990" b="1" spc="-160" kern="0" dirty="0">
                <a:solidFill>
                  <a:srgbClr val="F7F7F2">
                    <a:alpha val="99000"/>
                  </a:srgbClr>
                </a:solidFill>
                <a:latin typeface="Inter" pitchFamily="34" charset="0"/>
                <a:ea typeface="Inter" pitchFamily="34" charset="-122"/>
                <a:cs typeface="Inter" pitchFamily="34" charset="-120"/>
              </a:rPr>
              <a:t>Seja dono</a:t>
            </a:r>
            <a:endParaRPr lang="en-US" sz="3990" dirty="0"/>
          </a:p>
          <a:p>
            <a:pPr algn="l" indent="0" marL="0">
              <a:lnSpc>
                <a:spcPts val="3751"/>
              </a:lnSpc>
              <a:buNone/>
            </a:pPr>
            <a:r>
              <a:rPr lang="en-US" sz="3990" b="1" spc="-160" kern="0" dirty="0">
                <a:solidFill>
                  <a:srgbClr val="F7F7F2">
                    <a:alpha val="99000"/>
                  </a:srgbClr>
                </a:solidFill>
                <a:latin typeface="Inter" pitchFamily="34" charset="0"/>
                <a:ea typeface="Inter" pitchFamily="34" charset="-122"/>
                <a:cs typeface="Inter" pitchFamily="34" charset="-120"/>
              </a:rPr>
              <a:t>como em cripto.</a:t>
            </a:r>
            <a:endParaRPr lang="en-US" sz="3990" dirty="0"/>
          </a:p>
        </p:txBody>
      </p:sp>
      <p:sp>
        <p:nvSpPr>
          <p:cNvPr id="6" name="Text 1"/>
          <p:cNvSpPr/>
          <p:nvPr/>
        </p:nvSpPr>
        <p:spPr>
          <a:xfrm>
            <a:off x="571500" y="3157538"/>
            <a:ext cx="4286250" cy="228600"/>
          </a:xfrm>
          <a:prstGeom prst="rect">
            <a:avLst/>
          </a:prstGeom>
          <a:noFill/>
          <a:ln/>
        </p:spPr>
        <p:txBody>
          <a:bodyPr wrap="square" lIns="0" tIns="0" rIns="0" bIns="0" rtlCol="0" anchor="t"/>
          <a:lstStyle/>
          <a:p>
            <a:pPr algn="l" indent="0" marL="0">
              <a:lnSpc>
                <a:spcPts val="1725"/>
              </a:lnSpc>
              <a:buNone/>
            </a:pPr>
            <a:r>
              <a:rPr lang="en-US" sz="1425" b="1" dirty="0">
                <a:solidFill>
                  <a:srgbClr val="BDF06B">
                    <a:alpha val="99000"/>
                  </a:srgbClr>
                </a:solidFill>
                <a:latin typeface="Inter" pitchFamily="34" charset="0"/>
                <a:ea typeface="Inter" pitchFamily="34" charset="-122"/>
                <a:cs typeface="Inter" pitchFamily="34" charset="-120"/>
              </a:rPr>
              <a:t>simpay.tech</a:t>
            </a:r>
            <a:endParaRPr lang="en-US" sz="1425" dirty="0"/>
          </a:p>
        </p:txBody>
      </p:sp>
      <p:sp>
        <p:nvSpPr>
          <p:cNvPr id="8" name="TextBox 7"/>
          <p:cNvSpPr txBox="1"/>
          <p:nvPr/>
        </p:nvSpPr>
        <p:spPr>
          <a:xfrm>
            <a:off x="571500" y="3490913"/>
            <a:ext cx="5029200" cy="185115"/>
          </a:xfrm>
          <a:prstGeom prst="rect">
            <a:avLst/>
          </a:prstGeom>
          <a:noFill/>
        </p:spPr>
        <p:txBody>
          <a:bodyPr wrap="none" lIns="0" tIns="0" rIns="0" bIns="0">
            <a:noAutofit/>
          </a:bodyPr>
          <a:lstStyle/>
          <a:p>
            <a:pPr>
              <a:lnSpc>
                <a:spcPts val="956"/>
              </a:lnSpc>
              <a:defRPr sz="784" b="0">
                <a:solidFill>
                  <a:srgbClr val="B2BDB2"/>
                </a:solidFill>
                <a:latin typeface="JetBrains Mono"/>
              </a:defRPr>
            </a:pPr>
            <a:r>
              <a:t>CONHEÇA A SIMPAY · HELLO@SIMPAY.COM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2026-10-08T11:52:12Z</dcterms:created>
  <dcterms:modified xsi:type="dcterms:W3CDTF">2026-10-08T11:52:12Z</dcterms:modified>
</cp:coreProperties>
</file>