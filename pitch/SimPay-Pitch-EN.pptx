
<file path=[Content_Types].xml><?xml version="1.0" encoding="utf-8"?>
<Types xmlns="http://schemas.openxmlformats.org/package/2006/content-types">
  <Default Extension="fntdata" ContentType="application/x-fontdata"/>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embedTrueType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36"/>
  </p:notesMasterIdLst>
  <p:sldSz cx="9144000" cy="5143500"/>
  <p:notesSz cx="5143500" cy="9144000"/>
  <p:embeddedFontLst>
    <p:embeddedFont>
      <p:font typeface="JetBrains Mono"/>
      <p:regular r:id="rId41"/>
    </p:embeddedFont>
    <p:embeddedFont>
      <p:font typeface="Inter"/>
      <p:regular r:id="rId4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41" Type="http://schemas.openxmlformats.org/officeDocument/2006/relationships/font" Target="fonts/rId41.fntdata"/><Relationship Id="rId42" Type="http://schemas.openxmlformats.org/officeDocument/2006/relationships/font" Target="fonts/rId4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strong, ~10s: "This is SimPay."
One line: crypto you can actually spend at the counter, and that stays in your own wallet.
Name the event: Colosseum, Superteam Brasil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Brazil already has instant money: Pix.
But merchants still pay card machines, and crypto sits idle on exchanges.
Land it: instant is solved; ownership and utility are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purpose, in one breath: simple, useful for everything, truly owned.
No bank, no middleman. This is the original promise of crypto; we make it usable.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flow left to right, 5s per step.
Emphasise step 2: the customer holds the keys.
Step 4: merchant is paid in about a second, 0% to receive.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the right is live on devnet today.
If recording, cut to screen captures of each product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parts judges have not seen elsewhere.
Demo cue: tap phone on the NFC tag, then open the same till as a Blink in Phantom.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Solana: speed and cost make counter payments possible.
The pills show we built on real rails: Solana Pay, Actions, Pix over mTLS, Vault.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merchants: they feel the card-fee pain every day.
Consumers come through Pix familiarity; crypto users through Blinks.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Narration cue: merchant receives the full amount in SIMPAY; a 5% fee applies only when converting to Pix. The screenshot is an illustrative R$25 sale from https://simpay.tech/comerciante, not an actual customer transaction. Click the simulator in slideshow mode to play the embedded five-second clip. The same video is supplied separately. In PDF the video is shown as a static poster frame.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Growth is built into the product: every merchant and every customer can refer.
Rewards unlock only on real use, which keeps fake accounts out.
Fill in the 90-day targets before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SimPay grows beyond retail.
Same rails: the wallet, the token and Pix cash-out we already built.
Next: companies paying companies. Then: money coming from abroad.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B2B: large payments without bank cut-off times or weekend delays, with a receipt on-chain.
The loop matters: merchants paid in SIMPAY can pay suppliers without converting.
Remittances: fewer intermediaries, cash-out to Pix. Say clearly we will operate with licensed partners.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https://simpay.tech/comprar. Real public purchase-entry form, wallet address empty and amount entered only locally. No Pix charge, token delivery or payment completion was executed. Empty metrics placeholders were removed because the user has not defined traction figures and is presenting the product first.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Fixed supply of 5 billion, minted once.
Half goes to market liquidity so purchases and cash-outs always work.
20% returns to the community as cashback and referral rewards.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in Phase 1 on devnet, on purpose: prove the product first.
Next: audit, mainnet, and revoking the mint authority.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Team placeholders were replaced with product pillars because the user has not yet defined the team and wants to present the product before developing launch plans. Existing security and test statements are retained from the original user-provided deck, rather than independently verified in this environment.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line: "Pay like Pix. Own like crypto."
Invite judges to pay a till Blink on devnet.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30F"/>
        </a:solidFill>
      </p:bgPr>
    </p:bg>
    <p:spTree>
      <p:nvGrpSpPr>
        <p:cNvPr id="1" name=""/>
        <p:cNvGrpSpPr/>
        <p:nvPr/>
      </p:nvGrpSpPr>
      <p:grpSpPr>
        <a:xfrm>
          <a:off x="0" y="0"/>
          <a:ext cx="0" cy="0"/>
          <a:chOff x="0" y="0"/>
          <a:chExt cx="0" cy="0"/>
        </a:xfrm>
      </p:grpSpPr>
      <p:pic>
        <p:nvPicPr>
          <p:cNvPr id="20" name="Image 0" descr="preencoded.png">    </p:cNvPr>
          <p:cNvPicPr>
            <a:picLocks noChangeAspect="1"/>
          </p:cNvPicPr>
          <p:nvPr/>
        </p:nvPicPr>
        <p:blipFill>
          <a:blip r:embed="rId1"/>
          <a:srcRect l="0" r="0" t="0" b="0"/>
          <a:stretch/>
        </p:blipFill>
        <p:spPr>
          <a:xfrm>
            <a:off x="5619750" y="571500"/>
            <a:ext cx="4095750" cy="4519613"/>
          </a:xfrm>
          <a:prstGeom prst="rect">
            <a:avLst/>
          </a:prstGeom>
        </p:spPr>
      </p:pic>
      <p:pic>
        <p:nvPicPr>
          <p:cNvPr id="21" name="Image 1" descr="preencoded.png">    </p:cNvPr>
          <p:cNvPicPr>
            <a:picLocks noChangeAspect="1"/>
          </p:cNvPicPr>
          <p:nvPr/>
        </p:nvPicPr>
        <p:blipFill>
          <a:blip r:embed="rId2"/>
          <a:srcRect l="0" r="0" t="0" b="0"/>
          <a:stretch/>
        </p:blipFill>
        <p:spPr>
          <a:xfrm>
            <a:off x="571500" y="457200"/>
            <a:ext cx="1514475" cy="381000"/>
          </a:xfrm>
          <a:prstGeom prst="rect">
            <a:avLst/>
          </a:prstGeom>
        </p:spPr>
      </p:pic>
      <p:sp>
        <p:nvSpPr>
          <p:cNvPr id="25" name="TextBox 24"/>
          <p:cNvSpPr txBox="1"/>
          <p:nvPr/>
        </p:nvSpPr>
        <p:spPr>
          <a:xfrm>
            <a:off x="571500" y="1571625"/>
            <a:ext cx="4572000" cy="185115"/>
          </a:xfrm>
          <a:prstGeom prst="rect">
            <a:avLst/>
          </a:prstGeom>
          <a:noFill/>
        </p:spPr>
        <p:txBody>
          <a:bodyPr wrap="none" lIns="0" tIns="0" rIns="0" bIns="0">
            <a:noAutofit/>
          </a:bodyPr>
          <a:lstStyle/>
          <a:p>
            <a:pPr>
              <a:lnSpc>
                <a:spcPts val="956"/>
              </a:lnSpc>
              <a:defRPr sz="784" b="0">
                <a:solidFill>
                  <a:srgbClr val="BDF06B"/>
                </a:solidFill>
                <a:latin typeface="JetBrains Mono"/>
              </a:defRPr>
            </a:pPr>
            <a:r>
              <a:t>SOLANA  ·  COLOSSEUM 2026  ·  SUPERTEAM BRASIL</a:t>
            </a:r>
          </a:p>
        </p:txBody>
      </p:sp>
      <p:sp>
        <p:nvSpPr>
          <p:cNvPr id="23" name="Text 18"/>
          <p:cNvSpPr/>
          <p:nvPr/>
        </p:nvSpPr>
        <p:spPr>
          <a:xfrm>
            <a:off x="571500" y="1866900"/>
            <a:ext cx="5048250" cy="2114550"/>
          </a:xfrm>
          <a:prstGeom prst="rect">
            <a:avLst/>
          </a:prstGeom>
          <a:noFill/>
          <a:ln/>
        </p:spPr>
        <p:txBody>
          <a:bodyPr wrap="square" lIns="0" tIns="0" rIns="0" bIns="0" rtlCol="0" anchor="t"/>
          <a:lstStyle/>
          <a:p>
            <a:pPr algn="l" indent="0" marL="0">
              <a:lnSpc>
                <a:spcPts val="3967"/>
              </a:lnSpc>
              <a:buNone/>
            </a:pPr>
            <a:r>
              <a:rPr lang="en-US" sz="4133" b="1" spc="-145" kern="0" dirty="0">
                <a:solidFill>
                  <a:srgbClr val="F7F7F2">
                    <a:alpha val="99000"/>
                  </a:srgbClr>
                </a:solidFill>
                <a:latin typeface="Inter" pitchFamily="34" charset="0"/>
                <a:ea typeface="Inter" pitchFamily="34" charset="-122"/>
                <a:cs typeface="Inter" pitchFamily="34" charset="-120"/>
              </a:rPr>
              <a:t>Crypto with</a:t>
            </a:r>
            <a:endParaRPr lang="en-US" sz="4133" dirty="0"/>
          </a:p>
          <a:p>
            <a:pPr algn="l" indent="0" marL="0">
              <a:lnSpc>
                <a:spcPts val="3967"/>
              </a:lnSpc>
              <a:buNone/>
            </a:pPr>
            <a:r>
              <a:rPr lang="en-US" sz="4133" b="1" spc="-145" kern="0" dirty="0">
                <a:solidFill>
                  <a:srgbClr val="F7F7F2">
                    <a:alpha val="99000"/>
                  </a:srgbClr>
                </a:solidFill>
                <a:latin typeface="Inter" pitchFamily="34" charset="0"/>
                <a:ea typeface="Inter" pitchFamily="34" charset="-122"/>
                <a:cs typeface="Inter" pitchFamily="34" charset="-120"/>
              </a:rPr>
              <a:t>a real purpose,</a:t>
            </a:r>
            <a:endParaRPr lang="en-US" sz="4133" dirty="0"/>
          </a:p>
          <a:p>
            <a:pPr algn="l" indent="0" marL="0">
              <a:lnSpc>
                <a:spcPts val="3967"/>
              </a:lnSpc>
              <a:buNone/>
            </a:pPr>
            <a:r>
              <a:rPr lang="en-US" sz="4133" b="1" spc="-145" kern="0" dirty="0">
                <a:solidFill>
                  <a:srgbClr val="F7F7F2">
                    <a:alpha val="99000"/>
                  </a:srgbClr>
                </a:solidFill>
                <a:latin typeface="Inter" pitchFamily="34" charset="0"/>
                <a:ea typeface="Inter" pitchFamily="34" charset="-122"/>
                <a:cs typeface="Inter" pitchFamily="34" charset="-120"/>
              </a:rPr>
              <a:t>in its owner’s</a:t>
            </a:r>
            <a:endParaRPr lang="en-US" sz="4133" dirty="0"/>
          </a:p>
          <a:p>
            <a:pPr algn="l" indent="0" marL="0">
              <a:lnSpc>
                <a:spcPts val="3967"/>
              </a:lnSpc>
              <a:buNone/>
            </a:pPr>
            <a:r>
              <a:rPr lang="en-US" sz="4133" b="1" spc="-145" kern="0" dirty="0">
                <a:solidFill>
                  <a:srgbClr val="F7F7F2">
                    <a:alpha val="99000"/>
                  </a:srgbClr>
                </a:solidFill>
                <a:latin typeface="Inter" pitchFamily="34" charset="0"/>
                <a:ea typeface="Inter" pitchFamily="34" charset="-122"/>
                <a:cs typeface="Inter" pitchFamily="34" charset="-120"/>
              </a:rPr>
              <a:t>hands.</a:t>
            </a:r>
            <a:endParaRPr lang="en-US" sz="4133" dirty="0"/>
          </a:p>
        </p:txBody>
      </p:sp>
      <p:sp>
        <p:nvSpPr>
          <p:cNvPr id="24" name="Text 19"/>
          <p:cNvSpPr/>
          <p:nvPr/>
        </p:nvSpPr>
        <p:spPr>
          <a:xfrm>
            <a:off x="571500" y="4333875"/>
            <a:ext cx="4762500" cy="195263"/>
          </a:xfrm>
          <a:prstGeom prst="rect">
            <a:avLst/>
          </a:prstGeom>
          <a:noFill/>
          <a:ln/>
        </p:spPr>
        <p:txBody>
          <a:bodyPr wrap="square" lIns="0" tIns="0" rIns="0" bIns="0" rtlCol="0" anchor="t"/>
          <a:lstStyle/>
          <a:p>
            <a:pPr algn="l" indent="0" marL="0">
              <a:lnSpc>
                <a:spcPts val="1466"/>
              </a:lnSpc>
              <a:buNone/>
            </a:pPr>
            <a:r>
              <a:rPr lang="en-US" sz="1211" dirty="0">
                <a:solidFill>
                  <a:srgbClr val="B2BDB2">
                    <a:alpha val="99000"/>
                  </a:srgbClr>
                </a:solidFill>
                <a:latin typeface="Inter" pitchFamily="34" charset="0"/>
                <a:ea typeface="Inter" pitchFamily="34" charset="-122"/>
                <a:cs typeface="Inter" pitchFamily="34" charset="-120"/>
              </a:rPr>
              <a:t>Buy with Pix. Pay with a tap. Keep the keys.</a:t>
            </a:r>
            <a:endParaRPr lang="en-US" sz="121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2"/>
        </a:solidFill>
      </p:bgPr>
    </p:bg>
    <p:spTree>
      <p:nvGrpSpPr>
        <p:cNvPr id="1" name=""/>
        <p:cNvGrpSpPr/>
        <p:nvPr/>
      </p:nvGrpSpPr>
      <p:grpSpPr>
        <a:xfrm>
          <a:off x="0" y="0"/>
          <a:ext cx="0" cy="0"/>
          <a:chOff x="0" y="0"/>
          <a:chExt cx="0" cy="0"/>
        </a:xfrm>
      </p:grpSpPr>
      <p:sp>
        <p:nvSpPr>
          <p:cNvPr id="23" name="TextBox 22"/>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545C54"/>
                </a:solidFill>
                <a:latin typeface="JetBrains Mono"/>
              </a:defRPr>
            </a:pPr>
            <a:r>
              <a:t>01 — THE PROBLEM</a:t>
            </a:r>
          </a:p>
        </p:txBody>
      </p:sp>
      <p:sp>
        <p:nvSpPr>
          <p:cNvPr id="8" name="Text 5"/>
          <p:cNvSpPr/>
          <p:nvPr/>
        </p:nvSpPr>
        <p:spPr>
          <a:xfrm>
            <a:off x="571500" y="809625"/>
            <a:ext cx="6191250" cy="1285875"/>
          </a:xfrm>
          <a:prstGeom prst="rect">
            <a:avLst/>
          </a:prstGeom>
          <a:noFill/>
          <a:ln/>
        </p:spPr>
        <p:txBody>
          <a:bodyPr wrap="square" lIns="0" tIns="0" rIns="0" bIns="0" rtlCol="0" anchor="t"/>
          <a:lstStyle/>
          <a:p>
            <a:pPr algn="l" indent="0" marL="0">
              <a:lnSpc>
                <a:spcPts val="3212"/>
              </a:lnSpc>
              <a:buNone/>
            </a:pPr>
            <a:r>
              <a:rPr lang="en-US" sz="3278" b="1" spc="-98" kern="0" dirty="0">
                <a:solidFill>
                  <a:srgbClr val="0E130F">
                    <a:alpha val="99000"/>
                  </a:srgbClr>
                </a:solidFill>
                <a:latin typeface="Inter" pitchFamily="34" charset="0"/>
                <a:ea typeface="Inter" pitchFamily="34" charset="-122"/>
                <a:cs typeface="Inter" pitchFamily="34" charset="-120"/>
              </a:rPr>
              <a:t>Brazil pays instantly.</a:t>
            </a:r>
            <a:endParaRPr lang="en-US" sz="3278" dirty="0"/>
          </a:p>
          <a:p>
            <a:pPr algn="l" indent="0" marL="0">
              <a:lnSpc>
                <a:spcPts val="3212"/>
              </a:lnSpc>
              <a:buNone/>
            </a:pPr>
            <a:r>
              <a:rPr lang="en-US" sz="3278" b="1" spc="-98" kern="0" dirty="0">
                <a:solidFill>
                  <a:srgbClr val="0E130F">
                    <a:alpha val="99000"/>
                  </a:srgbClr>
                </a:solidFill>
                <a:latin typeface="Inter" pitchFamily="34" charset="0"/>
                <a:ea typeface="Inter" pitchFamily="34" charset="-122"/>
                <a:cs typeface="Inter" pitchFamily="34" charset="-120"/>
              </a:rPr>
              <a:t>It still doesn’t own</a:t>
            </a:r>
            <a:endParaRPr lang="en-US" sz="3278" dirty="0"/>
          </a:p>
          <a:p>
            <a:pPr algn="l" indent="0" marL="0">
              <a:lnSpc>
                <a:spcPts val="3212"/>
              </a:lnSpc>
              <a:buNone/>
            </a:pPr>
            <a:r>
              <a:rPr lang="en-US" sz="3278" b="1" spc="-98" kern="0" dirty="0">
                <a:solidFill>
                  <a:srgbClr val="0E130F">
                    <a:alpha val="99000"/>
                  </a:srgbClr>
                </a:solidFill>
                <a:latin typeface="Inter" pitchFamily="34" charset="0"/>
                <a:ea typeface="Inter" pitchFamily="34" charset="-122"/>
                <a:cs typeface="Inter" pitchFamily="34" charset="-120"/>
              </a:rPr>
              <a:t>its money.</a:t>
            </a:r>
            <a:endParaRPr lang="en-US" sz="3278" dirty="0"/>
          </a:p>
        </p:txBody>
      </p:sp>
      <p:sp>
        <p:nvSpPr>
          <p:cNvPr id="9" name="Shape 6"/>
          <p:cNvSpPr/>
          <p:nvPr/>
        </p:nvSpPr>
        <p:spPr>
          <a:xfrm>
            <a:off x="571500" y="3143250"/>
            <a:ext cx="2286000" cy="19050"/>
          </a:xfrm>
          <a:prstGeom prst="rect">
            <a:avLst/>
          </a:prstGeom>
          <a:solidFill>
            <a:srgbClr val="0E130F"/>
          </a:solidFill>
          <a:ln/>
        </p:spPr>
        <p:txBody>
          <a:bodyPr/>
          <a:p/>
        </p:txBody>
      </p:sp>
      <p:sp>
        <p:nvSpPr>
          <p:cNvPr id="24" name="TextBox 23"/>
          <p:cNvSpPr txBox="1"/>
          <p:nvPr/>
        </p:nvSpPr>
        <p:spPr>
          <a:xfrm>
            <a:off x="571500" y="3276600"/>
            <a:ext cx="178308" cy="185115"/>
          </a:xfrm>
          <a:prstGeom prst="rect">
            <a:avLst/>
          </a:prstGeom>
          <a:noFill/>
        </p:spPr>
        <p:txBody>
          <a:bodyPr wrap="none" lIns="0" tIns="0" rIns="0" bIns="0">
            <a:noAutofit/>
          </a:bodyPr>
          <a:lstStyle/>
          <a:p>
            <a:pPr>
              <a:lnSpc>
                <a:spcPts val="956"/>
              </a:lnSpc>
              <a:defRPr sz="784" b="1">
                <a:solidFill>
                  <a:srgbClr val="545C54"/>
                </a:solidFill>
                <a:latin typeface="JetBrains Mono"/>
              </a:defRPr>
            </a:pPr>
            <a:r>
              <a:t>01</a:t>
            </a:r>
          </a:p>
        </p:txBody>
      </p:sp>
      <p:sp>
        <p:nvSpPr>
          <p:cNvPr id="11" name="Text 8"/>
          <p:cNvSpPr/>
          <p:nvPr/>
        </p:nvSpPr>
        <p:spPr>
          <a:xfrm>
            <a:off x="571500" y="3467100"/>
            <a:ext cx="2286000" cy="190500"/>
          </a:xfrm>
          <a:prstGeom prst="rect">
            <a:avLst/>
          </a:prstGeom>
          <a:noFill/>
          <a:ln/>
        </p:spPr>
        <p:txBody>
          <a:bodyPr wrap="square" lIns="0" tIns="0" rIns="0" bIns="0" rtlCol="0" anchor="t"/>
          <a:lstStyle/>
          <a:p>
            <a:pPr algn="l" indent="0" marL="0">
              <a:lnSpc>
                <a:spcPts val="1436"/>
              </a:lnSpc>
              <a:buNone/>
            </a:pPr>
            <a:r>
              <a:rPr lang="en-US" sz="1283" b="1" spc="-13" kern="0" dirty="0">
                <a:solidFill>
                  <a:srgbClr val="0E130F">
                    <a:alpha val="99000"/>
                  </a:srgbClr>
                </a:solidFill>
                <a:latin typeface="Inter" pitchFamily="34" charset="0"/>
                <a:ea typeface="Inter" pitchFamily="34" charset="-122"/>
                <a:cs typeface="Inter" pitchFamily="34" charset="-120"/>
              </a:rPr>
              <a:t>Middlemen in every sale</a:t>
            </a:r>
            <a:endParaRPr lang="en-US" sz="1283" dirty="0"/>
          </a:p>
        </p:txBody>
      </p:sp>
      <p:sp>
        <p:nvSpPr>
          <p:cNvPr id="12" name="Text 9"/>
          <p:cNvSpPr/>
          <p:nvPr/>
        </p:nvSpPr>
        <p:spPr>
          <a:xfrm>
            <a:off x="571500" y="3905250"/>
            <a:ext cx="2190750" cy="514350"/>
          </a:xfrm>
          <a:prstGeom prst="rect">
            <a:avLst/>
          </a:prstGeom>
          <a:noFill/>
          <a:ln/>
        </p:spPr>
        <p:txBody>
          <a:bodyPr wrap="square" lIns="0" tIns="0" rIns="0" bIns="0" rtlCol="0" anchor="t"/>
          <a:lstStyle/>
          <a:p>
            <a:pPr algn="l" indent="0" marL="0">
              <a:lnSpc>
                <a:spcPts val="1297"/>
              </a:lnSpc>
              <a:buNone/>
            </a:pPr>
            <a:r>
              <a:rPr lang="en-US" sz="926" dirty="0">
                <a:solidFill>
                  <a:srgbClr val="545C54">
                    <a:alpha val="99000"/>
                  </a:srgbClr>
                </a:solidFill>
                <a:latin typeface="Inter" pitchFamily="34" charset="0"/>
                <a:ea typeface="Inter" pitchFamily="34" charset="-122"/>
                <a:cs typeface="Inter" pitchFamily="34" charset="-120"/>
              </a:rPr>
              <a:t>Card machines take a cut of each payment and hold the merchant’s money for days.</a:t>
            </a:r>
            <a:endParaRPr lang="en-US" sz="926" dirty="0"/>
          </a:p>
        </p:txBody>
      </p:sp>
      <p:sp>
        <p:nvSpPr>
          <p:cNvPr id="13" name="Shape 10"/>
          <p:cNvSpPr/>
          <p:nvPr/>
        </p:nvSpPr>
        <p:spPr>
          <a:xfrm>
            <a:off x="3238500" y="3143250"/>
            <a:ext cx="2286000" cy="19050"/>
          </a:xfrm>
          <a:prstGeom prst="rect">
            <a:avLst/>
          </a:prstGeom>
          <a:solidFill>
            <a:srgbClr val="0E130F"/>
          </a:solidFill>
          <a:ln/>
        </p:spPr>
        <p:txBody>
          <a:bodyPr/>
          <a:p/>
        </p:txBody>
      </p:sp>
      <p:sp>
        <p:nvSpPr>
          <p:cNvPr id="25" name="TextBox 24"/>
          <p:cNvSpPr txBox="1"/>
          <p:nvPr/>
        </p:nvSpPr>
        <p:spPr>
          <a:xfrm>
            <a:off x="3238500" y="3276600"/>
            <a:ext cx="178308" cy="185115"/>
          </a:xfrm>
          <a:prstGeom prst="rect">
            <a:avLst/>
          </a:prstGeom>
          <a:noFill/>
        </p:spPr>
        <p:txBody>
          <a:bodyPr wrap="none" lIns="0" tIns="0" rIns="0" bIns="0">
            <a:noAutofit/>
          </a:bodyPr>
          <a:lstStyle/>
          <a:p>
            <a:pPr>
              <a:lnSpc>
                <a:spcPts val="956"/>
              </a:lnSpc>
              <a:defRPr sz="784" b="1">
                <a:solidFill>
                  <a:srgbClr val="545C54"/>
                </a:solidFill>
                <a:latin typeface="JetBrains Mono"/>
              </a:defRPr>
            </a:pPr>
            <a:r>
              <a:t>02</a:t>
            </a:r>
          </a:p>
        </p:txBody>
      </p:sp>
      <p:sp>
        <p:nvSpPr>
          <p:cNvPr id="15" name="Text 12"/>
          <p:cNvSpPr/>
          <p:nvPr/>
        </p:nvSpPr>
        <p:spPr>
          <a:xfrm>
            <a:off x="3238500" y="3467100"/>
            <a:ext cx="2286000" cy="190500"/>
          </a:xfrm>
          <a:prstGeom prst="rect">
            <a:avLst/>
          </a:prstGeom>
          <a:noFill/>
          <a:ln/>
        </p:spPr>
        <p:txBody>
          <a:bodyPr wrap="square" lIns="0" tIns="0" rIns="0" bIns="0" rtlCol="0" anchor="t"/>
          <a:lstStyle/>
          <a:p>
            <a:pPr algn="l" indent="0" marL="0">
              <a:lnSpc>
                <a:spcPts val="1436"/>
              </a:lnSpc>
              <a:buNone/>
            </a:pPr>
            <a:r>
              <a:rPr lang="en-US" sz="1283" b="1" spc="-13" kern="0" dirty="0">
                <a:solidFill>
                  <a:srgbClr val="0E130F">
                    <a:alpha val="99000"/>
                  </a:srgbClr>
                </a:solidFill>
                <a:latin typeface="Inter" pitchFamily="34" charset="0"/>
                <a:ea typeface="Inter" pitchFamily="34" charset="-122"/>
                <a:cs typeface="Inter" pitchFamily="34" charset="-120"/>
              </a:rPr>
              <a:t>Crypto with no real use</a:t>
            </a:r>
            <a:endParaRPr lang="en-US" sz="1283" dirty="0"/>
          </a:p>
        </p:txBody>
      </p:sp>
      <p:sp>
        <p:nvSpPr>
          <p:cNvPr id="16" name="Text 13"/>
          <p:cNvSpPr/>
          <p:nvPr/>
        </p:nvSpPr>
        <p:spPr>
          <a:xfrm>
            <a:off x="3238500" y="3905250"/>
            <a:ext cx="2190750" cy="342900"/>
          </a:xfrm>
          <a:prstGeom prst="rect">
            <a:avLst/>
          </a:prstGeom>
          <a:noFill/>
          <a:ln/>
        </p:spPr>
        <p:txBody>
          <a:bodyPr wrap="square" lIns="0" tIns="0" rIns="0" bIns="0" rtlCol="0" anchor="t"/>
          <a:lstStyle/>
          <a:p>
            <a:pPr algn="l" indent="0" marL="0">
              <a:lnSpc>
                <a:spcPts val="1297"/>
              </a:lnSpc>
              <a:buNone/>
            </a:pPr>
            <a:r>
              <a:rPr lang="en-US" sz="926" dirty="0">
                <a:solidFill>
                  <a:srgbClr val="545C54">
                    <a:alpha val="99000"/>
                  </a:srgbClr>
                </a:solidFill>
                <a:latin typeface="Inter" pitchFamily="34" charset="0"/>
                <a:ea typeface="Inter" pitchFamily="34" charset="-122"/>
                <a:cs typeface="Inter" pitchFamily="34" charset="-120"/>
              </a:rPr>
              <a:t>Most tokens sit idle on exchanges. You can’t buy a coffee with them.</a:t>
            </a:r>
            <a:endParaRPr lang="en-US" sz="926" dirty="0"/>
          </a:p>
        </p:txBody>
      </p:sp>
      <p:sp>
        <p:nvSpPr>
          <p:cNvPr id="17" name="Shape 14"/>
          <p:cNvSpPr/>
          <p:nvPr/>
        </p:nvSpPr>
        <p:spPr>
          <a:xfrm>
            <a:off x="5905500" y="3143250"/>
            <a:ext cx="2286000" cy="19050"/>
          </a:xfrm>
          <a:prstGeom prst="rect">
            <a:avLst/>
          </a:prstGeom>
          <a:solidFill>
            <a:srgbClr val="0E130F"/>
          </a:solidFill>
          <a:ln/>
        </p:spPr>
        <p:txBody>
          <a:bodyPr/>
          <a:p/>
        </p:txBody>
      </p:sp>
      <p:sp>
        <p:nvSpPr>
          <p:cNvPr id="26" name="TextBox 25"/>
          <p:cNvSpPr txBox="1"/>
          <p:nvPr/>
        </p:nvSpPr>
        <p:spPr>
          <a:xfrm>
            <a:off x="5905500" y="3276600"/>
            <a:ext cx="178308" cy="185115"/>
          </a:xfrm>
          <a:prstGeom prst="rect">
            <a:avLst/>
          </a:prstGeom>
          <a:noFill/>
        </p:spPr>
        <p:txBody>
          <a:bodyPr wrap="none" lIns="0" tIns="0" rIns="0" bIns="0">
            <a:noAutofit/>
          </a:bodyPr>
          <a:lstStyle/>
          <a:p>
            <a:pPr>
              <a:lnSpc>
                <a:spcPts val="956"/>
              </a:lnSpc>
              <a:defRPr sz="784" b="1">
                <a:solidFill>
                  <a:srgbClr val="545C54"/>
                </a:solidFill>
                <a:latin typeface="JetBrains Mono"/>
              </a:defRPr>
            </a:pPr>
            <a:r>
              <a:t>03</a:t>
            </a:r>
          </a:p>
        </p:txBody>
      </p:sp>
      <p:sp>
        <p:nvSpPr>
          <p:cNvPr id="19" name="Text 16"/>
          <p:cNvSpPr/>
          <p:nvPr/>
        </p:nvSpPr>
        <p:spPr>
          <a:xfrm>
            <a:off x="5905500" y="3467100"/>
            <a:ext cx="2286000" cy="190500"/>
          </a:xfrm>
          <a:prstGeom prst="rect">
            <a:avLst/>
          </a:prstGeom>
          <a:noFill/>
          <a:ln/>
        </p:spPr>
        <p:txBody>
          <a:bodyPr wrap="square" lIns="0" tIns="0" rIns="0" bIns="0" rtlCol="0" anchor="t"/>
          <a:lstStyle/>
          <a:p>
            <a:pPr algn="l" indent="0" marL="0">
              <a:lnSpc>
                <a:spcPts val="1436"/>
              </a:lnSpc>
              <a:buNone/>
            </a:pPr>
            <a:r>
              <a:rPr lang="en-US" sz="1283" b="1" spc="-13" kern="0" dirty="0">
                <a:solidFill>
                  <a:srgbClr val="0E130F">
                    <a:alpha val="99000"/>
                  </a:srgbClr>
                </a:solidFill>
                <a:latin typeface="Inter" pitchFamily="34" charset="0"/>
                <a:ea typeface="Inter" pitchFamily="34" charset="-122"/>
                <a:cs typeface="Inter" pitchFamily="34" charset="-120"/>
              </a:rPr>
              <a:t>Keys held by someone else</a:t>
            </a:r>
            <a:endParaRPr lang="en-US" sz="1283" dirty="0"/>
          </a:p>
        </p:txBody>
      </p:sp>
      <p:sp>
        <p:nvSpPr>
          <p:cNvPr id="20" name="Text 17"/>
          <p:cNvSpPr/>
          <p:nvPr/>
        </p:nvSpPr>
        <p:spPr>
          <a:xfrm>
            <a:off x="5905500" y="3905250"/>
            <a:ext cx="2190750" cy="514350"/>
          </a:xfrm>
          <a:prstGeom prst="rect">
            <a:avLst/>
          </a:prstGeom>
          <a:noFill/>
          <a:ln/>
        </p:spPr>
        <p:txBody>
          <a:bodyPr wrap="square" lIns="0" tIns="0" rIns="0" bIns="0" rtlCol="0" anchor="t"/>
          <a:lstStyle/>
          <a:p>
            <a:pPr algn="l" indent="0" marL="0">
              <a:lnSpc>
                <a:spcPts val="1297"/>
              </a:lnSpc>
              <a:buNone/>
            </a:pPr>
            <a:r>
              <a:rPr lang="en-US" sz="926" dirty="0">
                <a:solidFill>
                  <a:srgbClr val="545C54">
                    <a:alpha val="99000"/>
                  </a:srgbClr>
                </a:solidFill>
                <a:latin typeface="Inter" pitchFamily="34" charset="0"/>
                <a:ea typeface="Inter" pitchFamily="34" charset="-122"/>
                <a:cs typeface="Inter" pitchFamily="34" charset="-120"/>
              </a:rPr>
              <a:t>Buying crypto usually means leaving your keys, and your money, with an exchange.</a:t>
            </a:r>
            <a:endParaRPr lang="en-US" sz="926" dirty="0"/>
          </a:p>
        </p:txBody>
      </p:sp>
      <p:sp>
        <p:nvSpPr>
          <p:cNvPr id="27" name="TextBox 26"/>
          <p:cNvSpPr txBox="1"/>
          <p:nvPr/>
        </p:nvSpPr>
        <p:spPr>
          <a:xfrm>
            <a:off x="571500" y="4762500"/>
            <a:ext cx="237744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SIMPAY · COLOSSEUM 2026</a:t>
            </a:r>
          </a:p>
        </p:txBody>
      </p:sp>
      <p:sp>
        <p:nvSpPr>
          <p:cNvPr id="28" name="TextBox 27"/>
          <p:cNvSpPr txBox="1"/>
          <p:nvPr/>
        </p:nvSpPr>
        <p:spPr>
          <a:xfrm>
            <a:off x="8381999" y="4762500"/>
            <a:ext cx="19050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BDF06B"/>
        </a:solidFill>
      </p:bgPr>
    </p:bg>
    <p:spTree>
      <p:nvGrpSpPr>
        <p:cNvPr id="1" name=""/>
        <p:cNvGrpSpPr/>
        <p:nvPr/>
      </p:nvGrpSpPr>
      <p:grpSpPr>
        <a:xfrm>
          <a:off x="0" y="0"/>
          <a:ext cx="0" cy="0"/>
          <a:chOff x="0" y="0"/>
          <a:chExt cx="0" cy="0"/>
        </a:xfrm>
      </p:grpSpPr>
      <p:pic>
        <p:nvPicPr>
          <p:cNvPr id="25" name="Image 0" descr="preencoded.png">    </p:cNvPr>
          <p:cNvPicPr>
            <a:picLocks noChangeAspect="1"/>
          </p:cNvPicPr>
          <p:nvPr/>
        </p:nvPicPr>
        <p:blipFill>
          <a:blip r:embed="rId1"/>
          <a:srcRect l="0" r="11429" t="0" b="20984"/>
          <a:stretch/>
        </p:blipFill>
        <p:spPr>
          <a:xfrm>
            <a:off x="6191250" y="2238375"/>
            <a:ext cx="2952750" cy="2905125"/>
          </a:xfrm>
          <a:prstGeom prst="rect">
            <a:avLst/>
          </a:prstGeom>
        </p:spPr>
      </p:pic>
      <p:sp>
        <p:nvSpPr>
          <p:cNvPr id="29" name="TextBox 28"/>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0E130F"/>
                </a:solidFill>
                <a:latin typeface="JetBrains Mono"/>
              </a:defRPr>
            </a:pPr>
            <a:r>
              <a:t>02 — OUR PURPOSE</a:t>
            </a:r>
          </a:p>
        </p:txBody>
      </p:sp>
      <p:sp>
        <p:nvSpPr>
          <p:cNvPr id="27" name="Text 23"/>
          <p:cNvSpPr/>
          <p:nvPr/>
        </p:nvSpPr>
        <p:spPr>
          <a:xfrm>
            <a:off x="571500" y="904875"/>
            <a:ext cx="6191250" cy="1866900"/>
          </a:xfrm>
          <a:prstGeom prst="rect">
            <a:avLst/>
          </a:prstGeom>
          <a:noFill/>
          <a:ln/>
        </p:spPr>
        <p:txBody>
          <a:bodyPr wrap="square" lIns="0" tIns="0" rIns="0" bIns="0" rtlCol="0" anchor="t"/>
          <a:lstStyle/>
          <a:p>
            <a:pPr algn="l" indent="0" marL="0">
              <a:lnSpc>
                <a:spcPts val="3491"/>
              </a:lnSpc>
              <a:buNone/>
            </a:pPr>
            <a:r>
              <a:rPr lang="en-US" sz="3563" b="1" spc="-125" kern="0" dirty="0">
                <a:solidFill>
                  <a:srgbClr val="0E130F">
                    <a:alpha val="99000"/>
                  </a:srgbClr>
                </a:solidFill>
                <a:latin typeface="Inter" pitchFamily="34" charset="0"/>
                <a:ea typeface="Inter" pitchFamily="34" charset="-122"/>
                <a:cs typeface="Inter" pitchFamily="34" charset="-120"/>
              </a:rPr>
              <a:t>Make crypto simple,</a:t>
            </a:r>
            <a:endParaRPr lang="en-US" sz="3563" dirty="0"/>
          </a:p>
          <a:p>
            <a:pPr algn="l" indent="0" marL="0">
              <a:lnSpc>
                <a:spcPts val="3491"/>
              </a:lnSpc>
              <a:buNone/>
            </a:pPr>
            <a:r>
              <a:rPr lang="en-US" sz="3563" b="1" spc="-125" kern="0" dirty="0">
                <a:solidFill>
                  <a:srgbClr val="0E130F">
                    <a:alpha val="99000"/>
                  </a:srgbClr>
                </a:solidFill>
                <a:latin typeface="Inter" pitchFamily="34" charset="0"/>
                <a:ea typeface="Inter" pitchFamily="34" charset="-122"/>
                <a:cs typeface="Inter" pitchFamily="34" charset="-120"/>
              </a:rPr>
              <a:t>useful for everything,</a:t>
            </a:r>
            <a:endParaRPr lang="en-US" sz="3563" dirty="0"/>
          </a:p>
          <a:p>
            <a:pPr algn="l" indent="0" marL="0">
              <a:lnSpc>
                <a:spcPts val="3491"/>
              </a:lnSpc>
              <a:buNone/>
            </a:pPr>
            <a:r>
              <a:rPr lang="en-US" sz="3563" b="1" spc="-125" kern="0" dirty="0">
                <a:solidFill>
                  <a:srgbClr val="0E130F">
                    <a:alpha val="99000"/>
                  </a:srgbClr>
                </a:solidFill>
                <a:latin typeface="Inter" pitchFamily="34" charset="0"/>
                <a:ea typeface="Inter" pitchFamily="34" charset="-122"/>
                <a:cs typeface="Inter" pitchFamily="34" charset="-120"/>
              </a:rPr>
              <a:t>and truly owned by</a:t>
            </a:r>
            <a:endParaRPr lang="en-US" sz="3563" dirty="0"/>
          </a:p>
          <a:p>
            <a:pPr algn="l" indent="0" marL="0">
              <a:lnSpc>
                <a:spcPts val="3491"/>
              </a:lnSpc>
              <a:buNone/>
            </a:pPr>
            <a:r>
              <a:rPr lang="en-US" sz="3563" b="1" spc="-125" kern="0" dirty="0">
                <a:solidFill>
                  <a:srgbClr val="0E130F">
                    <a:alpha val="99000"/>
                  </a:srgbClr>
                </a:solidFill>
                <a:latin typeface="Inter" pitchFamily="34" charset="0"/>
                <a:ea typeface="Inter" pitchFamily="34" charset="-122"/>
                <a:cs typeface="Inter" pitchFamily="34" charset="-120"/>
              </a:rPr>
              <a:t>the people who hold it.</a:t>
            </a:r>
            <a:endParaRPr lang="en-US" sz="3563" dirty="0"/>
          </a:p>
        </p:txBody>
      </p:sp>
      <p:sp>
        <p:nvSpPr>
          <p:cNvPr id="28" name="Text 24"/>
          <p:cNvSpPr/>
          <p:nvPr/>
        </p:nvSpPr>
        <p:spPr>
          <a:xfrm>
            <a:off x="571500" y="4095750"/>
            <a:ext cx="5238750" cy="209550"/>
          </a:xfrm>
          <a:prstGeom prst="rect">
            <a:avLst/>
          </a:prstGeom>
          <a:noFill/>
          <a:ln/>
        </p:spPr>
        <p:txBody>
          <a:bodyPr wrap="square" lIns="0" tIns="0" rIns="0" bIns="0" rtlCol="0" anchor="t"/>
          <a:lstStyle/>
          <a:p>
            <a:pPr algn="l" indent="0" marL="0">
              <a:lnSpc>
                <a:spcPts val="1552"/>
              </a:lnSpc>
              <a:buNone/>
            </a:pPr>
            <a:r>
              <a:rPr lang="en-US" sz="1283" b="1" dirty="0">
                <a:solidFill>
                  <a:srgbClr val="0E130F">
                    <a:alpha val="99000"/>
                  </a:srgbClr>
                </a:solidFill>
                <a:latin typeface="Inter" pitchFamily="34" charset="0"/>
                <a:ea typeface="Inter" pitchFamily="34" charset="-122"/>
                <a:cs typeface="Inter" pitchFamily="34" charset="-120"/>
              </a:rPr>
              <a:t>No bank. No middleman. Just you and your wallet.</a:t>
            </a:r>
            <a:endParaRPr lang="en-US" sz="1283"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30F"/>
        </a:solidFill>
      </p:bgPr>
    </p:bg>
    <p:spTree>
      <p:nvGrpSpPr>
        <p:cNvPr id="1" name=""/>
        <p:cNvGrpSpPr/>
        <p:nvPr/>
      </p:nvGrpSpPr>
      <p:grpSpPr>
        <a:xfrm>
          <a:off x="0" y="0"/>
          <a:ext cx="0" cy="0"/>
          <a:chOff x="0" y="0"/>
          <a:chExt cx="0" cy="0"/>
        </a:xfrm>
      </p:grpSpPr>
      <p:sp>
        <p:nvSpPr>
          <p:cNvPr id="46" name="TextBox 45"/>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BDF06B"/>
                </a:solidFill>
                <a:latin typeface="JetBrains Mono"/>
              </a:defRPr>
            </a:pPr>
            <a:r>
              <a:t>03 — HOW IT WORKS</a:t>
            </a:r>
          </a:p>
        </p:txBody>
      </p:sp>
      <p:sp>
        <p:nvSpPr>
          <p:cNvPr id="25" name="Text 22"/>
          <p:cNvSpPr/>
          <p:nvPr/>
        </p:nvSpPr>
        <p:spPr>
          <a:xfrm>
            <a:off x="571500" y="809625"/>
            <a:ext cx="6191250" cy="723900"/>
          </a:xfrm>
          <a:prstGeom prst="rect">
            <a:avLst/>
          </a:prstGeom>
          <a:noFill/>
          <a:ln/>
        </p:spPr>
        <p:txBody>
          <a:bodyPr wrap="square" lIns="0" tIns="0" rIns="0" bIns="0" rtlCol="0" anchor="t"/>
          <a:lstStyle/>
          <a:p>
            <a:pPr algn="l" indent="0" marL="0">
              <a:lnSpc>
                <a:spcPts val="2708"/>
              </a:lnSpc>
              <a:buNone/>
            </a:pPr>
            <a:r>
              <a:rPr lang="en-US" sz="2708" b="1" spc="-81" kern="0" dirty="0">
                <a:solidFill>
                  <a:srgbClr val="F7F7F2">
                    <a:alpha val="99000"/>
                  </a:srgbClr>
                </a:solidFill>
                <a:latin typeface="Inter" pitchFamily="34" charset="0"/>
                <a:ea typeface="Inter" pitchFamily="34" charset="-122"/>
                <a:cs typeface="Inter" pitchFamily="34" charset="-120"/>
              </a:rPr>
              <a:t>From Pix to the counter</a:t>
            </a:r>
            <a:endParaRPr lang="en-US" sz="2708" dirty="0"/>
          </a:p>
          <a:p>
            <a:pPr algn="l" indent="0" marL="0">
              <a:lnSpc>
                <a:spcPts val="2708"/>
              </a:lnSpc>
              <a:buNone/>
            </a:pPr>
            <a:r>
              <a:rPr lang="en-US" sz="2708" b="1" spc="-81" kern="0" dirty="0">
                <a:solidFill>
                  <a:srgbClr val="F7F7F2">
                    <a:alpha val="99000"/>
                  </a:srgbClr>
                </a:solidFill>
                <a:latin typeface="Inter" pitchFamily="34" charset="0"/>
                <a:ea typeface="Inter" pitchFamily="34" charset="-122"/>
                <a:cs typeface="Inter" pitchFamily="34" charset="-120"/>
              </a:rPr>
              <a:t>in four steps.</a:t>
            </a:r>
            <a:endParaRPr lang="en-US" sz="2708" dirty="0"/>
          </a:p>
        </p:txBody>
      </p:sp>
      <p:sp>
        <p:nvSpPr>
          <p:cNvPr id="26" name="Shape 23"/>
          <p:cNvSpPr/>
          <p:nvPr/>
        </p:nvSpPr>
        <p:spPr>
          <a:xfrm>
            <a:off x="762000" y="2686050"/>
            <a:ext cx="7429500" cy="19050"/>
          </a:xfrm>
          <a:prstGeom prst="rect">
            <a:avLst/>
          </a:prstGeom>
          <a:solidFill>
            <a:srgbClr val="333D33"/>
          </a:solidFill>
          <a:ln/>
        </p:spPr>
        <p:txBody>
          <a:bodyPr/>
          <a:p/>
        </p:txBody>
      </p:sp>
      <p:sp>
        <p:nvSpPr>
          <p:cNvPr id="27" name="Shape 24"/>
          <p:cNvSpPr/>
          <p:nvPr/>
        </p:nvSpPr>
        <p:spPr>
          <a:xfrm>
            <a:off x="762000" y="2686050"/>
            <a:ext cx="5572125" cy="19050"/>
          </a:xfrm>
          <a:prstGeom prst="rect">
            <a:avLst/>
          </a:prstGeom>
          <a:solidFill>
            <a:srgbClr val="BDF06B"/>
          </a:solidFill>
          <a:ln/>
        </p:spPr>
        <p:txBody>
          <a:bodyPr/>
          <a:p/>
        </p:txBody>
      </p:sp>
      <p:sp>
        <p:nvSpPr>
          <p:cNvPr id="28" name="Shape 25"/>
          <p:cNvSpPr/>
          <p:nvPr/>
        </p:nvSpPr>
        <p:spPr>
          <a:xfrm>
            <a:off x="571500" y="2505075"/>
            <a:ext cx="381000" cy="381000"/>
          </a:xfrm>
          <a:prstGeom prst="ellipse">
            <a:avLst/>
          </a:prstGeom>
          <a:solidFill>
            <a:srgbClr val="0E130F"/>
          </a:solidFill>
          <a:ln w="13573">
            <a:solidFill>
              <a:srgbClr val="BDF06B"/>
            </a:solidFill>
            <a:prstDash val="solid"/>
          </a:ln>
        </p:spPr>
        <p:txBody>
          <a:bodyPr/>
          <a:p/>
        </p:txBody>
      </p:sp>
      <p:sp>
        <p:nvSpPr>
          <p:cNvPr id="47" name="TextBox 46"/>
          <p:cNvSpPr txBox="1"/>
          <p:nvPr/>
        </p:nvSpPr>
        <p:spPr>
          <a:xfrm>
            <a:off x="719138" y="2614613"/>
            <a:ext cx="138273" cy="223164"/>
          </a:xfrm>
          <a:prstGeom prst="rect">
            <a:avLst/>
          </a:prstGeom>
          <a:noFill/>
        </p:spPr>
        <p:txBody>
          <a:bodyPr wrap="none" lIns="0" tIns="0" rIns="0" bIns="0">
            <a:noAutofit/>
          </a:bodyPr>
          <a:lstStyle/>
          <a:p>
            <a:pPr>
              <a:lnSpc>
                <a:spcPts val="1217"/>
              </a:lnSpc>
              <a:defRPr sz="998" b="1">
                <a:solidFill>
                  <a:srgbClr val="BDF06B"/>
                </a:solidFill>
                <a:latin typeface="JetBrains Mono"/>
              </a:defRPr>
            </a:pPr>
            <a:r>
              <a:t>1</a:t>
            </a:r>
          </a:p>
        </p:txBody>
      </p:sp>
      <p:sp>
        <p:nvSpPr>
          <p:cNvPr id="30" name="Text 27"/>
          <p:cNvSpPr/>
          <p:nvPr/>
        </p:nvSpPr>
        <p:spPr>
          <a:xfrm>
            <a:off x="571500" y="3095625"/>
            <a:ext cx="1619250" cy="200025"/>
          </a:xfrm>
          <a:prstGeom prst="rect">
            <a:avLst/>
          </a:prstGeom>
          <a:noFill/>
          <a:ln/>
        </p:spPr>
        <p:txBody>
          <a:bodyPr wrap="square" lIns="0" tIns="0" rIns="0" bIns="0" rtlCol="0" anchor="t"/>
          <a:lstStyle/>
          <a:p>
            <a:pPr algn="l" indent="0" marL="0">
              <a:lnSpc>
                <a:spcPts val="1489"/>
              </a:lnSpc>
              <a:buNone/>
            </a:pPr>
            <a:r>
              <a:rPr lang="en-US" sz="1354" b="1" spc="-14" kern="0" dirty="0">
                <a:solidFill>
                  <a:srgbClr val="F7F7F2">
                    <a:alpha val="99000"/>
                  </a:srgbClr>
                </a:solidFill>
                <a:latin typeface="Inter" pitchFamily="34" charset="0"/>
                <a:ea typeface="Inter" pitchFamily="34" charset="-122"/>
                <a:cs typeface="Inter" pitchFamily="34" charset="-120"/>
              </a:rPr>
              <a:t>Buy with Pix</a:t>
            </a:r>
            <a:endParaRPr lang="en-US" sz="1354" dirty="0"/>
          </a:p>
        </p:txBody>
      </p:sp>
      <p:sp>
        <p:nvSpPr>
          <p:cNvPr id="31" name="Text 28"/>
          <p:cNvSpPr/>
          <p:nvPr/>
        </p:nvSpPr>
        <p:spPr>
          <a:xfrm>
            <a:off x="571500" y="3390900"/>
            <a:ext cx="1571625" cy="514350"/>
          </a:xfrm>
          <a:prstGeom prst="rect">
            <a:avLst/>
          </a:prstGeom>
          <a:noFill/>
          <a:ln/>
        </p:spPr>
        <p:txBody>
          <a:bodyPr wrap="square" lIns="0" tIns="0" rIns="0" bIns="0" rtlCol="0" anchor="t"/>
          <a:lstStyle/>
          <a:p>
            <a:pPr algn="l" indent="0" marL="0">
              <a:lnSpc>
                <a:spcPts val="1297"/>
              </a:lnSpc>
              <a:buNone/>
            </a:pPr>
            <a:r>
              <a:rPr lang="en-US" sz="926" dirty="0">
                <a:solidFill>
                  <a:srgbClr val="B2BDB2">
                    <a:alpha val="99000"/>
                  </a:srgbClr>
                </a:solidFill>
                <a:latin typeface="Inter" pitchFamily="34" charset="0"/>
                <a:ea typeface="Inter" pitchFamily="34" charset="-122"/>
                <a:cs typeface="Inter" pitchFamily="34" charset="-120"/>
              </a:rPr>
              <a:t>Pay a Pix and receive SIMPAY in your own Solana wallet in seconds.</a:t>
            </a:r>
            <a:endParaRPr lang="en-US" sz="926" dirty="0"/>
          </a:p>
        </p:txBody>
      </p:sp>
      <p:sp>
        <p:nvSpPr>
          <p:cNvPr id="32" name="Shape 29"/>
          <p:cNvSpPr/>
          <p:nvPr/>
        </p:nvSpPr>
        <p:spPr>
          <a:xfrm>
            <a:off x="2476500" y="2505075"/>
            <a:ext cx="381000" cy="381000"/>
          </a:xfrm>
          <a:prstGeom prst="ellipse">
            <a:avLst/>
          </a:prstGeom>
          <a:solidFill>
            <a:srgbClr val="0E130F"/>
          </a:solidFill>
          <a:ln w="13573">
            <a:solidFill>
              <a:srgbClr val="BDF06B"/>
            </a:solidFill>
            <a:prstDash val="solid"/>
          </a:ln>
        </p:spPr>
        <p:txBody>
          <a:bodyPr/>
          <a:p/>
        </p:txBody>
      </p:sp>
      <p:sp>
        <p:nvSpPr>
          <p:cNvPr id="48" name="TextBox 47"/>
          <p:cNvSpPr txBox="1"/>
          <p:nvPr/>
        </p:nvSpPr>
        <p:spPr>
          <a:xfrm>
            <a:off x="2624138" y="2614613"/>
            <a:ext cx="138273" cy="223164"/>
          </a:xfrm>
          <a:prstGeom prst="rect">
            <a:avLst/>
          </a:prstGeom>
          <a:noFill/>
        </p:spPr>
        <p:txBody>
          <a:bodyPr wrap="none" lIns="0" tIns="0" rIns="0" bIns="0">
            <a:noAutofit/>
          </a:bodyPr>
          <a:lstStyle/>
          <a:p>
            <a:pPr>
              <a:lnSpc>
                <a:spcPts val="1217"/>
              </a:lnSpc>
              <a:defRPr sz="998" b="1">
                <a:solidFill>
                  <a:srgbClr val="BDF06B"/>
                </a:solidFill>
                <a:latin typeface="JetBrains Mono"/>
              </a:defRPr>
            </a:pPr>
            <a:r>
              <a:t>2</a:t>
            </a:r>
          </a:p>
        </p:txBody>
      </p:sp>
      <p:sp>
        <p:nvSpPr>
          <p:cNvPr id="34" name="Text 31"/>
          <p:cNvSpPr/>
          <p:nvPr/>
        </p:nvSpPr>
        <p:spPr>
          <a:xfrm>
            <a:off x="2476500" y="3095625"/>
            <a:ext cx="1619250" cy="200025"/>
          </a:xfrm>
          <a:prstGeom prst="rect">
            <a:avLst/>
          </a:prstGeom>
          <a:noFill/>
          <a:ln/>
        </p:spPr>
        <p:txBody>
          <a:bodyPr wrap="square" lIns="0" tIns="0" rIns="0" bIns="0" rtlCol="0" anchor="t"/>
          <a:lstStyle/>
          <a:p>
            <a:pPr algn="l" indent="0" marL="0">
              <a:lnSpc>
                <a:spcPts val="1489"/>
              </a:lnSpc>
              <a:buNone/>
            </a:pPr>
            <a:r>
              <a:rPr lang="en-US" sz="1354" b="1" spc="-14" kern="0" dirty="0">
                <a:solidFill>
                  <a:srgbClr val="F7F7F2">
                    <a:alpha val="99000"/>
                  </a:srgbClr>
                </a:solidFill>
                <a:latin typeface="Inter" pitchFamily="34" charset="0"/>
                <a:ea typeface="Inter" pitchFamily="34" charset="-122"/>
                <a:cs typeface="Inter" pitchFamily="34" charset="-120"/>
              </a:rPr>
              <a:t>Own it</a:t>
            </a:r>
            <a:endParaRPr lang="en-US" sz="1354" dirty="0"/>
          </a:p>
        </p:txBody>
      </p:sp>
      <p:sp>
        <p:nvSpPr>
          <p:cNvPr id="35" name="Text 32"/>
          <p:cNvSpPr/>
          <p:nvPr/>
        </p:nvSpPr>
        <p:spPr>
          <a:xfrm>
            <a:off x="2476500" y="3390900"/>
            <a:ext cx="1571625" cy="594360"/>
          </a:xfrm>
          <a:prstGeom prst="rect">
            <a:avLst/>
          </a:prstGeom>
          <a:noFill/>
          <a:ln/>
        </p:spPr>
        <p:txBody>
          <a:bodyPr wrap="square" lIns="0" tIns="0" rIns="0" bIns="0" rtlCol="0" anchor="t"/>
          <a:lstStyle/>
          <a:p>
            <a:pPr algn="l" indent="0" marL="0">
              <a:lnSpc>
                <a:spcPts val="1297"/>
              </a:lnSpc>
              <a:buNone/>
            </a:pPr>
            <a:r>
              <a:rPr lang="en-US" sz="926" dirty="0">
                <a:solidFill>
                  <a:srgbClr val="B2BDB2">
                    <a:alpha val="99000"/>
                  </a:srgbClr>
                </a:solidFill>
                <a:latin typeface="Inter" pitchFamily="34" charset="0"/>
                <a:ea typeface="Inter" pitchFamily="34" charset="-122"/>
                <a:cs typeface="Inter" pitchFamily="34" charset="-120"/>
              </a:rPr>
              <a:t>Non-custodial wallet. Your keys, with six-digit PIN recovery.</a:t>
            </a:r>
            <a:endParaRPr lang="en-US" sz="926" dirty="0"/>
          </a:p>
        </p:txBody>
      </p:sp>
      <p:sp>
        <p:nvSpPr>
          <p:cNvPr id="36" name="Shape 33"/>
          <p:cNvSpPr/>
          <p:nvPr/>
        </p:nvSpPr>
        <p:spPr>
          <a:xfrm>
            <a:off x="4381500" y="2505075"/>
            <a:ext cx="381000" cy="381000"/>
          </a:xfrm>
          <a:prstGeom prst="ellipse">
            <a:avLst/>
          </a:prstGeom>
          <a:solidFill>
            <a:srgbClr val="0E130F"/>
          </a:solidFill>
          <a:ln w="13573">
            <a:solidFill>
              <a:srgbClr val="BDF06B"/>
            </a:solidFill>
            <a:prstDash val="solid"/>
          </a:ln>
        </p:spPr>
        <p:txBody>
          <a:bodyPr/>
          <a:p/>
        </p:txBody>
      </p:sp>
      <p:sp>
        <p:nvSpPr>
          <p:cNvPr id="49" name="TextBox 48"/>
          <p:cNvSpPr txBox="1"/>
          <p:nvPr/>
        </p:nvSpPr>
        <p:spPr>
          <a:xfrm>
            <a:off x="4529138" y="2614613"/>
            <a:ext cx="138273" cy="223164"/>
          </a:xfrm>
          <a:prstGeom prst="rect">
            <a:avLst/>
          </a:prstGeom>
          <a:noFill/>
        </p:spPr>
        <p:txBody>
          <a:bodyPr wrap="none" lIns="0" tIns="0" rIns="0" bIns="0">
            <a:noAutofit/>
          </a:bodyPr>
          <a:lstStyle/>
          <a:p>
            <a:pPr>
              <a:lnSpc>
                <a:spcPts val="1217"/>
              </a:lnSpc>
              <a:defRPr sz="998" b="1">
                <a:solidFill>
                  <a:srgbClr val="BDF06B"/>
                </a:solidFill>
                <a:latin typeface="JetBrains Mono"/>
              </a:defRPr>
            </a:pPr>
            <a:r>
              <a:t>3</a:t>
            </a:r>
          </a:p>
        </p:txBody>
      </p:sp>
      <p:sp>
        <p:nvSpPr>
          <p:cNvPr id="38" name="Text 35"/>
          <p:cNvSpPr/>
          <p:nvPr/>
        </p:nvSpPr>
        <p:spPr>
          <a:xfrm>
            <a:off x="4381500" y="3095625"/>
            <a:ext cx="1619250" cy="200025"/>
          </a:xfrm>
          <a:prstGeom prst="rect">
            <a:avLst/>
          </a:prstGeom>
          <a:noFill/>
          <a:ln/>
        </p:spPr>
        <p:txBody>
          <a:bodyPr wrap="square" lIns="0" tIns="0" rIns="0" bIns="0" rtlCol="0" anchor="t"/>
          <a:lstStyle/>
          <a:p>
            <a:pPr algn="l" indent="0" marL="0">
              <a:lnSpc>
                <a:spcPts val="1489"/>
              </a:lnSpc>
              <a:buNone/>
            </a:pPr>
            <a:r>
              <a:rPr lang="en-US" sz="1354" b="1" spc="-14" kern="0" dirty="0">
                <a:solidFill>
                  <a:srgbClr val="F7F7F2">
                    <a:alpha val="99000"/>
                  </a:srgbClr>
                </a:solidFill>
                <a:latin typeface="Inter" pitchFamily="34" charset="0"/>
                <a:ea typeface="Inter" pitchFamily="34" charset="-122"/>
                <a:cs typeface="Inter" pitchFamily="34" charset="-120"/>
              </a:rPr>
              <a:t>Tap to pay</a:t>
            </a:r>
            <a:endParaRPr lang="en-US" sz="1354" dirty="0"/>
          </a:p>
        </p:txBody>
      </p:sp>
      <p:sp>
        <p:nvSpPr>
          <p:cNvPr id="39" name="Text 36"/>
          <p:cNvSpPr/>
          <p:nvPr/>
        </p:nvSpPr>
        <p:spPr>
          <a:xfrm>
            <a:off x="4381500" y="3390900"/>
            <a:ext cx="1571625" cy="514350"/>
          </a:xfrm>
          <a:prstGeom prst="rect">
            <a:avLst/>
          </a:prstGeom>
          <a:noFill/>
          <a:ln/>
        </p:spPr>
        <p:txBody>
          <a:bodyPr wrap="square" lIns="0" tIns="0" rIns="0" bIns="0" rtlCol="0" anchor="t"/>
          <a:lstStyle/>
          <a:p>
            <a:pPr algn="l" indent="0" marL="0">
              <a:lnSpc>
                <a:spcPts val="1297"/>
              </a:lnSpc>
              <a:buNone/>
            </a:pPr>
            <a:r>
              <a:rPr lang="en-US" sz="926" dirty="0">
                <a:solidFill>
                  <a:srgbClr val="B2BDB2">
                    <a:alpha val="99000"/>
                  </a:srgbClr>
                </a:solidFill>
                <a:latin typeface="Inter" pitchFamily="34" charset="0"/>
                <a:ea typeface="Inter" pitchFamily="34" charset="-122"/>
                <a:cs typeface="Inter" pitchFamily="34" charset="-120"/>
              </a:rPr>
              <a:t>Scan the QR, tap the NFC tag at the till, or pay a Blink from Phantom.</a:t>
            </a:r>
            <a:endParaRPr lang="en-US" sz="926" dirty="0"/>
          </a:p>
        </p:txBody>
      </p:sp>
      <p:sp>
        <p:nvSpPr>
          <p:cNvPr id="40" name="Shape 37"/>
          <p:cNvSpPr/>
          <p:nvPr/>
        </p:nvSpPr>
        <p:spPr>
          <a:xfrm>
            <a:off x="6286500" y="2505075"/>
            <a:ext cx="381000" cy="381000"/>
          </a:xfrm>
          <a:prstGeom prst="ellipse">
            <a:avLst/>
          </a:prstGeom>
          <a:solidFill>
            <a:srgbClr val="BDF06B"/>
          </a:solidFill>
          <a:ln w="13573">
            <a:solidFill>
              <a:srgbClr val="BDF06B"/>
            </a:solidFill>
            <a:prstDash val="solid"/>
          </a:ln>
        </p:spPr>
        <p:txBody>
          <a:bodyPr/>
          <a:p/>
        </p:txBody>
      </p:sp>
      <p:sp>
        <p:nvSpPr>
          <p:cNvPr id="50" name="TextBox 49"/>
          <p:cNvSpPr txBox="1"/>
          <p:nvPr/>
        </p:nvSpPr>
        <p:spPr>
          <a:xfrm>
            <a:off x="6434138" y="2614613"/>
            <a:ext cx="138273" cy="223164"/>
          </a:xfrm>
          <a:prstGeom prst="rect">
            <a:avLst/>
          </a:prstGeom>
          <a:noFill/>
        </p:spPr>
        <p:txBody>
          <a:bodyPr wrap="none" lIns="0" tIns="0" rIns="0" bIns="0">
            <a:noAutofit/>
          </a:bodyPr>
          <a:lstStyle/>
          <a:p>
            <a:pPr>
              <a:lnSpc>
                <a:spcPts val="1217"/>
              </a:lnSpc>
              <a:defRPr sz="998" b="1">
                <a:solidFill>
                  <a:srgbClr val="0E130F"/>
                </a:solidFill>
                <a:latin typeface="JetBrains Mono"/>
              </a:defRPr>
            </a:pPr>
            <a:r>
              <a:t>4</a:t>
            </a:r>
          </a:p>
        </p:txBody>
      </p:sp>
      <p:sp>
        <p:nvSpPr>
          <p:cNvPr id="42" name="Text 39"/>
          <p:cNvSpPr/>
          <p:nvPr/>
        </p:nvSpPr>
        <p:spPr>
          <a:xfrm>
            <a:off x="6286500" y="3095625"/>
            <a:ext cx="1619250" cy="200025"/>
          </a:xfrm>
          <a:prstGeom prst="rect">
            <a:avLst/>
          </a:prstGeom>
          <a:noFill/>
          <a:ln/>
        </p:spPr>
        <p:txBody>
          <a:bodyPr wrap="square" lIns="0" tIns="0" rIns="0" bIns="0" rtlCol="0" anchor="t"/>
          <a:lstStyle/>
          <a:p>
            <a:pPr algn="l" indent="0" marL="0">
              <a:lnSpc>
                <a:spcPts val="1489"/>
              </a:lnSpc>
              <a:buNone/>
            </a:pPr>
            <a:r>
              <a:rPr lang="en-US" sz="1354" b="1" spc="-14" kern="0" dirty="0">
                <a:solidFill>
                  <a:srgbClr val="F7F7F2">
                    <a:alpha val="99000"/>
                  </a:srgbClr>
                </a:solidFill>
                <a:latin typeface="Inter" pitchFamily="34" charset="0"/>
                <a:ea typeface="Inter" pitchFamily="34" charset="-122"/>
                <a:cs typeface="Inter" pitchFamily="34" charset="-120"/>
              </a:rPr>
              <a:t>Merchant settles</a:t>
            </a:r>
            <a:endParaRPr lang="en-US" sz="1354" dirty="0"/>
          </a:p>
        </p:txBody>
      </p:sp>
      <p:sp>
        <p:nvSpPr>
          <p:cNvPr id="43" name="Text 40"/>
          <p:cNvSpPr/>
          <p:nvPr/>
        </p:nvSpPr>
        <p:spPr>
          <a:xfrm>
            <a:off x="6286500" y="3390900"/>
            <a:ext cx="1571625" cy="514350"/>
          </a:xfrm>
          <a:prstGeom prst="rect">
            <a:avLst/>
          </a:prstGeom>
          <a:noFill/>
          <a:ln/>
        </p:spPr>
        <p:txBody>
          <a:bodyPr wrap="square" lIns="0" tIns="0" rIns="0" bIns="0" rtlCol="0" anchor="t"/>
          <a:lstStyle/>
          <a:p>
            <a:pPr algn="l" indent="0" marL="0">
              <a:lnSpc>
                <a:spcPts val="1297"/>
              </a:lnSpc>
              <a:buNone/>
            </a:pPr>
            <a:r>
              <a:rPr lang="en-US" sz="926" dirty="0">
                <a:solidFill>
                  <a:srgbClr val="B2BDB2">
                    <a:alpha val="99000"/>
                  </a:srgbClr>
                </a:solidFill>
                <a:latin typeface="Inter" pitchFamily="34" charset="0"/>
                <a:ea typeface="Inter" pitchFamily="34" charset="-122"/>
                <a:cs typeface="Inter" pitchFamily="34" charset="-120"/>
              </a:rPr>
              <a:t>Confirmed in about a second. 0% to receive. Cash out to Pix anytime.</a:t>
            </a:r>
            <a:endParaRPr lang="en-US" sz="926" dirty="0"/>
          </a:p>
        </p:txBody>
      </p:sp>
      <p:sp>
        <p:nvSpPr>
          <p:cNvPr id="51" name="TextBox 50"/>
          <p:cNvSpPr txBox="1"/>
          <p:nvPr/>
        </p:nvSpPr>
        <p:spPr>
          <a:xfrm>
            <a:off x="571500" y="4762500"/>
            <a:ext cx="2377440" cy="159689"/>
          </a:xfrm>
          <a:prstGeom prst="rect">
            <a:avLst/>
          </a:prstGeom>
          <a:noFill/>
        </p:spPr>
        <p:txBody>
          <a:bodyPr wrap="none" lIns="0" tIns="0" rIns="0" bIns="0">
            <a:noAutofit/>
          </a:bodyPr>
          <a:lstStyle/>
          <a:p>
            <a:pPr>
              <a:lnSpc>
                <a:spcPts val="782"/>
              </a:lnSpc>
              <a:defRPr sz="641" b="0">
                <a:solidFill>
                  <a:srgbClr val="B2BDB2"/>
                </a:solidFill>
                <a:latin typeface="JetBrains Mono"/>
              </a:defRPr>
            </a:pPr>
            <a:r>
              <a:t>SIMPAY · COLOSSEUM 2026</a:t>
            </a:r>
          </a:p>
        </p:txBody>
      </p:sp>
      <p:sp>
        <p:nvSpPr>
          <p:cNvPr id="52" name="TextBox 51"/>
          <p:cNvSpPr txBox="1"/>
          <p:nvPr/>
        </p:nvSpPr>
        <p:spPr>
          <a:xfrm>
            <a:off x="8381999" y="4762500"/>
            <a:ext cx="190500" cy="159689"/>
          </a:xfrm>
          <a:prstGeom prst="rect">
            <a:avLst/>
          </a:prstGeom>
          <a:noFill/>
        </p:spPr>
        <p:txBody>
          <a:bodyPr wrap="none" lIns="0" tIns="0" rIns="0" bIns="0">
            <a:noAutofit/>
          </a:bodyPr>
          <a:lstStyle/>
          <a:p>
            <a:pPr>
              <a:lnSpc>
                <a:spcPts val="782"/>
              </a:lnSpc>
              <a:defRPr sz="641" b="0">
                <a:solidFill>
                  <a:srgbClr val="B2BDB2"/>
                </a:solidFill>
                <a:latin typeface="JetBrains Mono"/>
              </a:defRPr>
            </a:pPr>
            <a: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2"/>
        </a:solidFill>
      </p:bgPr>
    </p:bg>
    <p:spTree>
      <p:nvGrpSpPr>
        <p:cNvPr id="1" name=""/>
        <p:cNvGrpSpPr/>
        <p:nvPr/>
      </p:nvGrpSpPr>
      <p:grpSpPr>
        <a:xfrm>
          <a:off x="0" y="0"/>
          <a:ext cx="0" cy="0"/>
          <a:chOff x="0" y="0"/>
          <a:chExt cx="0" cy="0"/>
        </a:xfrm>
      </p:grpSpPr>
      <p:sp>
        <p:nvSpPr>
          <p:cNvPr id="43" name="TextBox 42"/>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545C54"/>
                </a:solidFill>
                <a:latin typeface="JetBrains Mono"/>
              </a:defRPr>
            </a:pPr>
            <a:r>
              <a:t>04 — THE PRODUCT</a:t>
            </a:r>
          </a:p>
        </p:txBody>
      </p:sp>
      <p:sp>
        <p:nvSpPr>
          <p:cNvPr id="23" name="Text 20"/>
          <p:cNvSpPr/>
          <p:nvPr/>
        </p:nvSpPr>
        <p:spPr>
          <a:xfrm>
            <a:off x="571500" y="809625"/>
            <a:ext cx="3048000" cy="1171575"/>
          </a:xfrm>
          <a:prstGeom prst="rect">
            <a:avLst/>
          </a:prstGeom>
          <a:noFill/>
          <a:ln/>
        </p:spPr>
        <p:txBody>
          <a:bodyPr wrap="square" lIns="0" tIns="0" rIns="0" bIns="0" rtlCol="0" anchor="t"/>
          <a:lstStyle/>
          <a:p>
            <a:pPr algn="l" indent="0" marL="0">
              <a:lnSpc>
                <a:spcPts val="2933"/>
              </a:lnSpc>
              <a:buNone/>
            </a:pPr>
            <a:r>
              <a:rPr lang="en-US" sz="2992" b="1" spc="-90" kern="0" dirty="0">
                <a:solidFill>
                  <a:srgbClr val="0E130F">
                    <a:alpha val="99000"/>
                  </a:srgbClr>
                </a:solidFill>
                <a:latin typeface="Inter" pitchFamily="34" charset="0"/>
                <a:ea typeface="Inter" pitchFamily="34" charset="-122"/>
                <a:cs typeface="Inter" pitchFamily="34" charset="-120"/>
              </a:rPr>
              <a:t>One network.</a:t>
            </a:r>
            <a:endParaRPr lang="en-US" sz="2992" dirty="0"/>
          </a:p>
          <a:p>
            <a:pPr algn="l" indent="0" marL="0">
              <a:lnSpc>
                <a:spcPts val="2933"/>
              </a:lnSpc>
              <a:buNone/>
            </a:pPr>
            <a:r>
              <a:rPr lang="en-US" sz="2992" b="1" spc="-90" kern="0" dirty="0">
                <a:solidFill>
                  <a:srgbClr val="0E130F">
                    <a:alpha val="99000"/>
                  </a:srgbClr>
                </a:solidFill>
                <a:latin typeface="Inter" pitchFamily="34" charset="0"/>
                <a:ea typeface="Inter" pitchFamily="34" charset="-122"/>
                <a:cs typeface="Inter" pitchFamily="34" charset="-120"/>
              </a:rPr>
              <a:t>Four products.</a:t>
            </a:r>
            <a:endParaRPr lang="en-US" sz="2992" dirty="0"/>
          </a:p>
          <a:p>
            <a:pPr algn="l" indent="0" marL="0">
              <a:lnSpc>
                <a:spcPts val="2933"/>
              </a:lnSpc>
              <a:buNone/>
            </a:pPr>
            <a:r>
              <a:rPr lang="en-US" sz="2992" b="1" spc="-90" kern="0" dirty="0">
                <a:solidFill>
                  <a:srgbClr val="0E130F">
                    <a:alpha val="99000"/>
                  </a:srgbClr>
                </a:solidFill>
                <a:latin typeface="Inter" pitchFamily="34" charset="0"/>
                <a:ea typeface="Inter" pitchFamily="34" charset="-122"/>
                <a:cs typeface="Inter" pitchFamily="34" charset="-120"/>
              </a:rPr>
              <a:t>All live.</a:t>
            </a:r>
            <a:endParaRPr lang="en-US" sz="2992" dirty="0"/>
          </a:p>
        </p:txBody>
      </p:sp>
      <p:sp>
        <p:nvSpPr>
          <p:cNvPr id="24" name="Text 21"/>
          <p:cNvSpPr/>
          <p:nvPr/>
        </p:nvSpPr>
        <p:spPr>
          <a:xfrm>
            <a:off x="571500" y="2476500"/>
            <a:ext cx="2667000" cy="371475"/>
          </a:xfrm>
          <a:prstGeom prst="rect">
            <a:avLst/>
          </a:prstGeom>
          <a:noFill/>
          <a:ln/>
        </p:spPr>
        <p:txBody>
          <a:bodyPr wrap="square" lIns="0" tIns="0" rIns="0" bIns="0" rtlCol="0" anchor="t"/>
          <a:lstStyle/>
          <a:p>
            <a:pPr algn="l" indent="0" marL="0">
              <a:lnSpc>
                <a:spcPts val="1397"/>
              </a:lnSpc>
              <a:buNone/>
            </a:pPr>
            <a:r>
              <a:rPr lang="en-US" sz="998" dirty="0">
                <a:solidFill>
                  <a:srgbClr val="545C54">
                    <a:alpha val="99000"/>
                  </a:srgbClr>
                </a:solidFill>
                <a:latin typeface="Inter" pitchFamily="34" charset="0"/>
                <a:ea typeface="Inter" pitchFamily="34" charset="-122"/>
                <a:cs typeface="Inter" pitchFamily="34" charset="-120"/>
              </a:rPr>
              <a:t>Built and shipped end to end: consumer, merchant, web and operations.</a:t>
            </a:r>
            <a:endParaRPr lang="en-US" sz="998" dirty="0"/>
          </a:p>
        </p:txBody>
      </p:sp>
      <p:sp>
        <p:nvSpPr>
          <p:cNvPr id="25" name="Shape 22"/>
          <p:cNvSpPr/>
          <p:nvPr/>
        </p:nvSpPr>
        <p:spPr>
          <a:xfrm>
            <a:off x="4095750" y="809625"/>
            <a:ext cx="2190750" cy="19050"/>
          </a:xfrm>
          <a:prstGeom prst="rect">
            <a:avLst/>
          </a:prstGeom>
          <a:solidFill>
            <a:srgbClr val="0E130F"/>
          </a:solidFill>
          <a:ln/>
        </p:spPr>
        <p:txBody>
          <a:bodyPr/>
          <a:p/>
        </p:txBody>
      </p:sp>
      <p:sp>
        <p:nvSpPr>
          <p:cNvPr id="44" name="TextBox 43"/>
          <p:cNvSpPr txBox="1"/>
          <p:nvPr/>
        </p:nvSpPr>
        <p:spPr>
          <a:xfrm>
            <a:off x="4095750" y="942975"/>
            <a:ext cx="251460" cy="185115"/>
          </a:xfrm>
          <a:prstGeom prst="rect">
            <a:avLst/>
          </a:prstGeom>
          <a:noFill/>
        </p:spPr>
        <p:txBody>
          <a:bodyPr wrap="none" lIns="0" tIns="0" rIns="0" bIns="0">
            <a:noAutofit/>
          </a:bodyPr>
          <a:lstStyle/>
          <a:p>
            <a:pPr>
              <a:lnSpc>
                <a:spcPts val="956"/>
              </a:lnSpc>
              <a:defRPr sz="784" b="1">
                <a:solidFill>
                  <a:srgbClr val="0E130F"/>
                </a:solidFill>
                <a:latin typeface="JetBrains Mono"/>
              </a:defRPr>
            </a:pPr>
            <a:r>
              <a:t>APP</a:t>
            </a:r>
          </a:p>
        </p:txBody>
      </p:sp>
      <p:sp>
        <p:nvSpPr>
          <p:cNvPr id="27" name="Text 24"/>
          <p:cNvSpPr/>
          <p:nvPr/>
        </p:nvSpPr>
        <p:spPr>
          <a:xfrm>
            <a:off x="4095750" y="1143000"/>
            <a:ext cx="2190750" cy="200025"/>
          </a:xfrm>
          <a:prstGeom prst="rect">
            <a:avLst/>
          </a:prstGeom>
          <a:noFill/>
          <a:ln/>
        </p:spPr>
        <p:txBody>
          <a:bodyPr wrap="square" lIns="0" tIns="0" rIns="0" bIns="0" rtlCol="0" anchor="t"/>
          <a:lstStyle/>
          <a:p>
            <a:pPr algn="l" indent="0" marL="0">
              <a:lnSpc>
                <a:spcPts val="1489"/>
              </a:lnSpc>
              <a:buNone/>
            </a:pPr>
            <a:r>
              <a:rPr lang="en-US" sz="1354" b="1" spc="-14" kern="0" dirty="0">
                <a:solidFill>
                  <a:srgbClr val="0E130F">
                    <a:alpha val="99000"/>
                  </a:srgbClr>
                </a:solidFill>
                <a:latin typeface="Inter" pitchFamily="34" charset="0"/>
                <a:ea typeface="Inter" pitchFamily="34" charset="-122"/>
                <a:cs typeface="Inter" pitchFamily="34" charset="-120"/>
              </a:rPr>
              <a:t>SimPay Wallet</a:t>
            </a:r>
            <a:endParaRPr lang="en-US" sz="1354" dirty="0"/>
          </a:p>
        </p:txBody>
      </p:sp>
      <p:sp>
        <p:nvSpPr>
          <p:cNvPr id="28" name="Text 25"/>
          <p:cNvSpPr/>
          <p:nvPr/>
        </p:nvSpPr>
        <p:spPr>
          <a:xfrm>
            <a:off x="4095750" y="1428750"/>
            <a:ext cx="2143125" cy="666750"/>
          </a:xfrm>
          <a:prstGeom prst="rect">
            <a:avLst/>
          </a:prstGeom>
          <a:noFill/>
          <a:ln/>
        </p:spPr>
        <p:txBody>
          <a:bodyPr wrap="square" lIns="0" tIns="0" rIns="0" bIns="0" rtlCol="0" anchor="t"/>
          <a:lstStyle/>
          <a:p>
            <a:pPr algn="l" indent="0" marL="0">
              <a:lnSpc>
                <a:spcPts val="1265"/>
              </a:lnSpc>
              <a:buNone/>
            </a:pPr>
            <a:r>
              <a:rPr lang="en-US" sz="891" dirty="0">
                <a:solidFill>
                  <a:srgbClr val="545C54">
                    <a:alpha val="99000"/>
                  </a:srgbClr>
                </a:solidFill>
                <a:latin typeface="Inter" pitchFamily="34" charset="0"/>
                <a:ea typeface="Inter" pitchFamily="34" charset="-122"/>
                <a:cs typeface="Inter" pitchFamily="34" charset="-120"/>
              </a:rPr>
              <a:t>iOS and Android. Self-custody, QR and NFC tap to pay, cashback, referrals and push when money arrives.</a:t>
            </a:r>
            <a:endParaRPr lang="en-US" sz="891" dirty="0"/>
          </a:p>
        </p:txBody>
      </p:sp>
      <p:sp>
        <p:nvSpPr>
          <p:cNvPr id="29" name="Shape 26"/>
          <p:cNvSpPr/>
          <p:nvPr/>
        </p:nvSpPr>
        <p:spPr>
          <a:xfrm>
            <a:off x="6572250" y="809625"/>
            <a:ext cx="2190750" cy="19050"/>
          </a:xfrm>
          <a:prstGeom prst="rect">
            <a:avLst/>
          </a:prstGeom>
          <a:solidFill>
            <a:srgbClr val="0E130F"/>
          </a:solidFill>
          <a:ln/>
        </p:spPr>
        <p:txBody>
          <a:bodyPr/>
          <a:p/>
        </p:txBody>
      </p:sp>
      <p:sp>
        <p:nvSpPr>
          <p:cNvPr id="45" name="TextBox 44"/>
          <p:cNvSpPr txBox="1"/>
          <p:nvPr/>
        </p:nvSpPr>
        <p:spPr>
          <a:xfrm>
            <a:off x="6572250" y="942975"/>
            <a:ext cx="251460" cy="185115"/>
          </a:xfrm>
          <a:prstGeom prst="rect">
            <a:avLst/>
          </a:prstGeom>
          <a:noFill/>
        </p:spPr>
        <p:txBody>
          <a:bodyPr wrap="none" lIns="0" tIns="0" rIns="0" bIns="0">
            <a:noAutofit/>
          </a:bodyPr>
          <a:lstStyle/>
          <a:p>
            <a:pPr>
              <a:lnSpc>
                <a:spcPts val="956"/>
              </a:lnSpc>
              <a:defRPr sz="784" b="1">
                <a:solidFill>
                  <a:srgbClr val="0E130F"/>
                </a:solidFill>
                <a:latin typeface="JetBrains Mono"/>
              </a:defRPr>
            </a:pPr>
            <a:r>
              <a:t>PDV</a:t>
            </a:r>
          </a:p>
        </p:txBody>
      </p:sp>
      <p:sp>
        <p:nvSpPr>
          <p:cNvPr id="31" name="Text 28"/>
          <p:cNvSpPr/>
          <p:nvPr/>
        </p:nvSpPr>
        <p:spPr>
          <a:xfrm>
            <a:off x="6572250" y="1143000"/>
            <a:ext cx="2190750" cy="200025"/>
          </a:xfrm>
          <a:prstGeom prst="rect">
            <a:avLst/>
          </a:prstGeom>
          <a:noFill/>
          <a:ln/>
        </p:spPr>
        <p:txBody>
          <a:bodyPr wrap="square" lIns="0" tIns="0" rIns="0" bIns="0" rtlCol="0" anchor="t"/>
          <a:lstStyle/>
          <a:p>
            <a:pPr algn="l" indent="0" marL="0">
              <a:lnSpc>
                <a:spcPts val="1489"/>
              </a:lnSpc>
              <a:buNone/>
            </a:pPr>
            <a:r>
              <a:rPr lang="en-US" sz="1354" b="1" spc="-14" kern="0" dirty="0">
                <a:solidFill>
                  <a:srgbClr val="0E130F">
                    <a:alpha val="99000"/>
                  </a:srgbClr>
                </a:solidFill>
                <a:latin typeface="Inter" pitchFamily="34" charset="0"/>
                <a:ea typeface="Inter" pitchFamily="34" charset="-122"/>
                <a:cs typeface="Inter" pitchFamily="34" charset="-120"/>
              </a:rPr>
              <a:t>Merchant point of sale</a:t>
            </a:r>
            <a:endParaRPr lang="en-US" sz="1354" dirty="0"/>
          </a:p>
        </p:txBody>
      </p:sp>
      <p:sp>
        <p:nvSpPr>
          <p:cNvPr id="32" name="Text 29"/>
          <p:cNvSpPr/>
          <p:nvPr/>
        </p:nvSpPr>
        <p:spPr>
          <a:xfrm>
            <a:off x="6572250" y="1428750"/>
            <a:ext cx="2143125" cy="500063"/>
          </a:xfrm>
          <a:prstGeom prst="rect">
            <a:avLst/>
          </a:prstGeom>
          <a:noFill/>
          <a:ln/>
        </p:spPr>
        <p:txBody>
          <a:bodyPr wrap="square" lIns="0" tIns="0" rIns="0" bIns="0" rtlCol="0" anchor="t"/>
          <a:lstStyle/>
          <a:p>
            <a:pPr algn="l" indent="0" marL="0">
              <a:lnSpc>
                <a:spcPts val="1265"/>
              </a:lnSpc>
              <a:buNone/>
            </a:pPr>
            <a:r>
              <a:rPr lang="en-US" sz="891" dirty="0">
                <a:solidFill>
                  <a:srgbClr val="545C54">
                    <a:alpha val="99000"/>
                  </a:srgbClr>
                </a:solidFill>
                <a:latin typeface="Inter" pitchFamily="34" charset="0"/>
                <a:ea typeface="Inter" pitchFamily="34" charset="-122"/>
                <a:cs typeface="Inter" pitchFamily="34" charset="-120"/>
              </a:rPr>
              <a:t>Charge in reais, show the QR, sell through NFC tags per till, cash out to Pix. Wallet restores with a PIN.</a:t>
            </a:r>
            <a:endParaRPr lang="en-US" sz="891" dirty="0"/>
          </a:p>
        </p:txBody>
      </p:sp>
      <p:sp>
        <p:nvSpPr>
          <p:cNvPr id="33" name="Shape 30"/>
          <p:cNvSpPr/>
          <p:nvPr/>
        </p:nvSpPr>
        <p:spPr>
          <a:xfrm>
            <a:off x="4095750" y="2714625"/>
            <a:ext cx="2190750" cy="19050"/>
          </a:xfrm>
          <a:prstGeom prst="rect">
            <a:avLst/>
          </a:prstGeom>
          <a:solidFill>
            <a:srgbClr val="0E130F"/>
          </a:solidFill>
          <a:ln/>
        </p:spPr>
        <p:txBody>
          <a:bodyPr/>
          <a:p/>
        </p:txBody>
      </p:sp>
      <p:sp>
        <p:nvSpPr>
          <p:cNvPr id="46" name="TextBox 45"/>
          <p:cNvSpPr txBox="1"/>
          <p:nvPr/>
        </p:nvSpPr>
        <p:spPr>
          <a:xfrm>
            <a:off x="4095750" y="2847975"/>
            <a:ext cx="251460" cy="185115"/>
          </a:xfrm>
          <a:prstGeom prst="rect">
            <a:avLst/>
          </a:prstGeom>
          <a:noFill/>
        </p:spPr>
        <p:txBody>
          <a:bodyPr wrap="none" lIns="0" tIns="0" rIns="0" bIns="0">
            <a:noAutofit/>
          </a:bodyPr>
          <a:lstStyle/>
          <a:p>
            <a:pPr>
              <a:lnSpc>
                <a:spcPts val="956"/>
              </a:lnSpc>
              <a:defRPr sz="784" b="1">
                <a:solidFill>
                  <a:srgbClr val="0E130F"/>
                </a:solidFill>
                <a:latin typeface="JetBrains Mono"/>
              </a:defRPr>
            </a:pPr>
            <a:r>
              <a:t>WEB</a:t>
            </a:r>
          </a:p>
        </p:txBody>
      </p:sp>
      <p:sp>
        <p:nvSpPr>
          <p:cNvPr id="35" name="Text 32"/>
          <p:cNvSpPr/>
          <p:nvPr/>
        </p:nvSpPr>
        <p:spPr>
          <a:xfrm>
            <a:off x="4095750" y="3048000"/>
            <a:ext cx="2190750" cy="200025"/>
          </a:xfrm>
          <a:prstGeom prst="rect">
            <a:avLst/>
          </a:prstGeom>
          <a:noFill/>
          <a:ln/>
        </p:spPr>
        <p:txBody>
          <a:bodyPr wrap="square" lIns="0" tIns="0" rIns="0" bIns="0" rtlCol="0" anchor="t"/>
          <a:lstStyle/>
          <a:p>
            <a:pPr algn="l" indent="0" marL="0">
              <a:lnSpc>
                <a:spcPts val="1489"/>
              </a:lnSpc>
              <a:buNone/>
            </a:pPr>
            <a:r>
              <a:rPr lang="en-US" sz="1354" b="1" spc="-14" kern="0" dirty="0">
                <a:solidFill>
                  <a:srgbClr val="0E130F">
                    <a:alpha val="99000"/>
                  </a:srgbClr>
                </a:solidFill>
                <a:latin typeface="Inter" pitchFamily="34" charset="0"/>
                <a:ea typeface="Inter" pitchFamily="34" charset="-122"/>
                <a:cs typeface="Inter" pitchFamily="34" charset="-120"/>
              </a:rPr>
              <a:t>simpay.tech + Blinks</a:t>
            </a:r>
            <a:endParaRPr lang="en-US" sz="1354" dirty="0"/>
          </a:p>
        </p:txBody>
      </p:sp>
      <p:sp>
        <p:nvSpPr>
          <p:cNvPr id="36" name="Text 33"/>
          <p:cNvSpPr/>
          <p:nvPr/>
        </p:nvSpPr>
        <p:spPr>
          <a:xfrm>
            <a:off x="4095750" y="3333750"/>
            <a:ext cx="2143125" cy="500063"/>
          </a:xfrm>
          <a:prstGeom prst="rect">
            <a:avLst/>
          </a:prstGeom>
          <a:noFill/>
          <a:ln/>
        </p:spPr>
        <p:txBody>
          <a:bodyPr wrap="square" lIns="0" tIns="0" rIns="0" bIns="0" rtlCol="0" anchor="t"/>
          <a:lstStyle/>
          <a:p>
            <a:pPr algn="l" indent="0" marL="0">
              <a:lnSpc>
                <a:spcPts val="1265"/>
              </a:lnSpc>
              <a:buNone/>
            </a:pPr>
            <a:r>
              <a:rPr lang="en-US" sz="891" dirty="0">
                <a:solidFill>
                  <a:srgbClr val="545C54">
                    <a:alpha val="99000"/>
                  </a:srgbClr>
                </a:solidFill>
                <a:latin typeface="Inter" pitchFamily="34" charset="0"/>
                <a:ea typeface="Inter" pitchFamily="34" charset="-122"/>
                <a:cs typeface="Inter" pitchFamily="34" charset="-120"/>
              </a:rPr>
              <a:t>Buy SIMPAY with Pix to any wallet. Every till link is a Solana Blink payable from Phantom.</a:t>
            </a:r>
            <a:endParaRPr lang="en-US" sz="891" dirty="0"/>
          </a:p>
        </p:txBody>
      </p:sp>
      <p:sp>
        <p:nvSpPr>
          <p:cNvPr id="37" name="Shape 34"/>
          <p:cNvSpPr/>
          <p:nvPr/>
        </p:nvSpPr>
        <p:spPr>
          <a:xfrm>
            <a:off x="6572250" y="2714625"/>
            <a:ext cx="2190750" cy="19050"/>
          </a:xfrm>
          <a:prstGeom prst="rect">
            <a:avLst/>
          </a:prstGeom>
          <a:solidFill>
            <a:srgbClr val="0E130F"/>
          </a:solidFill>
          <a:ln/>
        </p:spPr>
        <p:txBody>
          <a:bodyPr/>
          <a:p/>
        </p:txBody>
      </p:sp>
      <p:sp>
        <p:nvSpPr>
          <p:cNvPr id="47" name="TextBox 46"/>
          <p:cNvSpPr txBox="1"/>
          <p:nvPr/>
        </p:nvSpPr>
        <p:spPr>
          <a:xfrm>
            <a:off x="6572250" y="2847975"/>
            <a:ext cx="251460" cy="185115"/>
          </a:xfrm>
          <a:prstGeom prst="rect">
            <a:avLst/>
          </a:prstGeom>
          <a:noFill/>
        </p:spPr>
        <p:txBody>
          <a:bodyPr wrap="none" lIns="0" tIns="0" rIns="0" bIns="0">
            <a:noAutofit/>
          </a:bodyPr>
          <a:lstStyle/>
          <a:p>
            <a:pPr>
              <a:lnSpc>
                <a:spcPts val="956"/>
              </a:lnSpc>
              <a:defRPr sz="784" b="1">
                <a:solidFill>
                  <a:srgbClr val="0E130F"/>
                </a:solidFill>
                <a:latin typeface="JetBrains Mono"/>
              </a:defRPr>
            </a:pPr>
            <a:r>
              <a:t>OPS</a:t>
            </a:r>
          </a:p>
        </p:txBody>
      </p:sp>
      <p:sp>
        <p:nvSpPr>
          <p:cNvPr id="39" name="Text 36"/>
          <p:cNvSpPr/>
          <p:nvPr/>
        </p:nvSpPr>
        <p:spPr>
          <a:xfrm>
            <a:off x="6572250" y="3048000"/>
            <a:ext cx="2190750" cy="200025"/>
          </a:xfrm>
          <a:prstGeom prst="rect">
            <a:avLst/>
          </a:prstGeom>
          <a:noFill/>
          <a:ln/>
        </p:spPr>
        <p:txBody>
          <a:bodyPr wrap="square" lIns="0" tIns="0" rIns="0" bIns="0" rtlCol="0" anchor="t"/>
          <a:lstStyle/>
          <a:p>
            <a:pPr algn="l" indent="0" marL="0">
              <a:lnSpc>
                <a:spcPts val="1489"/>
              </a:lnSpc>
              <a:buNone/>
            </a:pPr>
            <a:r>
              <a:rPr lang="en-US" sz="1354" b="1" spc="-14" kern="0" dirty="0">
                <a:solidFill>
                  <a:srgbClr val="0E130F">
                    <a:alpha val="99000"/>
                  </a:srgbClr>
                </a:solidFill>
                <a:latin typeface="Inter" pitchFamily="34" charset="0"/>
                <a:ea typeface="Inter" pitchFamily="34" charset="-122"/>
                <a:cs typeface="Inter" pitchFamily="34" charset="-120"/>
              </a:rPr>
              <a:t>Admin console</a:t>
            </a:r>
            <a:endParaRPr lang="en-US" sz="1354" dirty="0"/>
          </a:p>
        </p:txBody>
      </p:sp>
      <p:sp>
        <p:nvSpPr>
          <p:cNvPr id="40" name="Text 37"/>
          <p:cNvSpPr/>
          <p:nvPr/>
        </p:nvSpPr>
        <p:spPr>
          <a:xfrm>
            <a:off x="6572250" y="3333750"/>
            <a:ext cx="2143125" cy="666750"/>
          </a:xfrm>
          <a:prstGeom prst="rect">
            <a:avLst/>
          </a:prstGeom>
          <a:noFill/>
          <a:ln/>
        </p:spPr>
        <p:txBody>
          <a:bodyPr wrap="square" lIns="0" tIns="0" rIns="0" bIns="0" rtlCol="0" anchor="t"/>
          <a:lstStyle/>
          <a:p>
            <a:pPr algn="l" indent="0" marL="0">
              <a:lnSpc>
                <a:spcPts val="1265"/>
              </a:lnSpc>
              <a:buNone/>
            </a:pPr>
            <a:r>
              <a:rPr lang="en-US" sz="891" dirty="0">
                <a:solidFill>
                  <a:srgbClr val="545C54">
                    <a:alpha val="99000"/>
                  </a:srgbClr>
                </a:solidFill>
                <a:latin typeface="Inter" pitchFamily="34" charset="0"/>
                <a:ea typeface="Inter" pitchFamily="34" charset="-122"/>
                <a:cs typeface="Inter" pitchFamily="34" charset="-120"/>
              </a:rPr>
              <a:t>Partner approval, cashback review, Pix webhooks, treasury costs on Solana, push campaigns, full audit log.</a:t>
            </a:r>
            <a:endParaRPr lang="en-US" sz="891" dirty="0"/>
          </a:p>
        </p:txBody>
      </p:sp>
      <p:sp>
        <p:nvSpPr>
          <p:cNvPr id="48" name="TextBox 47"/>
          <p:cNvSpPr txBox="1"/>
          <p:nvPr/>
        </p:nvSpPr>
        <p:spPr>
          <a:xfrm>
            <a:off x="571500" y="4762500"/>
            <a:ext cx="237744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SIMPAY · COLOSSEUM 2026</a:t>
            </a:r>
          </a:p>
        </p:txBody>
      </p:sp>
      <p:sp>
        <p:nvSpPr>
          <p:cNvPr id="49" name="TextBox 48"/>
          <p:cNvSpPr txBox="1"/>
          <p:nvPr/>
        </p:nvSpPr>
        <p:spPr>
          <a:xfrm>
            <a:off x="8381999" y="4762500"/>
            <a:ext cx="19050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30F"/>
        </a:solidFill>
      </p:bgPr>
    </p:bg>
    <p:spTree>
      <p:nvGrpSpPr>
        <p:cNvPr id="1" name=""/>
        <p:cNvGrpSpPr/>
        <p:nvPr/>
      </p:nvGrpSpPr>
      <p:grpSpPr>
        <a:xfrm>
          <a:off x="0" y="0"/>
          <a:ext cx="0" cy="0"/>
          <a:chOff x="0" y="0"/>
          <a:chExt cx="0" cy="0"/>
        </a:xfrm>
      </p:grpSpPr>
      <p:pic>
        <p:nvPicPr>
          <p:cNvPr id="28" name="Image 0" descr="preencoded.png">    </p:cNvPr>
          <p:cNvPicPr>
            <a:picLocks noChangeAspect="1"/>
          </p:cNvPicPr>
          <p:nvPr/>
        </p:nvPicPr>
        <p:blipFill>
          <a:blip r:embed="rId1"/>
          <a:srcRect l="0" r="41935" t="0" b="0"/>
          <a:stretch/>
        </p:blipFill>
        <p:spPr>
          <a:xfrm>
            <a:off x="-1238250" y="1714500"/>
            <a:ext cx="1714500" cy="3257550"/>
          </a:xfrm>
          <a:prstGeom prst="rect">
            <a:avLst/>
          </a:prstGeom>
        </p:spPr>
      </p:pic>
      <p:sp>
        <p:nvSpPr>
          <p:cNvPr id="48" name="TextBox 47"/>
          <p:cNvSpPr txBox="1"/>
          <p:nvPr/>
        </p:nvSpPr>
        <p:spPr>
          <a:xfrm>
            <a:off x="2857500" y="457200"/>
            <a:ext cx="2926080" cy="185115"/>
          </a:xfrm>
          <a:prstGeom prst="rect">
            <a:avLst/>
          </a:prstGeom>
          <a:noFill/>
        </p:spPr>
        <p:txBody>
          <a:bodyPr wrap="none" lIns="0" tIns="0" rIns="0" bIns="0">
            <a:noAutofit/>
          </a:bodyPr>
          <a:lstStyle/>
          <a:p>
            <a:pPr>
              <a:lnSpc>
                <a:spcPts val="956"/>
              </a:lnSpc>
              <a:defRPr sz="784" b="0">
                <a:solidFill>
                  <a:srgbClr val="BDF06B"/>
                </a:solidFill>
                <a:latin typeface="JetBrains Mono"/>
              </a:defRPr>
            </a:pPr>
            <a:r>
              <a:t>05 — WHAT’S NEW</a:t>
            </a:r>
          </a:p>
        </p:txBody>
      </p:sp>
      <p:sp>
        <p:nvSpPr>
          <p:cNvPr id="30" name="Text 26"/>
          <p:cNvSpPr/>
          <p:nvPr/>
        </p:nvSpPr>
        <p:spPr>
          <a:xfrm>
            <a:off x="2857500" y="762000"/>
            <a:ext cx="5715000" cy="685800"/>
          </a:xfrm>
          <a:prstGeom prst="rect">
            <a:avLst/>
          </a:prstGeom>
          <a:noFill/>
          <a:ln/>
        </p:spPr>
        <p:txBody>
          <a:bodyPr wrap="square" lIns="0" tIns="0" rIns="0" bIns="0" rtlCol="0" anchor="t"/>
          <a:lstStyle/>
          <a:p>
            <a:pPr algn="l" indent="0" marL="0">
              <a:lnSpc>
                <a:spcPts val="2565"/>
              </a:lnSpc>
              <a:buNone/>
            </a:pPr>
            <a:r>
              <a:rPr lang="en-US" sz="2565" b="1" spc="-77" kern="0" dirty="0">
                <a:solidFill>
                  <a:srgbClr val="F7F7F2">
                    <a:alpha val="99000"/>
                  </a:srgbClr>
                </a:solidFill>
                <a:latin typeface="Inter" pitchFamily="34" charset="0"/>
                <a:ea typeface="Inter" pitchFamily="34" charset="-122"/>
                <a:cs typeface="Inter" pitchFamily="34" charset="-120"/>
              </a:rPr>
              <a:t>Crypto that behaves</a:t>
            </a:r>
            <a:endParaRPr lang="en-US" sz="2565" dirty="0"/>
          </a:p>
          <a:p>
            <a:pPr algn="l" indent="0" marL="0">
              <a:lnSpc>
                <a:spcPts val="2565"/>
              </a:lnSpc>
              <a:buNone/>
            </a:pPr>
            <a:r>
              <a:rPr lang="en-US" sz="2565" b="1" spc="-77" kern="0" dirty="0">
                <a:solidFill>
                  <a:srgbClr val="F7F7F2">
                    <a:alpha val="99000"/>
                  </a:srgbClr>
                </a:solidFill>
                <a:latin typeface="Inter" pitchFamily="34" charset="0"/>
                <a:ea typeface="Inter" pitchFamily="34" charset="-122"/>
                <a:cs typeface="Inter" pitchFamily="34" charset="-120"/>
              </a:rPr>
              <a:t>like a payment app.</a:t>
            </a:r>
            <a:endParaRPr lang="en-US" sz="2565" dirty="0"/>
          </a:p>
        </p:txBody>
      </p:sp>
      <p:sp>
        <p:nvSpPr>
          <p:cNvPr id="31" name="Shape 27"/>
          <p:cNvSpPr/>
          <p:nvPr/>
        </p:nvSpPr>
        <p:spPr>
          <a:xfrm>
            <a:off x="2857500" y="2000250"/>
            <a:ext cx="5715000" cy="9525"/>
          </a:xfrm>
          <a:prstGeom prst="rect">
            <a:avLst/>
          </a:prstGeom>
          <a:solidFill>
            <a:srgbClr val="333D33"/>
          </a:solidFill>
          <a:ln/>
        </p:spPr>
        <p:txBody>
          <a:bodyPr/>
          <a:p/>
        </p:txBody>
      </p:sp>
      <p:sp>
        <p:nvSpPr>
          <p:cNvPr id="49" name="TextBox 48"/>
          <p:cNvSpPr txBox="1"/>
          <p:nvPr/>
        </p:nvSpPr>
        <p:spPr>
          <a:xfrm>
            <a:off x="2857500" y="2143125"/>
            <a:ext cx="178308" cy="185115"/>
          </a:xfrm>
          <a:prstGeom prst="rect">
            <a:avLst/>
          </a:prstGeom>
          <a:noFill/>
        </p:spPr>
        <p:txBody>
          <a:bodyPr wrap="none" lIns="0" tIns="0" rIns="0" bIns="0">
            <a:noAutofit/>
          </a:bodyPr>
          <a:lstStyle/>
          <a:p>
            <a:pPr>
              <a:lnSpc>
                <a:spcPts val="956"/>
              </a:lnSpc>
              <a:defRPr sz="784" b="1">
                <a:solidFill>
                  <a:srgbClr val="BDF06B"/>
                </a:solidFill>
                <a:latin typeface="JetBrains Mono"/>
              </a:defRPr>
            </a:pPr>
            <a:r>
              <a:t>01</a:t>
            </a:r>
          </a:p>
        </p:txBody>
      </p:sp>
      <p:sp>
        <p:nvSpPr>
          <p:cNvPr id="33" name="Text 29"/>
          <p:cNvSpPr/>
          <p:nvPr/>
        </p:nvSpPr>
        <p:spPr>
          <a:xfrm>
            <a:off x="3238500" y="2114550"/>
            <a:ext cx="2476500" cy="176213"/>
          </a:xfrm>
          <a:prstGeom prst="rect">
            <a:avLst/>
          </a:prstGeom>
          <a:noFill/>
          <a:ln/>
        </p:spPr>
        <p:txBody>
          <a:bodyPr wrap="square" lIns="0" tIns="0" rIns="0" bIns="0" rtlCol="0" anchor="t"/>
          <a:lstStyle/>
          <a:p>
            <a:pPr algn="l" indent="0" marL="0">
              <a:lnSpc>
                <a:spcPts val="1332"/>
              </a:lnSpc>
              <a:buNone/>
            </a:pPr>
            <a:r>
              <a:rPr lang="en-US" sz="1211" b="1" spc="-12" kern="0" dirty="0">
                <a:solidFill>
                  <a:srgbClr val="F7F7F2">
                    <a:alpha val="99000"/>
                  </a:srgbClr>
                </a:solidFill>
                <a:latin typeface="Inter" pitchFamily="34" charset="0"/>
                <a:ea typeface="Inter" pitchFamily="34" charset="-122"/>
                <a:cs typeface="Inter" pitchFamily="34" charset="-120"/>
              </a:rPr>
              <a:t>Tap to pay on Solana</a:t>
            </a:r>
            <a:endParaRPr lang="en-US" sz="1211" dirty="0"/>
          </a:p>
        </p:txBody>
      </p:sp>
      <p:sp>
        <p:nvSpPr>
          <p:cNvPr id="34" name="Text 30"/>
          <p:cNvSpPr/>
          <p:nvPr/>
        </p:nvSpPr>
        <p:spPr>
          <a:xfrm>
            <a:off x="5810250" y="2124075"/>
            <a:ext cx="2762250" cy="323850"/>
          </a:xfrm>
          <a:prstGeom prst="rect">
            <a:avLst/>
          </a:prstGeom>
          <a:noFill/>
          <a:ln/>
        </p:spPr>
        <p:txBody>
          <a:bodyPr wrap="square" lIns="0" tIns="0" rIns="0" bIns="0" rtlCol="0" anchor="t"/>
          <a:lstStyle/>
          <a:p>
            <a:pPr algn="l" indent="0" marL="0">
              <a:lnSpc>
                <a:spcPts val="1197"/>
              </a:lnSpc>
              <a:buNone/>
            </a:pPr>
            <a:r>
              <a:rPr lang="en-US" sz="855" dirty="0">
                <a:solidFill>
                  <a:srgbClr val="B2BDB2">
                    <a:alpha val="99000"/>
                  </a:srgbClr>
                </a:solidFill>
                <a:latin typeface="Inter" pitchFamily="34" charset="0"/>
                <a:ea typeface="Inter" pitchFamily="34" charset="-122"/>
                <a:cs typeface="Inter" pitchFamily="34" charset="-120"/>
              </a:rPr>
              <a:t>NFC tags at each till open the live charge. No card machine, no app required on the merchant side.</a:t>
            </a:r>
            <a:endParaRPr lang="en-US" sz="855" dirty="0"/>
          </a:p>
        </p:txBody>
      </p:sp>
      <p:sp>
        <p:nvSpPr>
          <p:cNvPr id="35" name="Shape 31"/>
          <p:cNvSpPr/>
          <p:nvPr/>
        </p:nvSpPr>
        <p:spPr>
          <a:xfrm>
            <a:off x="2857500" y="2628900"/>
            <a:ext cx="5715000" cy="9525"/>
          </a:xfrm>
          <a:prstGeom prst="rect">
            <a:avLst/>
          </a:prstGeom>
          <a:solidFill>
            <a:srgbClr val="333D33"/>
          </a:solidFill>
          <a:ln/>
        </p:spPr>
        <p:txBody>
          <a:bodyPr/>
          <a:p/>
        </p:txBody>
      </p:sp>
      <p:sp>
        <p:nvSpPr>
          <p:cNvPr id="50" name="TextBox 49"/>
          <p:cNvSpPr txBox="1"/>
          <p:nvPr/>
        </p:nvSpPr>
        <p:spPr>
          <a:xfrm>
            <a:off x="2857500" y="2771775"/>
            <a:ext cx="178308" cy="185115"/>
          </a:xfrm>
          <a:prstGeom prst="rect">
            <a:avLst/>
          </a:prstGeom>
          <a:noFill/>
        </p:spPr>
        <p:txBody>
          <a:bodyPr wrap="none" lIns="0" tIns="0" rIns="0" bIns="0">
            <a:noAutofit/>
          </a:bodyPr>
          <a:lstStyle/>
          <a:p>
            <a:pPr>
              <a:lnSpc>
                <a:spcPts val="956"/>
              </a:lnSpc>
              <a:defRPr sz="784" b="1">
                <a:solidFill>
                  <a:srgbClr val="BDF06B"/>
                </a:solidFill>
                <a:latin typeface="JetBrains Mono"/>
              </a:defRPr>
            </a:pPr>
            <a:r>
              <a:t>02</a:t>
            </a:r>
          </a:p>
        </p:txBody>
      </p:sp>
      <p:sp>
        <p:nvSpPr>
          <p:cNvPr id="37" name="Text 33"/>
          <p:cNvSpPr/>
          <p:nvPr/>
        </p:nvSpPr>
        <p:spPr>
          <a:xfrm>
            <a:off x="3238500" y="2743200"/>
            <a:ext cx="2476500" cy="176213"/>
          </a:xfrm>
          <a:prstGeom prst="rect">
            <a:avLst/>
          </a:prstGeom>
          <a:noFill/>
          <a:ln/>
        </p:spPr>
        <p:txBody>
          <a:bodyPr wrap="square" lIns="0" tIns="0" rIns="0" bIns="0" rtlCol="0" anchor="t"/>
          <a:lstStyle/>
          <a:p>
            <a:pPr algn="l" indent="0" marL="0">
              <a:lnSpc>
                <a:spcPts val="1332"/>
              </a:lnSpc>
              <a:buNone/>
            </a:pPr>
            <a:r>
              <a:rPr lang="en-US" sz="1211" b="1" spc="-12" kern="0" dirty="0">
                <a:solidFill>
                  <a:srgbClr val="F7F7F2">
                    <a:alpha val="99000"/>
                  </a:srgbClr>
                </a:solidFill>
                <a:latin typeface="Inter" pitchFamily="34" charset="0"/>
                <a:ea typeface="Inter" pitchFamily="34" charset="-122"/>
                <a:cs typeface="Inter" pitchFamily="34" charset="-120"/>
              </a:rPr>
              <a:t>Every till is a Blink</a:t>
            </a:r>
            <a:endParaRPr lang="en-US" sz="1211" dirty="0"/>
          </a:p>
        </p:txBody>
      </p:sp>
      <p:sp>
        <p:nvSpPr>
          <p:cNvPr id="38" name="Text 34"/>
          <p:cNvSpPr/>
          <p:nvPr/>
        </p:nvSpPr>
        <p:spPr>
          <a:xfrm>
            <a:off x="5810250" y="2752725"/>
            <a:ext cx="2762250" cy="323850"/>
          </a:xfrm>
          <a:prstGeom prst="rect">
            <a:avLst/>
          </a:prstGeom>
          <a:noFill/>
          <a:ln/>
        </p:spPr>
        <p:txBody>
          <a:bodyPr wrap="square" lIns="0" tIns="0" rIns="0" bIns="0" rtlCol="0" anchor="t"/>
          <a:lstStyle/>
          <a:p>
            <a:pPr algn="l" indent="0" marL="0">
              <a:lnSpc>
                <a:spcPts val="1197"/>
              </a:lnSpc>
              <a:buNone/>
            </a:pPr>
            <a:r>
              <a:rPr lang="en-US" sz="855" dirty="0">
                <a:solidFill>
                  <a:srgbClr val="B2BDB2">
                    <a:alpha val="99000"/>
                  </a:srgbClr>
                </a:solidFill>
                <a:latin typeface="Inter" pitchFamily="34" charset="0"/>
                <a:ea typeface="Inter" pitchFamily="34" charset="-122"/>
                <a:cs typeface="Inter" pitchFamily="34" charset="-120"/>
              </a:rPr>
              <a:t>The same link becomes a Solana Action: pay from Phantom or anywhere Blinks render.</a:t>
            </a:r>
            <a:endParaRPr lang="en-US" sz="855" dirty="0"/>
          </a:p>
        </p:txBody>
      </p:sp>
      <p:sp>
        <p:nvSpPr>
          <p:cNvPr id="39" name="Shape 35"/>
          <p:cNvSpPr/>
          <p:nvPr/>
        </p:nvSpPr>
        <p:spPr>
          <a:xfrm>
            <a:off x="2857500" y="3257550"/>
            <a:ext cx="5715000" cy="9525"/>
          </a:xfrm>
          <a:prstGeom prst="rect">
            <a:avLst/>
          </a:prstGeom>
          <a:solidFill>
            <a:srgbClr val="333D33"/>
          </a:solidFill>
          <a:ln/>
        </p:spPr>
        <p:txBody>
          <a:bodyPr/>
          <a:p/>
        </p:txBody>
      </p:sp>
      <p:sp>
        <p:nvSpPr>
          <p:cNvPr id="51" name="TextBox 50"/>
          <p:cNvSpPr txBox="1"/>
          <p:nvPr/>
        </p:nvSpPr>
        <p:spPr>
          <a:xfrm>
            <a:off x="2857500" y="3400425"/>
            <a:ext cx="178308" cy="185115"/>
          </a:xfrm>
          <a:prstGeom prst="rect">
            <a:avLst/>
          </a:prstGeom>
          <a:noFill/>
        </p:spPr>
        <p:txBody>
          <a:bodyPr wrap="none" lIns="0" tIns="0" rIns="0" bIns="0">
            <a:noAutofit/>
          </a:bodyPr>
          <a:lstStyle/>
          <a:p>
            <a:pPr>
              <a:lnSpc>
                <a:spcPts val="956"/>
              </a:lnSpc>
              <a:defRPr sz="784" b="1">
                <a:solidFill>
                  <a:srgbClr val="BDF06B"/>
                </a:solidFill>
                <a:latin typeface="JetBrains Mono"/>
              </a:defRPr>
            </a:pPr>
            <a:r>
              <a:t>03</a:t>
            </a:r>
          </a:p>
        </p:txBody>
      </p:sp>
      <p:sp>
        <p:nvSpPr>
          <p:cNvPr id="41" name="Text 37"/>
          <p:cNvSpPr/>
          <p:nvPr/>
        </p:nvSpPr>
        <p:spPr>
          <a:xfrm>
            <a:off x="3238500" y="3371850"/>
            <a:ext cx="2476500" cy="176213"/>
          </a:xfrm>
          <a:prstGeom prst="rect">
            <a:avLst/>
          </a:prstGeom>
          <a:noFill/>
          <a:ln/>
        </p:spPr>
        <p:txBody>
          <a:bodyPr wrap="square" lIns="0" tIns="0" rIns="0" bIns="0" rtlCol="0" anchor="t"/>
          <a:lstStyle/>
          <a:p>
            <a:pPr algn="l" indent="0" marL="0">
              <a:lnSpc>
                <a:spcPts val="1332"/>
              </a:lnSpc>
              <a:buNone/>
            </a:pPr>
            <a:r>
              <a:rPr lang="en-US" sz="1211" b="1" spc="-12" kern="0" dirty="0">
                <a:solidFill>
                  <a:srgbClr val="F7F7F2">
                    <a:alpha val="99000"/>
                  </a:srgbClr>
                </a:solidFill>
                <a:latin typeface="Inter" pitchFamily="34" charset="0"/>
                <a:ea typeface="Inter" pitchFamily="34" charset="-122"/>
                <a:cs typeface="Inter" pitchFamily="34" charset="-120"/>
              </a:rPr>
              <a:t>Recover with a PIN</a:t>
            </a:r>
            <a:endParaRPr lang="en-US" sz="1211" dirty="0"/>
          </a:p>
        </p:txBody>
      </p:sp>
      <p:sp>
        <p:nvSpPr>
          <p:cNvPr id="42" name="Text 38"/>
          <p:cNvSpPr/>
          <p:nvPr/>
        </p:nvSpPr>
        <p:spPr>
          <a:xfrm>
            <a:off x="5810250" y="3381375"/>
            <a:ext cx="2762250" cy="485775"/>
          </a:xfrm>
          <a:prstGeom prst="rect">
            <a:avLst/>
          </a:prstGeom>
          <a:noFill/>
          <a:ln/>
        </p:spPr>
        <p:txBody>
          <a:bodyPr wrap="square" lIns="0" tIns="0" rIns="0" bIns="0" rtlCol="0" anchor="t"/>
          <a:lstStyle/>
          <a:p>
            <a:pPr algn="l" indent="0" marL="0">
              <a:lnSpc>
                <a:spcPts val="1197"/>
              </a:lnSpc>
              <a:buNone/>
            </a:pPr>
            <a:r>
              <a:rPr lang="en-US" sz="855" dirty="0">
                <a:solidFill>
                  <a:srgbClr val="B2BDB2">
                    <a:alpha val="99000"/>
                  </a:srgbClr>
                </a:solidFill>
                <a:latin typeface="Inter" pitchFamily="34" charset="0"/>
                <a:ea typeface="Inter" pitchFamily="34" charset="-122"/>
                <a:cs typeface="Inter" pitchFamily="34" charset="-120"/>
              </a:rPr>
              <a:t>Merchant wallets restore on a new device with only the PIN (Argon2id + server share). Keys never leave the device.</a:t>
            </a:r>
            <a:endParaRPr lang="en-US" sz="855" dirty="0"/>
          </a:p>
        </p:txBody>
      </p:sp>
      <p:sp>
        <p:nvSpPr>
          <p:cNvPr id="43" name="Shape 39"/>
          <p:cNvSpPr/>
          <p:nvPr/>
        </p:nvSpPr>
        <p:spPr>
          <a:xfrm>
            <a:off x="2857500" y="3886200"/>
            <a:ext cx="5715000" cy="9525"/>
          </a:xfrm>
          <a:prstGeom prst="rect">
            <a:avLst/>
          </a:prstGeom>
          <a:solidFill>
            <a:srgbClr val="333D33"/>
          </a:solidFill>
          <a:ln/>
        </p:spPr>
        <p:txBody>
          <a:bodyPr/>
          <a:p/>
        </p:txBody>
      </p:sp>
      <p:sp>
        <p:nvSpPr>
          <p:cNvPr id="52" name="TextBox 51"/>
          <p:cNvSpPr txBox="1"/>
          <p:nvPr/>
        </p:nvSpPr>
        <p:spPr>
          <a:xfrm>
            <a:off x="2857500" y="4029075"/>
            <a:ext cx="178308" cy="185115"/>
          </a:xfrm>
          <a:prstGeom prst="rect">
            <a:avLst/>
          </a:prstGeom>
          <a:noFill/>
        </p:spPr>
        <p:txBody>
          <a:bodyPr wrap="none" lIns="0" tIns="0" rIns="0" bIns="0">
            <a:noAutofit/>
          </a:bodyPr>
          <a:lstStyle/>
          <a:p>
            <a:pPr>
              <a:lnSpc>
                <a:spcPts val="956"/>
              </a:lnSpc>
              <a:defRPr sz="784" b="1">
                <a:solidFill>
                  <a:srgbClr val="BDF06B"/>
                </a:solidFill>
                <a:latin typeface="JetBrains Mono"/>
              </a:defRPr>
            </a:pPr>
            <a:r>
              <a:t>04</a:t>
            </a:r>
          </a:p>
        </p:txBody>
      </p:sp>
      <p:sp>
        <p:nvSpPr>
          <p:cNvPr id="45" name="Text 41"/>
          <p:cNvSpPr/>
          <p:nvPr/>
        </p:nvSpPr>
        <p:spPr>
          <a:xfrm>
            <a:off x="3238500" y="4000500"/>
            <a:ext cx="2476500" cy="352425"/>
          </a:xfrm>
          <a:prstGeom prst="rect">
            <a:avLst/>
          </a:prstGeom>
          <a:noFill/>
          <a:ln/>
        </p:spPr>
        <p:txBody>
          <a:bodyPr wrap="square" lIns="0" tIns="0" rIns="0" bIns="0" rtlCol="0" anchor="t"/>
          <a:lstStyle/>
          <a:p>
            <a:pPr algn="l" indent="0" marL="0">
              <a:lnSpc>
                <a:spcPts val="1332"/>
              </a:lnSpc>
              <a:buNone/>
            </a:pPr>
            <a:r>
              <a:rPr lang="en-US" sz="1211" b="1" spc="-12" kern="0" dirty="0">
                <a:solidFill>
                  <a:srgbClr val="F7F7F2">
                    <a:alpha val="99000"/>
                  </a:srgbClr>
                </a:solidFill>
                <a:latin typeface="Inter" pitchFamily="34" charset="0"/>
                <a:ea typeface="Inter" pitchFamily="34" charset="-122"/>
                <a:cs typeface="Inter" pitchFamily="34" charset="-120"/>
              </a:rPr>
              <a:t>Rewards with a human in the loop</a:t>
            </a:r>
            <a:endParaRPr lang="en-US" sz="1211" dirty="0"/>
          </a:p>
        </p:txBody>
      </p:sp>
      <p:sp>
        <p:nvSpPr>
          <p:cNvPr id="46" name="Text 42"/>
          <p:cNvSpPr/>
          <p:nvPr/>
        </p:nvSpPr>
        <p:spPr>
          <a:xfrm>
            <a:off x="5810250" y="4010025"/>
            <a:ext cx="2762250" cy="323850"/>
          </a:xfrm>
          <a:prstGeom prst="rect">
            <a:avLst/>
          </a:prstGeom>
          <a:noFill/>
          <a:ln/>
        </p:spPr>
        <p:txBody>
          <a:bodyPr wrap="square" lIns="0" tIns="0" rIns="0" bIns="0" rtlCol="0" anchor="t"/>
          <a:lstStyle/>
          <a:p>
            <a:pPr algn="l" indent="0" marL="0">
              <a:lnSpc>
                <a:spcPts val="1197"/>
              </a:lnSpc>
              <a:buNone/>
            </a:pPr>
            <a:r>
              <a:rPr lang="en-US" sz="855" dirty="0">
                <a:solidFill>
                  <a:srgbClr val="B2BDB2">
                    <a:alpha val="99000"/>
                  </a:srgbClr>
                </a:solidFill>
                <a:latin typeface="Inter" pitchFamily="34" charset="0"/>
                <a:ea typeface="Inter" pitchFamily="34" charset="-122"/>
                <a:cs typeface="Inter" pitchFamily="34" charset="-120"/>
              </a:rPr>
              <a:t>Cashback and referrals are scheduled, reviewable by an admin, then paid automatically on-chain.</a:t>
            </a:r>
            <a:endParaRPr lang="en-US" sz="855" dirty="0"/>
          </a:p>
        </p:txBody>
      </p:sp>
      <p:sp>
        <p:nvSpPr>
          <p:cNvPr id="53" name="TextBox 52"/>
          <p:cNvSpPr txBox="1"/>
          <p:nvPr/>
        </p:nvSpPr>
        <p:spPr>
          <a:xfrm>
            <a:off x="8381999" y="4762500"/>
            <a:ext cx="190500" cy="159689"/>
          </a:xfrm>
          <a:prstGeom prst="rect">
            <a:avLst/>
          </a:prstGeom>
          <a:noFill/>
        </p:spPr>
        <p:txBody>
          <a:bodyPr wrap="none" lIns="0" tIns="0" rIns="0" bIns="0">
            <a:noAutofit/>
          </a:bodyPr>
          <a:lstStyle/>
          <a:p>
            <a:pPr>
              <a:lnSpc>
                <a:spcPts val="782"/>
              </a:lnSpc>
              <a:defRPr sz="641" b="0">
                <a:solidFill>
                  <a:srgbClr val="B2BDB2"/>
                </a:solidFill>
                <a:latin typeface="JetBrains Mono"/>
              </a:defRPr>
            </a:pPr>
            <a: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2"/>
        </a:solidFill>
      </p:bgPr>
    </p:bg>
    <p:spTree>
      <p:nvGrpSpPr>
        <p:cNvPr id="1" name=""/>
        <p:cNvGrpSpPr/>
        <p:nvPr/>
      </p:nvGrpSpPr>
      <p:grpSpPr>
        <a:xfrm>
          <a:off x="0" y="0"/>
          <a:ext cx="0" cy="0"/>
          <a:chOff x="0" y="0"/>
          <a:chExt cx="0" cy="0"/>
        </a:xfrm>
      </p:grpSpPr>
      <p:sp>
        <p:nvSpPr>
          <p:cNvPr id="19" name="Shape 16"/>
          <p:cNvSpPr/>
          <p:nvPr/>
        </p:nvSpPr>
        <p:spPr>
          <a:xfrm>
            <a:off x="0" y="0"/>
            <a:ext cx="9144000" cy="2857500"/>
          </a:xfrm>
          <a:prstGeom prst="rect">
            <a:avLst/>
          </a:prstGeom>
          <a:solidFill>
            <a:srgbClr val="0E130F"/>
          </a:solidFill>
          <a:ln/>
        </p:spPr>
        <p:txBody>
          <a:bodyPr/>
          <a:p/>
        </p:txBody>
      </p:sp>
      <p:sp>
        <p:nvSpPr>
          <p:cNvPr id="44" name="TextBox 43"/>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BDF06B"/>
                </a:solidFill>
                <a:latin typeface="JetBrains Mono"/>
              </a:defRPr>
            </a:pPr>
            <a:r>
              <a:t>06 — BUILT ON SOLANA</a:t>
            </a:r>
          </a:p>
        </p:txBody>
      </p:sp>
      <p:sp>
        <p:nvSpPr>
          <p:cNvPr id="21" name="Text 18"/>
          <p:cNvSpPr/>
          <p:nvPr/>
        </p:nvSpPr>
        <p:spPr>
          <a:xfrm>
            <a:off x="571500" y="809625"/>
            <a:ext cx="2476500" cy="1266825"/>
          </a:xfrm>
          <a:prstGeom prst="rect">
            <a:avLst/>
          </a:prstGeom>
          <a:noFill/>
          <a:ln/>
        </p:spPr>
        <p:txBody>
          <a:bodyPr wrap="square" lIns="0" tIns="0" rIns="0" bIns="0" rtlCol="0" anchor="t"/>
          <a:lstStyle/>
          <a:p>
            <a:pPr algn="l" indent="0" marL="0">
              <a:lnSpc>
                <a:spcPts val="9485"/>
              </a:lnSpc>
              <a:buNone/>
            </a:pPr>
            <a:r>
              <a:rPr lang="en-US" sz="7838" b="1" spc="-392" kern="0" dirty="0">
                <a:solidFill>
                  <a:srgbClr val="BDF06B">
                    <a:alpha val="99000"/>
                  </a:srgbClr>
                </a:solidFill>
                <a:latin typeface="Inter" pitchFamily="34" charset="0"/>
                <a:ea typeface="Inter" pitchFamily="34" charset="-122"/>
                <a:cs typeface="Inter" pitchFamily="34" charset="-120"/>
              </a:rPr>
              <a:t>~1s</a:t>
            </a:r>
            <a:endParaRPr lang="en-US" sz="7838" dirty="0"/>
          </a:p>
        </p:txBody>
      </p:sp>
      <p:sp>
        <p:nvSpPr>
          <p:cNvPr id="22" name="Text 19"/>
          <p:cNvSpPr/>
          <p:nvPr/>
        </p:nvSpPr>
        <p:spPr>
          <a:xfrm>
            <a:off x="571500" y="2238375"/>
            <a:ext cx="2476500" cy="371475"/>
          </a:xfrm>
          <a:prstGeom prst="rect">
            <a:avLst/>
          </a:prstGeom>
          <a:noFill/>
          <a:ln/>
        </p:spPr>
        <p:txBody>
          <a:bodyPr wrap="square" lIns="0" tIns="0" rIns="0" bIns="0" rtlCol="0" anchor="t"/>
          <a:lstStyle/>
          <a:p>
            <a:pPr algn="l" indent="0" marL="0">
              <a:lnSpc>
                <a:spcPts val="1389"/>
              </a:lnSpc>
              <a:buNone/>
            </a:pPr>
            <a:r>
              <a:rPr lang="en-US" sz="1069" dirty="0">
                <a:solidFill>
                  <a:srgbClr val="F7F7F2">
                    <a:alpha val="99000"/>
                  </a:srgbClr>
                </a:solidFill>
                <a:latin typeface="Inter" pitchFamily="34" charset="0"/>
                <a:ea typeface="Inter" pitchFamily="34" charset="-122"/>
                <a:cs typeface="Inter" pitchFamily="34" charset="-120"/>
              </a:rPr>
              <a:t>to confirm a payment</a:t>
            </a:r>
            <a:endParaRPr lang="en-US" sz="1069" dirty="0"/>
          </a:p>
          <a:p>
            <a:pPr algn="l" indent="0" marL="0">
              <a:lnSpc>
                <a:spcPts val="1389"/>
              </a:lnSpc>
              <a:buNone/>
            </a:pPr>
            <a:r>
              <a:rPr lang="en-US" sz="1069" dirty="0">
                <a:solidFill>
                  <a:srgbClr val="F7F7F2">
                    <a:alpha val="99000"/>
                  </a:srgbClr>
                </a:solidFill>
                <a:latin typeface="Inter" pitchFamily="34" charset="0"/>
                <a:ea typeface="Inter" pitchFamily="34" charset="-122"/>
                <a:cs typeface="Inter" pitchFamily="34" charset="-120"/>
              </a:rPr>
              <a:t>at the counter</a:t>
            </a:r>
            <a:endParaRPr lang="en-US" sz="1069" dirty="0"/>
          </a:p>
        </p:txBody>
      </p:sp>
      <p:sp>
        <p:nvSpPr>
          <p:cNvPr id="23" name="Text 20"/>
          <p:cNvSpPr/>
          <p:nvPr/>
        </p:nvSpPr>
        <p:spPr>
          <a:xfrm>
            <a:off x="3429000" y="809625"/>
            <a:ext cx="5238750" cy="1266825"/>
          </a:xfrm>
          <a:prstGeom prst="rect">
            <a:avLst/>
          </a:prstGeom>
          <a:noFill/>
          <a:ln/>
        </p:spPr>
        <p:txBody>
          <a:bodyPr wrap="square" lIns="0" tIns="0" rIns="0" bIns="0" rtlCol="0" anchor="t"/>
          <a:lstStyle/>
          <a:p>
            <a:pPr algn="l" indent="0" marL="0">
              <a:lnSpc>
                <a:spcPts val="9485"/>
              </a:lnSpc>
              <a:buNone/>
            </a:pPr>
            <a:r>
              <a:rPr lang="en-US" sz="7838" b="1" spc="-392" kern="0" dirty="0">
                <a:solidFill>
                  <a:srgbClr val="F7F7F2">
                    <a:alpha val="99000"/>
                  </a:srgbClr>
                </a:solidFill>
                <a:latin typeface="Inter" pitchFamily="34" charset="0"/>
                <a:ea typeface="Inter" pitchFamily="34" charset="-122"/>
                <a:cs typeface="Inter" pitchFamily="34" charset="-120"/>
              </a:rPr>
              <a:t>&lt;$0.001</a:t>
            </a:r>
            <a:endParaRPr lang="en-US" sz="7838" dirty="0"/>
          </a:p>
        </p:txBody>
      </p:sp>
      <p:sp>
        <p:nvSpPr>
          <p:cNvPr id="24" name="Text 21"/>
          <p:cNvSpPr/>
          <p:nvPr/>
        </p:nvSpPr>
        <p:spPr>
          <a:xfrm>
            <a:off x="3429000" y="2238375"/>
            <a:ext cx="3333750" cy="371475"/>
          </a:xfrm>
          <a:prstGeom prst="rect">
            <a:avLst/>
          </a:prstGeom>
          <a:noFill/>
          <a:ln/>
        </p:spPr>
        <p:txBody>
          <a:bodyPr wrap="square" lIns="0" tIns="0" rIns="0" bIns="0" rtlCol="0" anchor="t"/>
          <a:lstStyle/>
          <a:p>
            <a:pPr algn="l" indent="0" marL="0">
              <a:lnSpc>
                <a:spcPts val="1389"/>
              </a:lnSpc>
              <a:buNone/>
            </a:pPr>
            <a:r>
              <a:rPr lang="en-US" sz="1069" dirty="0">
                <a:solidFill>
                  <a:srgbClr val="F7F7F2">
                    <a:alpha val="99000"/>
                  </a:srgbClr>
                </a:solidFill>
                <a:latin typeface="Inter" pitchFamily="34" charset="0"/>
                <a:ea typeface="Inter" pitchFamily="34" charset="-122"/>
                <a:cs typeface="Inter" pitchFamily="34" charset="-120"/>
              </a:rPr>
              <a:t>network fee per transaction,</a:t>
            </a:r>
            <a:endParaRPr lang="en-US" sz="1069" dirty="0"/>
          </a:p>
          <a:p>
            <a:pPr algn="l" indent="0" marL="0">
              <a:lnSpc>
                <a:spcPts val="1389"/>
              </a:lnSpc>
              <a:buNone/>
            </a:pPr>
            <a:r>
              <a:rPr lang="en-US" sz="1069" dirty="0">
                <a:solidFill>
                  <a:srgbClr val="F7F7F2">
                    <a:alpha val="99000"/>
                  </a:srgbClr>
                </a:solidFill>
                <a:latin typeface="Inter" pitchFamily="34" charset="0"/>
                <a:ea typeface="Inter" pitchFamily="34" charset="-122"/>
                <a:cs typeface="Inter" pitchFamily="34" charset="-120"/>
              </a:rPr>
              <a:t>so micro-payments make sense</a:t>
            </a:r>
            <a:endParaRPr lang="en-US" sz="1069" dirty="0"/>
          </a:p>
        </p:txBody>
      </p:sp>
      <p:sp>
        <p:nvSpPr>
          <p:cNvPr id="25" name="Text 22"/>
          <p:cNvSpPr/>
          <p:nvPr/>
        </p:nvSpPr>
        <p:spPr>
          <a:xfrm>
            <a:off x="571500" y="3143250"/>
            <a:ext cx="6667500" cy="252413"/>
          </a:xfrm>
          <a:prstGeom prst="rect">
            <a:avLst/>
          </a:prstGeom>
          <a:noFill/>
          <a:ln/>
        </p:spPr>
        <p:txBody>
          <a:bodyPr wrap="square" lIns="0" tIns="0" rIns="0" bIns="0" rtlCol="0" anchor="t"/>
          <a:lstStyle/>
          <a:p>
            <a:pPr algn="l" indent="0" marL="0">
              <a:lnSpc>
                <a:spcPts val="1897"/>
              </a:lnSpc>
              <a:buNone/>
            </a:pPr>
            <a:r>
              <a:rPr lang="en-US" sz="1140" b="1" spc="-24" kern="0" dirty="0">
                <a:solidFill>
                  <a:srgbClr val="0E130F">
                    <a:alpha val="99000"/>
                  </a:srgbClr>
                </a:solidFill>
                <a:latin typeface="Inter" pitchFamily="34" charset="0"/>
                <a:ea typeface="Inter" pitchFamily="34" charset="-122"/>
                <a:cs typeface="Inter" pitchFamily="34" charset="-120"/>
              </a:rPr>
              <a:t>Built on Solana devnet.</a:t>
            </a:r>
            <a:endParaRPr lang="en-US" sz="1568" dirty="0"/>
          </a:p>
        </p:txBody>
      </p:sp>
      <p:sp>
        <p:nvSpPr>
          <p:cNvPr id="26" name="Shape 23"/>
          <p:cNvSpPr/>
          <p:nvPr/>
        </p:nvSpPr>
        <p:spPr>
          <a:xfrm>
            <a:off x="571500" y="3571875"/>
            <a:ext cx="866775" cy="304800"/>
          </a:xfrm>
          <a:prstGeom prst="roundRect">
            <a:avLst>
              <a:gd name="adj" fmla="val 2997000"/>
            </a:avLst>
          </a:prstGeom>
          <a:noFill/>
          <a:ln w="9049">
            <a:solidFill>
              <a:srgbClr val="0E130F"/>
            </a:solidFill>
            <a:prstDash val="solid"/>
          </a:ln>
        </p:spPr>
        <p:txBody>
          <a:bodyPr/>
          <a:p/>
        </p:txBody>
      </p:sp>
      <p:sp>
        <p:nvSpPr>
          <p:cNvPr id="45" name="TextBox 44"/>
          <p:cNvSpPr txBox="1"/>
          <p:nvPr/>
        </p:nvSpPr>
        <p:spPr>
          <a:xfrm>
            <a:off x="695325" y="3648075"/>
            <a:ext cx="629257" cy="197739"/>
          </a:xfrm>
          <a:prstGeom prst="rect">
            <a:avLst/>
          </a:prstGeom>
          <a:noFill/>
        </p:spPr>
        <p:txBody>
          <a:bodyPr wrap="none" lIns="0" tIns="0" rIns="0" bIns="0">
            <a:noAutofit/>
          </a:bodyPr>
          <a:lstStyle/>
          <a:p>
            <a:pPr>
              <a:lnSpc>
                <a:spcPts val="1043"/>
              </a:lnSpc>
              <a:defRPr sz="855" b="0">
                <a:solidFill>
                  <a:srgbClr val="0E130F"/>
                </a:solidFill>
                <a:latin typeface="JetBrains Mono"/>
              </a:defRPr>
            </a:pPr>
            <a:r>
              <a:t>SPL Token</a:t>
            </a:r>
          </a:p>
        </p:txBody>
      </p:sp>
      <p:sp>
        <p:nvSpPr>
          <p:cNvPr id="28" name="Shape 25"/>
          <p:cNvSpPr/>
          <p:nvPr/>
        </p:nvSpPr>
        <p:spPr>
          <a:xfrm>
            <a:off x="1514475" y="3571875"/>
            <a:ext cx="1690688" cy="304800"/>
          </a:xfrm>
          <a:prstGeom prst="roundRect">
            <a:avLst>
              <a:gd name="adj" fmla="val 2997000"/>
            </a:avLst>
          </a:prstGeom>
          <a:noFill/>
          <a:ln w="9049">
            <a:solidFill>
              <a:srgbClr val="0E130F"/>
            </a:solidFill>
            <a:prstDash val="solid"/>
          </a:ln>
        </p:spPr>
        <p:txBody>
          <a:bodyPr/>
          <a:p/>
        </p:txBody>
      </p:sp>
      <p:sp>
        <p:nvSpPr>
          <p:cNvPr id="46" name="TextBox 45"/>
          <p:cNvSpPr txBox="1"/>
          <p:nvPr/>
        </p:nvSpPr>
        <p:spPr>
          <a:xfrm>
            <a:off x="1638300" y="3648075"/>
            <a:ext cx="1443038" cy="197739"/>
          </a:xfrm>
          <a:prstGeom prst="rect">
            <a:avLst/>
          </a:prstGeom>
          <a:noFill/>
        </p:spPr>
        <p:txBody>
          <a:bodyPr wrap="none" lIns="0" tIns="0" rIns="0" bIns="0">
            <a:noAutofit/>
          </a:bodyPr>
          <a:lstStyle/>
          <a:p>
            <a:pPr>
              <a:lnSpc>
                <a:spcPts val="1043"/>
              </a:lnSpc>
              <a:defRPr sz="855" b="0">
                <a:solidFill>
                  <a:srgbClr val="0E130F"/>
                </a:solidFill>
                <a:latin typeface="JetBrains Mono"/>
              </a:defRPr>
            </a:pPr>
            <a:r>
              <a:t>Solana Pay references</a:t>
            </a:r>
          </a:p>
        </p:txBody>
      </p:sp>
      <p:sp>
        <p:nvSpPr>
          <p:cNvPr id="30" name="Shape 27"/>
          <p:cNvSpPr/>
          <p:nvPr/>
        </p:nvSpPr>
        <p:spPr>
          <a:xfrm>
            <a:off x="3281363" y="3571875"/>
            <a:ext cx="1824038" cy="304800"/>
          </a:xfrm>
          <a:prstGeom prst="roundRect">
            <a:avLst>
              <a:gd name="adj" fmla="val 2997000"/>
            </a:avLst>
          </a:prstGeom>
          <a:noFill/>
          <a:ln w="9049">
            <a:solidFill>
              <a:srgbClr val="0E130F"/>
            </a:solidFill>
            <a:prstDash val="solid"/>
          </a:ln>
        </p:spPr>
        <p:txBody>
          <a:bodyPr/>
          <a:p/>
        </p:txBody>
      </p:sp>
      <p:sp>
        <p:nvSpPr>
          <p:cNvPr id="47" name="TextBox 46"/>
          <p:cNvSpPr txBox="1"/>
          <p:nvPr/>
        </p:nvSpPr>
        <p:spPr>
          <a:xfrm>
            <a:off x="3405188" y="3648075"/>
            <a:ext cx="1576388" cy="197739"/>
          </a:xfrm>
          <a:prstGeom prst="rect">
            <a:avLst/>
          </a:prstGeom>
          <a:noFill/>
        </p:spPr>
        <p:txBody>
          <a:bodyPr wrap="none" lIns="0" tIns="0" rIns="0" bIns="0">
            <a:noAutofit/>
          </a:bodyPr>
          <a:lstStyle/>
          <a:p>
            <a:pPr>
              <a:lnSpc>
                <a:spcPts val="1043"/>
              </a:lnSpc>
              <a:defRPr sz="855" b="0">
                <a:solidFill>
                  <a:srgbClr val="0E130F"/>
                </a:solidFill>
                <a:latin typeface="JetBrains Mono"/>
              </a:defRPr>
            </a:pPr>
            <a:r>
              <a:t>Solana Actions / Blinks</a:t>
            </a:r>
          </a:p>
        </p:txBody>
      </p:sp>
      <p:sp>
        <p:nvSpPr>
          <p:cNvPr id="32" name="Shape 29"/>
          <p:cNvSpPr/>
          <p:nvPr/>
        </p:nvSpPr>
        <p:spPr>
          <a:xfrm>
            <a:off x="5181600" y="3571875"/>
            <a:ext cx="1414463" cy="304800"/>
          </a:xfrm>
          <a:prstGeom prst="roundRect">
            <a:avLst>
              <a:gd name="adj" fmla="val 2997000"/>
            </a:avLst>
          </a:prstGeom>
          <a:noFill/>
          <a:ln w="9049">
            <a:solidFill>
              <a:srgbClr val="0E130F"/>
            </a:solidFill>
            <a:prstDash val="solid"/>
          </a:ln>
        </p:spPr>
        <p:txBody>
          <a:bodyPr/>
          <a:p/>
        </p:txBody>
      </p:sp>
      <p:sp>
        <p:nvSpPr>
          <p:cNvPr id="48" name="TextBox 47"/>
          <p:cNvSpPr txBox="1"/>
          <p:nvPr/>
        </p:nvSpPr>
        <p:spPr>
          <a:xfrm>
            <a:off x="5305425" y="3648075"/>
            <a:ext cx="1166813" cy="197739"/>
          </a:xfrm>
          <a:prstGeom prst="rect">
            <a:avLst/>
          </a:prstGeom>
          <a:noFill/>
        </p:spPr>
        <p:txBody>
          <a:bodyPr wrap="none" lIns="0" tIns="0" rIns="0" bIns="0">
            <a:noAutofit/>
          </a:bodyPr>
          <a:lstStyle/>
          <a:p>
            <a:pPr>
              <a:lnSpc>
                <a:spcPts val="1043"/>
              </a:lnSpc>
              <a:defRPr sz="855" b="0">
                <a:solidFill>
                  <a:srgbClr val="0E130F"/>
                </a:solidFill>
                <a:latin typeface="JetBrains Mono"/>
              </a:defRPr>
            </a:pPr>
            <a:r>
              <a:t>Metaplex metadata</a:t>
            </a:r>
          </a:p>
        </p:txBody>
      </p:sp>
      <p:sp>
        <p:nvSpPr>
          <p:cNvPr id="34" name="Shape 31"/>
          <p:cNvSpPr/>
          <p:nvPr/>
        </p:nvSpPr>
        <p:spPr>
          <a:xfrm>
            <a:off x="571500" y="4010025"/>
            <a:ext cx="1962150" cy="304800"/>
          </a:xfrm>
          <a:prstGeom prst="roundRect">
            <a:avLst>
              <a:gd name="adj" fmla="val 2997000"/>
            </a:avLst>
          </a:prstGeom>
          <a:noFill/>
          <a:ln w="9049">
            <a:solidFill>
              <a:srgbClr val="0E130F"/>
            </a:solidFill>
            <a:prstDash val="solid"/>
          </a:ln>
        </p:spPr>
        <p:txBody>
          <a:bodyPr/>
          <a:p/>
        </p:txBody>
      </p:sp>
      <p:sp>
        <p:nvSpPr>
          <p:cNvPr id="49" name="TextBox 48"/>
          <p:cNvSpPr txBox="1"/>
          <p:nvPr/>
        </p:nvSpPr>
        <p:spPr>
          <a:xfrm>
            <a:off x="695325" y="4086225"/>
            <a:ext cx="1714500" cy="197739"/>
          </a:xfrm>
          <a:prstGeom prst="rect">
            <a:avLst/>
          </a:prstGeom>
          <a:noFill/>
        </p:spPr>
        <p:txBody>
          <a:bodyPr wrap="none" lIns="0" tIns="0" rIns="0" bIns="0">
            <a:noAutofit/>
          </a:bodyPr>
          <a:lstStyle/>
          <a:p>
            <a:pPr>
              <a:lnSpc>
                <a:spcPts val="1043"/>
              </a:lnSpc>
              <a:defRPr sz="855" b="0">
                <a:solidFill>
                  <a:srgbClr val="0E130F"/>
                </a:solidFill>
                <a:latin typeface="JetBrains Mono"/>
              </a:defRPr>
            </a:pPr>
            <a:r>
              <a:t>Pix via Delfinance (mTLS)</a:t>
            </a:r>
          </a:p>
        </p:txBody>
      </p:sp>
      <p:sp>
        <p:nvSpPr>
          <p:cNvPr id="36" name="Shape 33"/>
          <p:cNvSpPr/>
          <p:nvPr/>
        </p:nvSpPr>
        <p:spPr>
          <a:xfrm>
            <a:off x="2609850" y="4010025"/>
            <a:ext cx="1276350" cy="304800"/>
          </a:xfrm>
          <a:prstGeom prst="roundRect">
            <a:avLst>
              <a:gd name="adj" fmla="val 2997000"/>
            </a:avLst>
          </a:prstGeom>
          <a:noFill/>
          <a:ln w="9049">
            <a:solidFill>
              <a:srgbClr val="0E130F"/>
            </a:solidFill>
            <a:prstDash val="solid"/>
          </a:ln>
        </p:spPr>
        <p:txBody>
          <a:bodyPr/>
          <a:p/>
        </p:txBody>
      </p:sp>
      <p:sp>
        <p:nvSpPr>
          <p:cNvPr id="50" name="TextBox 49"/>
          <p:cNvSpPr txBox="1"/>
          <p:nvPr/>
        </p:nvSpPr>
        <p:spPr>
          <a:xfrm>
            <a:off x="2733675" y="4086225"/>
            <a:ext cx="1028700" cy="197739"/>
          </a:xfrm>
          <a:prstGeom prst="rect">
            <a:avLst/>
          </a:prstGeom>
          <a:noFill/>
        </p:spPr>
        <p:txBody>
          <a:bodyPr wrap="none" lIns="0" tIns="0" rIns="0" bIns="0">
            <a:noAutofit/>
          </a:bodyPr>
          <a:lstStyle/>
          <a:p>
            <a:pPr>
              <a:lnSpc>
                <a:spcPts val="1043"/>
              </a:lnSpc>
              <a:defRPr sz="855" b="0">
                <a:solidFill>
                  <a:srgbClr val="0E130F"/>
                </a:solidFill>
                <a:latin typeface="JetBrains Mono"/>
              </a:defRPr>
            </a:pPr>
            <a:r>
              <a:t>HashiCorp Vault</a:t>
            </a:r>
          </a:p>
        </p:txBody>
      </p:sp>
      <p:sp>
        <p:nvSpPr>
          <p:cNvPr id="38" name="Shape 35"/>
          <p:cNvSpPr/>
          <p:nvPr/>
        </p:nvSpPr>
        <p:spPr>
          <a:xfrm>
            <a:off x="3962400" y="4010025"/>
            <a:ext cx="1209675" cy="304800"/>
          </a:xfrm>
          <a:prstGeom prst="roundRect">
            <a:avLst>
              <a:gd name="adj" fmla="val 2997000"/>
            </a:avLst>
          </a:prstGeom>
          <a:noFill/>
          <a:ln w="9049">
            <a:solidFill>
              <a:srgbClr val="0E130F"/>
            </a:solidFill>
            <a:prstDash val="solid"/>
          </a:ln>
        </p:spPr>
        <p:txBody>
          <a:bodyPr/>
          <a:p/>
        </p:txBody>
      </p:sp>
      <p:sp>
        <p:nvSpPr>
          <p:cNvPr id="51" name="TextBox 50"/>
          <p:cNvSpPr txBox="1"/>
          <p:nvPr/>
        </p:nvSpPr>
        <p:spPr>
          <a:xfrm>
            <a:off x="4086225" y="4086225"/>
            <a:ext cx="962024" cy="197739"/>
          </a:xfrm>
          <a:prstGeom prst="rect">
            <a:avLst/>
          </a:prstGeom>
          <a:noFill/>
        </p:spPr>
        <p:txBody>
          <a:bodyPr wrap="none" lIns="0" tIns="0" rIns="0" bIns="0">
            <a:noAutofit/>
          </a:bodyPr>
          <a:lstStyle/>
          <a:p>
            <a:pPr>
              <a:lnSpc>
                <a:spcPts val="1043"/>
              </a:lnSpc>
              <a:defRPr sz="855" b="0">
                <a:solidFill>
                  <a:srgbClr val="0E130F"/>
                </a:solidFill>
                <a:latin typeface="JetBrains Mono"/>
              </a:defRPr>
            </a:pPr>
            <a:r>
              <a:t>OneSignal push</a:t>
            </a:r>
          </a:p>
        </p:txBody>
      </p:sp>
      <p:sp>
        <p:nvSpPr>
          <p:cNvPr id="40" name="Shape 37"/>
          <p:cNvSpPr/>
          <p:nvPr/>
        </p:nvSpPr>
        <p:spPr>
          <a:xfrm>
            <a:off x="5248275" y="4010025"/>
            <a:ext cx="1485900" cy="304800"/>
          </a:xfrm>
          <a:prstGeom prst="roundRect">
            <a:avLst>
              <a:gd name="adj" fmla="val 2997000"/>
            </a:avLst>
          </a:prstGeom>
          <a:noFill/>
          <a:ln w="9049">
            <a:solidFill>
              <a:srgbClr val="0E130F"/>
            </a:solidFill>
            <a:prstDash val="solid"/>
          </a:ln>
        </p:spPr>
        <p:txBody>
          <a:bodyPr/>
          <a:p/>
        </p:txBody>
      </p:sp>
      <p:sp>
        <p:nvSpPr>
          <p:cNvPr id="52" name="TextBox 51"/>
          <p:cNvSpPr txBox="1"/>
          <p:nvPr/>
        </p:nvSpPr>
        <p:spPr>
          <a:xfrm>
            <a:off x="5372100" y="4086225"/>
            <a:ext cx="1238250" cy="197739"/>
          </a:xfrm>
          <a:prstGeom prst="rect">
            <a:avLst/>
          </a:prstGeom>
          <a:noFill/>
        </p:spPr>
        <p:txBody>
          <a:bodyPr wrap="none" lIns="0" tIns="0" rIns="0" bIns="0">
            <a:noAutofit/>
          </a:bodyPr>
          <a:lstStyle/>
          <a:p>
            <a:pPr>
              <a:lnSpc>
                <a:spcPts val="1043"/>
              </a:lnSpc>
              <a:defRPr sz="855" b="0">
                <a:solidFill>
                  <a:srgbClr val="0E130F"/>
                </a:solidFill>
                <a:latin typeface="JetBrains Mono"/>
              </a:defRPr>
            </a:pPr>
            <a:r>
              <a:t>Non-custodial keys</a:t>
            </a:r>
          </a:p>
        </p:txBody>
      </p:sp>
      <p:sp>
        <p:nvSpPr>
          <p:cNvPr id="53" name="TextBox 52"/>
          <p:cNvSpPr txBox="1"/>
          <p:nvPr/>
        </p:nvSpPr>
        <p:spPr>
          <a:xfrm>
            <a:off x="571500" y="4762500"/>
            <a:ext cx="237744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SIMPAY · COLOSSEUM 2026</a:t>
            </a:r>
          </a:p>
        </p:txBody>
      </p:sp>
      <p:sp>
        <p:nvSpPr>
          <p:cNvPr id="54" name="TextBox 53"/>
          <p:cNvSpPr txBox="1"/>
          <p:nvPr/>
        </p:nvSpPr>
        <p:spPr>
          <a:xfrm>
            <a:off x="8381999" y="4762500"/>
            <a:ext cx="19050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211B"/>
        </a:solidFill>
      </p:bgPr>
    </p:bg>
    <p:spTree>
      <p:nvGrpSpPr>
        <p:cNvPr id="1" name=""/>
        <p:cNvGrpSpPr/>
        <p:nvPr/>
      </p:nvGrpSpPr>
      <p:grpSpPr>
        <a:xfrm>
          <a:off x="0" y="0"/>
          <a:ext cx="0" cy="0"/>
          <a:chOff x="0" y="0"/>
          <a:chExt cx="0" cy="0"/>
        </a:xfrm>
      </p:grpSpPr>
      <p:sp>
        <p:nvSpPr>
          <p:cNvPr id="36" name="TextBox 35"/>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BDF06B"/>
                </a:solidFill>
                <a:latin typeface="JetBrains Mono"/>
              </a:defRPr>
            </a:pPr>
            <a:r>
              <a:t>07 — WHO IT’S FOR</a:t>
            </a:r>
          </a:p>
        </p:txBody>
      </p:sp>
      <p:sp>
        <p:nvSpPr>
          <p:cNvPr id="21" name="Text 18"/>
          <p:cNvSpPr/>
          <p:nvPr/>
        </p:nvSpPr>
        <p:spPr>
          <a:xfrm>
            <a:off x="571500" y="809625"/>
            <a:ext cx="6191250" cy="723900"/>
          </a:xfrm>
          <a:prstGeom prst="rect">
            <a:avLst/>
          </a:prstGeom>
          <a:noFill/>
          <a:ln/>
        </p:spPr>
        <p:txBody>
          <a:bodyPr wrap="square" lIns="0" tIns="0" rIns="0" bIns="0" rtlCol="0" anchor="t"/>
          <a:lstStyle/>
          <a:p>
            <a:pPr algn="l" indent="0" marL="0">
              <a:lnSpc>
                <a:spcPts val="2708"/>
              </a:lnSpc>
              <a:buNone/>
            </a:pPr>
            <a:r>
              <a:rPr lang="en-US" sz="2708" b="1" spc="-81" kern="0" dirty="0">
                <a:solidFill>
                  <a:srgbClr val="F7F7F2">
                    <a:alpha val="99000"/>
                  </a:srgbClr>
                </a:solidFill>
                <a:latin typeface="Inter" pitchFamily="34" charset="0"/>
                <a:ea typeface="Inter" pitchFamily="34" charset="-122"/>
                <a:cs typeface="Inter" pitchFamily="34" charset="-120"/>
              </a:rPr>
              <a:t>Built for the counter,</a:t>
            </a:r>
            <a:endParaRPr lang="en-US" sz="2708" dirty="0"/>
          </a:p>
          <a:p>
            <a:pPr algn="l" indent="0" marL="0">
              <a:lnSpc>
                <a:spcPts val="2708"/>
              </a:lnSpc>
              <a:buNone/>
            </a:pPr>
            <a:r>
              <a:rPr lang="en-US" sz="2708" b="1" spc="-81" kern="0" dirty="0">
                <a:solidFill>
                  <a:srgbClr val="F7F7F2">
                    <a:alpha val="99000"/>
                  </a:srgbClr>
                </a:solidFill>
                <a:latin typeface="Inter" pitchFamily="34" charset="0"/>
                <a:ea typeface="Inter" pitchFamily="34" charset="-122"/>
                <a:cs typeface="Inter" pitchFamily="34" charset="-120"/>
              </a:rPr>
              <a:t>not the trading desk.</a:t>
            </a:r>
            <a:endParaRPr lang="en-US" sz="2708" dirty="0"/>
          </a:p>
        </p:txBody>
      </p:sp>
      <p:sp>
        <p:nvSpPr>
          <p:cNvPr id="22" name="Shape 19"/>
          <p:cNvSpPr/>
          <p:nvPr/>
        </p:nvSpPr>
        <p:spPr>
          <a:xfrm>
            <a:off x="571500" y="2476500"/>
            <a:ext cx="2476500" cy="28575"/>
          </a:xfrm>
          <a:prstGeom prst="rect">
            <a:avLst/>
          </a:prstGeom>
          <a:solidFill>
            <a:srgbClr val="BDF06B"/>
          </a:solidFill>
          <a:ln/>
        </p:spPr>
        <p:txBody>
          <a:bodyPr/>
          <a:p/>
        </p:txBody>
      </p:sp>
      <p:sp>
        <p:nvSpPr>
          <p:cNvPr id="37" name="TextBox 36"/>
          <p:cNvSpPr txBox="1"/>
          <p:nvPr/>
        </p:nvSpPr>
        <p:spPr>
          <a:xfrm>
            <a:off x="571500" y="2647950"/>
            <a:ext cx="512064" cy="185115"/>
          </a:xfrm>
          <a:prstGeom prst="rect">
            <a:avLst/>
          </a:prstGeom>
          <a:noFill/>
        </p:spPr>
        <p:txBody>
          <a:bodyPr wrap="none" lIns="0" tIns="0" rIns="0" bIns="0">
            <a:noAutofit/>
          </a:bodyPr>
          <a:lstStyle/>
          <a:p>
            <a:pPr>
              <a:lnSpc>
                <a:spcPts val="956"/>
              </a:lnSpc>
              <a:defRPr sz="784" b="1">
                <a:solidFill>
                  <a:srgbClr val="BDF06B"/>
                </a:solidFill>
                <a:latin typeface="JetBrains Mono"/>
              </a:defRPr>
            </a:pPr>
            <a:r>
              <a:t>PRIMARY</a:t>
            </a:r>
          </a:p>
        </p:txBody>
      </p:sp>
      <p:sp>
        <p:nvSpPr>
          <p:cNvPr id="24" name="Text 21"/>
          <p:cNvSpPr/>
          <p:nvPr/>
        </p:nvSpPr>
        <p:spPr>
          <a:xfrm>
            <a:off x="571500" y="2857500"/>
            <a:ext cx="2476500" cy="228600"/>
          </a:xfrm>
          <a:prstGeom prst="rect">
            <a:avLst/>
          </a:prstGeom>
          <a:noFill/>
          <a:ln/>
        </p:spPr>
        <p:txBody>
          <a:bodyPr wrap="square" lIns="0" tIns="0" rIns="0" bIns="0" rtlCol="0" anchor="t"/>
          <a:lstStyle/>
          <a:p>
            <a:pPr algn="l" indent="0" marL="0">
              <a:lnSpc>
                <a:spcPts val="1693"/>
              </a:lnSpc>
              <a:buNone/>
            </a:pPr>
            <a:r>
              <a:rPr lang="en-US" sz="1568" b="1" spc="-24" kern="0" dirty="0">
                <a:solidFill>
                  <a:srgbClr val="F7F7F2">
                    <a:alpha val="99000"/>
                  </a:srgbClr>
                </a:solidFill>
                <a:latin typeface="Inter" pitchFamily="34" charset="0"/>
                <a:ea typeface="Inter" pitchFamily="34" charset="-122"/>
                <a:cs typeface="Inter" pitchFamily="34" charset="-120"/>
              </a:rPr>
              <a:t>Small merchants</a:t>
            </a:r>
            <a:endParaRPr lang="en-US" sz="1568" dirty="0"/>
          </a:p>
        </p:txBody>
      </p:sp>
      <p:sp>
        <p:nvSpPr>
          <p:cNvPr id="25" name="Text 22"/>
          <p:cNvSpPr/>
          <p:nvPr/>
        </p:nvSpPr>
        <p:spPr>
          <a:xfrm>
            <a:off x="571500" y="3219450"/>
            <a:ext cx="2381250" cy="528638"/>
          </a:xfrm>
          <a:prstGeom prst="rect">
            <a:avLst/>
          </a:prstGeom>
          <a:noFill/>
          <a:ln/>
        </p:spPr>
        <p:txBody>
          <a:bodyPr wrap="square" lIns="0" tIns="0" rIns="0" bIns="0" rtlCol="0" anchor="t"/>
          <a:lstStyle/>
          <a:p>
            <a:pPr algn="l" indent="0" marL="0">
              <a:lnSpc>
                <a:spcPts val="1315"/>
              </a:lnSpc>
              <a:buNone/>
            </a:pPr>
            <a:r>
              <a:rPr lang="en-US" sz="926" dirty="0">
                <a:solidFill>
                  <a:srgbClr val="B2BDB2">
                    <a:alpha val="99000"/>
                  </a:srgbClr>
                </a:solidFill>
                <a:latin typeface="Inter" pitchFamily="34" charset="0"/>
                <a:ea typeface="Inter" pitchFamily="34" charset="-122"/>
                <a:cs typeface="Inter" pitchFamily="34" charset="-120"/>
              </a:rPr>
              <a:t>Cafés, restaurants and local services in Brazil that lose margin to card fees and wait days for their money.</a:t>
            </a:r>
            <a:endParaRPr lang="en-US" sz="926" dirty="0"/>
          </a:p>
        </p:txBody>
      </p:sp>
      <p:sp>
        <p:nvSpPr>
          <p:cNvPr id="26" name="Shape 23"/>
          <p:cNvSpPr/>
          <p:nvPr/>
        </p:nvSpPr>
        <p:spPr>
          <a:xfrm>
            <a:off x="3333750" y="2476500"/>
            <a:ext cx="2476500" cy="28575"/>
          </a:xfrm>
          <a:prstGeom prst="rect">
            <a:avLst/>
          </a:prstGeom>
          <a:solidFill>
            <a:srgbClr val="F7F7F2"/>
          </a:solidFill>
          <a:ln/>
        </p:spPr>
        <p:txBody>
          <a:bodyPr/>
          <a:p/>
        </p:txBody>
      </p:sp>
      <p:sp>
        <p:nvSpPr>
          <p:cNvPr id="38" name="TextBox 37"/>
          <p:cNvSpPr txBox="1"/>
          <p:nvPr/>
        </p:nvSpPr>
        <p:spPr>
          <a:xfrm>
            <a:off x="3333750" y="2647950"/>
            <a:ext cx="446913" cy="185115"/>
          </a:xfrm>
          <a:prstGeom prst="rect">
            <a:avLst/>
          </a:prstGeom>
          <a:noFill/>
        </p:spPr>
        <p:txBody>
          <a:bodyPr wrap="none" lIns="0" tIns="0" rIns="0" bIns="0">
            <a:noAutofit/>
          </a:bodyPr>
          <a:lstStyle/>
          <a:p>
            <a:pPr>
              <a:lnSpc>
                <a:spcPts val="956"/>
              </a:lnSpc>
              <a:defRPr sz="784" b="1">
                <a:solidFill>
                  <a:srgbClr val="F7F7F2"/>
                </a:solidFill>
                <a:latin typeface="JetBrains Mono"/>
              </a:defRPr>
            </a:pPr>
            <a:r>
              <a:t>GROWTH</a:t>
            </a:r>
          </a:p>
        </p:txBody>
      </p:sp>
      <p:sp>
        <p:nvSpPr>
          <p:cNvPr id="28" name="Text 25"/>
          <p:cNvSpPr/>
          <p:nvPr/>
        </p:nvSpPr>
        <p:spPr>
          <a:xfrm>
            <a:off x="3333750" y="2857500"/>
            <a:ext cx="2476500" cy="228600"/>
          </a:xfrm>
          <a:prstGeom prst="rect">
            <a:avLst/>
          </a:prstGeom>
          <a:noFill/>
          <a:ln/>
        </p:spPr>
        <p:txBody>
          <a:bodyPr wrap="square" lIns="0" tIns="0" rIns="0" bIns="0" rtlCol="0" anchor="t"/>
          <a:lstStyle/>
          <a:p>
            <a:pPr algn="l" indent="0" marL="0">
              <a:lnSpc>
                <a:spcPts val="1693"/>
              </a:lnSpc>
              <a:buNone/>
            </a:pPr>
            <a:r>
              <a:rPr lang="en-US" sz="1568" b="1" spc="-24" kern="0" dirty="0">
                <a:solidFill>
                  <a:srgbClr val="F7F7F2">
                    <a:alpha val="99000"/>
                  </a:srgbClr>
                </a:solidFill>
                <a:latin typeface="Inter" pitchFamily="34" charset="0"/>
                <a:ea typeface="Inter" pitchFamily="34" charset="-122"/>
                <a:cs typeface="Inter" pitchFamily="34" charset="-120"/>
              </a:rPr>
              <a:t>Pix-native consumers</a:t>
            </a:r>
            <a:endParaRPr lang="en-US" sz="1568" dirty="0"/>
          </a:p>
        </p:txBody>
      </p:sp>
      <p:sp>
        <p:nvSpPr>
          <p:cNvPr id="29" name="Text 26"/>
          <p:cNvSpPr/>
          <p:nvPr/>
        </p:nvSpPr>
        <p:spPr>
          <a:xfrm>
            <a:off x="3333750" y="3219450"/>
            <a:ext cx="2381250" cy="528638"/>
          </a:xfrm>
          <a:prstGeom prst="rect">
            <a:avLst/>
          </a:prstGeom>
          <a:noFill/>
          <a:ln/>
        </p:spPr>
        <p:txBody>
          <a:bodyPr wrap="square" lIns="0" tIns="0" rIns="0" bIns="0" rtlCol="0" anchor="t"/>
          <a:lstStyle/>
          <a:p>
            <a:pPr algn="l" indent="0" marL="0">
              <a:lnSpc>
                <a:spcPts val="1315"/>
              </a:lnSpc>
              <a:buNone/>
            </a:pPr>
            <a:r>
              <a:rPr lang="en-US" sz="926" dirty="0">
                <a:solidFill>
                  <a:srgbClr val="B2BDB2">
                    <a:alpha val="99000"/>
                  </a:srgbClr>
                </a:solidFill>
                <a:latin typeface="Inter" pitchFamily="34" charset="0"/>
                <a:ea typeface="Inter" pitchFamily="34" charset="-122"/>
                <a:cs typeface="Inter" pitchFamily="34" charset="-120"/>
              </a:rPr>
              <a:t>People 18–35 who already pay everything by phone and are curious about crypto but want it simple.</a:t>
            </a:r>
            <a:endParaRPr lang="en-US" sz="926" dirty="0"/>
          </a:p>
        </p:txBody>
      </p:sp>
      <p:sp>
        <p:nvSpPr>
          <p:cNvPr id="30" name="Shape 27"/>
          <p:cNvSpPr/>
          <p:nvPr/>
        </p:nvSpPr>
        <p:spPr>
          <a:xfrm>
            <a:off x="6096000" y="2476500"/>
            <a:ext cx="2476500" cy="28575"/>
          </a:xfrm>
          <a:prstGeom prst="rect">
            <a:avLst/>
          </a:prstGeom>
          <a:solidFill>
            <a:srgbClr val="B2BDB2"/>
          </a:solidFill>
          <a:ln/>
        </p:spPr>
        <p:txBody>
          <a:bodyPr/>
          <a:p/>
        </p:txBody>
      </p:sp>
      <p:sp>
        <p:nvSpPr>
          <p:cNvPr id="39" name="TextBox 38"/>
          <p:cNvSpPr txBox="1"/>
          <p:nvPr/>
        </p:nvSpPr>
        <p:spPr>
          <a:xfrm>
            <a:off x="6096000" y="2647950"/>
            <a:ext cx="381762" cy="185115"/>
          </a:xfrm>
          <a:prstGeom prst="rect">
            <a:avLst/>
          </a:prstGeom>
          <a:noFill/>
        </p:spPr>
        <p:txBody>
          <a:bodyPr wrap="none" lIns="0" tIns="0" rIns="0" bIns="0">
            <a:noAutofit/>
          </a:bodyPr>
          <a:lstStyle/>
          <a:p>
            <a:pPr>
              <a:lnSpc>
                <a:spcPts val="956"/>
              </a:lnSpc>
              <a:defRPr sz="784" b="1">
                <a:solidFill>
                  <a:srgbClr val="B2BDB2"/>
                </a:solidFill>
                <a:latin typeface="JetBrains Mono"/>
              </a:defRPr>
            </a:pPr>
            <a:r>
              <a:t>EARLY</a:t>
            </a:r>
          </a:p>
        </p:txBody>
      </p:sp>
      <p:sp>
        <p:nvSpPr>
          <p:cNvPr id="32" name="Text 29"/>
          <p:cNvSpPr/>
          <p:nvPr/>
        </p:nvSpPr>
        <p:spPr>
          <a:xfrm>
            <a:off x="6096000" y="2857500"/>
            <a:ext cx="2476500" cy="228600"/>
          </a:xfrm>
          <a:prstGeom prst="rect">
            <a:avLst/>
          </a:prstGeom>
          <a:noFill/>
          <a:ln/>
        </p:spPr>
        <p:txBody>
          <a:bodyPr wrap="square" lIns="0" tIns="0" rIns="0" bIns="0" rtlCol="0" anchor="t"/>
          <a:lstStyle/>
          <a:p>
            <a:pPr algn="l" indent="0" marL="0">
              <a:lnSpc>
                <a:spcPts val="1693"/>
              </a:lnSpc>
              <a:buNone/>
            </a:pPr>
            <a:r>
              <a:rPr lang="en-US" sz="1568" b="1" spc="-24" kern="0" dirty="0">
                <a:solidFill>
                  <a:srgbClr val="F7F7F2">
                    <a:alpha val="99000"/>
                  </a:srgbClr>
                </a:solidFill>
                <a:latin typeface="Inter" pitchFamily="34" charset="0"/>
                <a:ea typeface="Inter" pitchFamily="34" charset="-122"/>
                <a:cs typeface="Inter" pitchFamily="34" charset="-120"/>
              </a:rPr>
              <a:t>Crypto holders</a:t>
            </a:r>
            <a:endParaRPr lang="en-US" sz="1568" dirty="0"/>
          </a:p>
        </p:txBody>
      </p:sp>
      <p:sp>
        <p:nvSpPr>
          <p:cNvPr id="33" name="Text 30"/>
          <p:cNvSpPr/>
          <p:nvPr/>
        </p:nvSpPr>
        <p:spPr>
          <a:xfrm>
            <a:off x="6096000" y="3219450"/>
            <a:ext cx="2381250" cy="528638"/>
          </a:xfrm>
          <a:prstGeom prst="rect">
            <a:avLst/>
          </a:prstGeom>
          <a:noFill/>
          <a:ln/>
        </p:spPr>
        <p:txBody>
          <a:bodyPr wrap="square" lIns="0" tIns="0" rIns="0" bIns="0" rtlCol="0" anchor="t"/>
          <a:lstStyle/>
          <a:p>
            <a:pPr algn="l" indent="0" marL="0">
              <a:lnSpc>
                <a:spcPts val="1315"/>
              </a:lnSpc>
              <a:buNone/>
            </a:pPr>
            <a:r>
              <a:rPr lang="en-US" sz="926" dirty="0">
                <a:solidFill>
                  <a:srgbClr val="B2BDB2">
                    <a:alpha val="99000"/>
                  </a:srgbClr>
                </a:solidFill>
                <a:latin typeface="Inter" pitchFamily="34" charset="0"/>
                <a:ea typeface="Inter" pitchFamily="34" charset="-122"/>
                <a:cs typeface="Inter" pitchFamily="34" charset="-120"/>
              </a:rPr>
              <a:t>Solana users who want to actually spend: pay a Blink from Phantom, earn cashback on real purchases.</a:t>
            </a:r>
            <a:endParaRPr lang="en-US" sz="926" dirty="0"/>
          </a:p>
        </p:txBody>
      </p:sp>
      <p:sp>
        <p:nvSpPr>
          <p:cNvPr id="40" name="TextBox 39"/>
          <p:cNvSpPr txBox="1"/>
          <p:nvPr/>
        </p:nvSpPr>
        <p:spPr>
          <a:xfrm>
            <a:off x="571500" y="4762500"/>
            <a:ext cx="2377440" cy="159689"/>
          </a:xfrm>
          <a:prstGeom prst="rect">
            <a:avLst/>
          </a:prstGeom>
          <a:noFill/>
        </p:spPr>
        <p:txBody>
          <a:bodyPr wrap="none" lIns="0" tIns="0" rIns="0" bIns="0">
            <a:noAutofit/>
          </a:bodyPr>
          <a:lstStyle/>
          <a:p>
            <a:pPr>
              <a:lnSpc>
                <a:spcPts val="782"/>
              </a:lnSpc>
              <a:defRPr sz="641" b="0">
                <a:solidFill>
                  <a:srgbClr val="B2BDB2"/>
                </a:solidFill>
                <a:latin typeface="JetBrains Mono"/>
              </a:defRPr>
            </a:pPr>
            <a:r>
              <a:t>SIMPAY · COLOSSEUM 2026</a:t>
            </a:r>
          </a:p>
        </p:txBody>
      </p:sp>
      <p:sp>
        <p:nvSpPr>
          <p:cNvPr id="41" name="TextBox 40"/>
          <p:cNvSpPr txBox="1"/>
          <p:nvPr/>
        </p:nvSpPr>
        <p:spPr>
          <a:xfrm>
            <a:off x="8381999" y="4762500"/>
            <a:ext cx="190500" cy="159689"/>
          </a:xfrm>
          <a:prstGeom prst="rect">
            <a:avLst/>
          </a:prstGeom>
          <a:noFill/>
        </p:spPr>
        <p:txBody>
          <a:bodyPr wrap="none" lIns="0" tIns="0" rIns="0" bIns="0">
            <a:noAutofit/>
          </a:bodyPr>
          <a:lstStyle/>
          <a:p>
            <a:pPr>
              <a:lnSpc>
                <a:spcPts val="782"/>
              </a:lnSpc>
              <a:defRPr sz="641" b="0">
                <a:solidFill>
                  <a:srgbClr val="B2BDB2"/>
                </a:solidFill>
                <a:latin typeface="JetBrains Mono"/>
              </a:defRPr>
            </a:pPr>
            <a: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2"/>
        </a:solidFill>
      </p:bgPr>
    </p:bg>
    <p:spTree>
      <p:nvGrpSpPr>
        <p:cNvPr id="1" name=""/>
        <p:cNvGrpSpPr/>
        <p:nvPr/>
      </p:nvGrpSpPr>
      <p:grpSpPr>
        <a:xfrm>
          <a:off x="0" y="0"/>
          <a:ext cx="0" cy="0"/>
          <a:chOff x="0" y="0"/>
          <a:chExt cx="0" cy="0"/>
        </a:xfrm>
      </p:grpSpPr>
      <p:sp>
        <p:nvSpPr>
          <p:cNvPr id="41" name="TextBox 40"/>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545C54"/>
                </a:solidFill>
                <a:latin typeface="JetBrains Mono"/>
              </a:defRPr>
            </a:pPr>
            <a:r>
              <a:t>08 — BUSINESS MODEL</a:t>
            </a:r>
          </a:p>
        </p:txBody>
      </p:sp>
      <p:sp>
        <p:nvSpPr>
          <p:cNvPr id="23" name="Text 20"/>
          <p:cNvSpPr/>
          <p:nvPr/>
        </p:nvSpPr>
        <p:spPr>
          <a:xfrm>
            <a:off x="571500" y="809625"/>
            <a:ext cx="3619500" cy="1447800"/>
          </a:xfrm>
          <a:prstGeom prst="rect">
            <a:avLst/>
          </a:prstGeom>
          <a:noFill/>
          <a:ln/>
        </p:spPr>
        <p:txBody>
          <a:bodyPr wrap="square" lIns="0" tIns="0" rIns="0" bIns="0" rtlCol="0" anchor="t"/>
          <a:lstStyle/>
          <a:p>
            <a:pPr algn="l" indent="0" marL="0">
              <a:lnSpc>
                <a:spcPts val="2708"/>
              </a:lnSpc>
              <a:buNone/>
            </a:pPr>
            <a:r>
              <a:rPr lang="en-US" sz="2708" b="1" spc="-81" kern="0" dirty="0">
                <a:solidFill>
                  <a:srgbClr val="0E130F">
                    <a:alpha val="99000"/>
                  </a:srgbClr>
                </a:solidFill>
                <a:latin typeface="Inter" pitchFamily="34" charset="0"/>
                <a:ea typeface="Inter" pitchFamily="34" charset="-122"/>
                <a:cs typeface="Inter" pitchFamily="34" charset="-120"/>
              </a:rPr>
              <a:t>Cheaper for the</a:t>
            </a:r>
            <a:endParaRPr lang="en-US" sz="2708" dirty="0"/>
          </a:p>
          <a:p>
            <a:pPr algn="l" indent="0" marL="0">
              <a:lnSpc>
                <a:spcPts val="2708"/>
              </a:lnSpc>
              <a:buNone/>
            </a:pPr>
            <a:r>
              <a:rPr lang="en-US" sz="2708" b="1" spc="-81" kern="0" dirty="0">
                <a:solidFill>
                  <a:srgbClr val="0E130F">
                    <a:alpha val="99000"/>
                  </a:srgbClr>
                </a:solidFill>
                <a:latin typeface="Inter" pitchFamily="34" charset="0"/>
                <a:ea typeface="Inter" pitchFamily="34" charset="-122"/>
                <a:cs typeface="Inter" pitchFamily="34" charset="-120"/>
              </a:rPr>
              <a:t>merchant. Sustainable</a:t>
            </a:r>
            <a:endParaRPr lang="en-US" sz="2708" dirty="0"/>
          </a:p>
          <a:p>
            <a:pPr algn="l" indent="0" marL="0">
              <a:lnSpc>
                <a:spcPts val="2708"/>
              </a:lnSpc>
              <a:buNone/>
            </a:pPr>
            <a:r>
              <a:rPr lang="en-US" sz="2708" b="1" spc="-81" kern="0" dirty="0">
                <a:solidFill>
                  <a:srgbClr val="0E130F">
                    <a:alpha val="99000"/>
                  </a:srgbClr>
                </a:solidFill>
                <a:latin typeface="Inter" pitchFamily="34" charset="0"/>
                <a:ea typeface="Inter" pitchFamily="34" charset="-122"/>
                <a:cs typeface="Inter" pitchFamily="34" charset="-120"/>
              </a:rPr>
              <a:t>for the network.</a:t>
            </a:r>
            <a:endParaRPr lang="en-US" sz="2708" dirty="0"/>
          </a:p>
        </p:txBody>
      </p:sp>
      <p:sp>
        <p:nvSpPr>
          <p:cNvPr id="24" name="Shape 21"/>
          <p:cNvSpPr/>
          <p:nvPr/>
        </p:nvSpPr>
        <p:spPr>
          <a:xfrm>
            <a:off x="4572000" y="809625"/>
            <a:ext cx="4000500" cy="14288"/>
          </a:xfrm>
          <a:prstGeom prst="rect">
            <a:avLst/>
          </a:prstGeom>
          <a:solidFill>
            <a:srgbClr val="0E130F"/>
          </a:solidFill>
          <a:ln/>
        </p:spPr>
        <p:txBody>
          <a:bodyPr/>
          <a:p/>
        </p:txBody>
      </p:sp>
      <p:sp>
        <p:nvSpPr>
          <p:cNvPr id="25" name="Text 22"/>
          <p:cNvSpPr/>
          <p:nvPr/>
        </p:nvSpPr>
        <p:spPr>
          <a:xfrm>
            <a:off x="4572000" y="904875"/>
            <a:ext cx="1428750" cy="762000"/>
          </a:xfrm>
          <a:prstGeom prst="rect">
            <a:avLst/>
          </a:prstGeom>
          <a:noFill/>
          <a:ln/>
        </p:spPr>
        <p:txBody>
          <a:bodyPr wrap="square" lIns="0" tIns="0" rIns="0" bIns="0" rtlCol="0" anchor="t"/>
          <a:lstStyle/>
          <a:p>
            <a:pPr algn="l" indent="0" marL="0">
              <a:lnSpc>
                <a:spcPts val="5691"/>
              </a:lnSpc>
              <a:buNone/>
            </a:pPr>
            <a:r>
              <a:rPr lang="en-US" sz="4703" b="1" spc="-188" kern="0" dirty="0">
                <a:solidFill>
                  <a:srgbClr val="0E130F">
                    <a:alpha val="99000"/>
                  </a:srgbClr>
                </a:solidFill>
                <a:latin typeface="Inter" pitchFamily="34" charset="0"/>
                <a:ea typeface="Inter" pitchFamily="34" charset="-122"/>
                <a:cs typeface="Inter" pitchFamily="34" charset="-120"/>
              </a:rPr>
              <a:t>0%</a:t>
            </a:r>
            <a:endParaRPr lang="en-US" sz="4703" dirty="0"/>
          </a:p>
        </p:txBody>
      </p:sp>
      <p:sp>
        <p:nvSpPr>
          <p:cNvPr id="26" name="Text 23"/>
          <p:cNvSpPr/>
          <p:nvPr/>
        </p:nvSpPr>
        <p:spPr>
          <a:xfrm>
            <a:off x="6096000" y="1019175"/>
            <a:ext cx="2476500" cy="176213"/>
          </a:xfrm>
          <a:prstGeom prst="rect">
            <a:avLst/>
          </a:prstGeom>
          <a:noFill/>
          <a:ln/>
        </p:spPr>
        <p:txBody>
          <a:bodyPr wrap="square" lIns="0" tIns="0" rIns="0" bIns="0" rtlCol="0" anchor="t"/>
          <a:lstStyle/>
          <a:p>
            <a:pPr algn="l" indent="0" marL="0">
              <a:lnSpc>
                <a:spcPts val="1311"/>
              </a:lnSpc>
              <a:buNone/>
            </a:pPr>
            <a:r>
              <a:rPr lang="en-US" sz="1140" b="1" spc="-6" kern="0" dirty="0">
                <a:solidFill>
                  <a:srgbClr val="0E130F">
                    <a:alpha val="99000"/>
                  </a:srgbClr>
                </a:solidFill>
                <a:latin typeface="Inter" pitchFamily="34" charset="0"/>
                <a:ea typeface="Inter" pitchFamily="34" charset="-122"/>
                <a:cs typeface="Inter" pitchFamily="34" charset="-120"/>
              </a:rPr>
              <a:t>to receive a payment</a:t>
            </a:r>
            <a:endParaRPr lang="en-US" sz="1140" dirty="0"/>
          </a:p>
        </p:txBody>
      </p:sp>
      <p:sp>
        <p:nvSpPr>
          <p:cNvPr id="27" name="Text 24"/>
          <p:cNvSpPr/>
          <p:nvPr/>
        </p:nvSpPr>
        <p:spPr>
          <a:xfrm>
            <a:off x="6096000" y="1266825"/>
            <a:ext cx="2476500" cy="323850"/>
          </a:xfrm>
          <a:prstGeom prst="rect">
            <a:avLst/>
          </a:prstGeom>
          <a:noFill/>
          <a:ln/>
        </p:spPr>
        <p:txBody>
          <a:bodyPr wrap="square" lIns="0" tIns="0" rIns="0" bIns="0" rtlCol="0" anchor="t"/>
          <a:lstStyle/>
          <a:p>
            <a:pPr algn="l" indent="0" marL="0">
              <a:lnSpc>
                <a:spcPts val="1197"/>
              </a:lnSpc>
              <a:buNone/>
            </a:pPr>
            <a:r>
              <a:rPr lang="en-US" sz="855" dirty="0">
                <a:solidFill>
                  <a:srgbClr val="545C54">
                    <a:alpha val="99000"/>
                  </a:srgbClr>
                </a:solidFill>
                <a:latin typeface="Inter" pitchFamily="34" charset="0"/>
                <a:ea typeface="Inter" pitchFamily="34" charset="-122"/>
                <a:cs typeface="Inter" pitchFamily="34" charset="-120"/>
              </a:rPr>
              <a:t>Merchants keep the full sale. No machine rental, no waiting days.</a:t>
            </a:r>
            <a:endParaRPr lang="en-US" sz="855" dirty="0"/>
          </a:p>
        </p:txBody>
      </p:sp>
      <p:sp>
        <p:nvSpPr>
          <p:cNvPr id="28" name="Shape 25"/>
          <p:cNvSpPr/>
          <p:nvPr/>
        </p:nvSpPr>
        <p:spPr>
          <a:xfrm>
            <a:off x="4572000" y="2000250"/>
            <a:ext cx="4000500" cy="14288"/>
          </a:xfrm>
          <a:prstGeom prst="rect">
            <a:avLst/>
          </a:prstGeom>
          <a:solidFill>
            <a:srgbClr val="0E130F"/>
          </a:solidFill>
          <a:ln/>
        </p:spPr>
        <p:txBody>
          <a:bodyPr/>
          <a:p/>
        </p:txBody>
      </p:sp>
      <p:sp>
        <p:nvSpPr>
          <p:cNvPr id="29" name="Text 26"/>
          <p:cNvSpPr/>
          <p:nvPr/>
        </p:nvSpPr>
        <p:spPr>
          <a:xfrm>
            <a:off x="4572000" y="2095500"/>
            <a:ext cx="1428750" cy="762000"/>
          </a:xfrm>
          <a:prstGeom prst="rect">
            <a:avLst/>
          </a:prstGeom>
          <a:noFill/>
          <a:ln/>
        </p:spPr>
        <p:txBody>
          <a:bodyPr wrap="square" lIns="0" tIns="0" rIns="0" bIns="0" rtlCol="0" anchor="t"/>
          <a:lstStyle/>
          <a:p>
            <a:pPr algn="l" indent="0" marL="0">
              <a:lnSpc>
                <a:spcPts val="5691"/>
              </a:lnSpc>
              <a:buNone/>
            </a:pPr>
            <a:r>
              <a:rPr lang="en-US" sz="4703" b="1" spc="-188" kern="0" dirty="0">
                <a:solidFill>
                  <a:srgbClr val="0E130F">
                    <a:alpha val="99000"/>
                  </a:srgbClr>
                </a:solidFill>
                <a:latin typeface="Inter" pitchFamily="34" charset="0"/>
                <a:ea typeface="Inter" pitchFamily="34" charset="-122"/>
                <a:cs typeface="Inter" pitchFamily="34" charset="-120"/>
              </a:rPr>
              <a:t>5%</a:t>
            </a:r>
            <a:endParaRPr lang="en-US" sz="4703" dirty="0"/>
          </a:p>
        </p:txBody>
      </p:sp>
      <p:sp>
        <p:nvSpPr>
          <p:cNvPr id="30" name="Text 27"/>
          <p:cNvSpPr/>
          <p:nvPr/>
        </p:nvSpPr>
        <p:spPr>
          <a:xfrm>
            <a:off x="6096000" y="2209800"/>
            <a:ext cx="2476500" cy="176213"/>
          </a:xfrm>
          <a:prstGeom prst="rect">
            <a:avLst/>
          </a:prstGeom>
          <a:noFill/>
          <a:ln/>
        </p:spPr>
        <p:txBody>
          <a:bodyPr wrap="square" lIns="0" tIns="0" rIns="0" bIns="0" rtlCol="0" anchor="t"/>
          <a:lstStyle/>
          <a:p>
            <a:pPr algn="l" indent="0" marL="0">
              <a:lnSpc>
                <a:spcPts val="1311"/>
              </a:lnSpc>
              <a:buNone/>
            </a:pPr>
            <a:r>
              <a:rPr lang="en-US" sz="1140" b="1" spc="-6" kern="0" dirty="0">
                <a:solidFill>
                  <a:srgbClr val="0E130F">
                    <a:alpha val="99000"/>
                  </a:srgbClr>
                </a:solidFill>
                <a:latin typeface="Inter" pitchFamily="34" charset="0"/>
                <a:ea typeface="Inter" pitchFamily="34" charset="-122"/>
                <a:cs typeface="Inter" pitchFamily="34" charset="-120"/>
              </a:rPr>
              <a:t>only when cashing out to Pix</a:t>
            </a:r>
            <a:endParaRPr lang="en-US" sz="1140" dirty="0"/>
          </a:p>
        </p:txBody>
      </p:sp>
      <p:sp>
        <p:nvSpPr>
          <p:cNvPr id="31" name="Text 28"/>
          <p:cNvSpPr/>
          <p:nvPr/>
        </p:nvSpPr>
        <p:spPr>
          <a:xfrm>
            <a:off x="6096000" y="2457450"/>
            <a:ext cx="2476500" cy="323850"/>
          </a:xfrm>
          <a:prstGeom prst="rect">
            <a:avLst/>
          </a:prstGeom>
          <a:noFill/>
          <a:ln/>
        </p:spPr>
        <p:txBody>
          <a:bodyPr wrap="square" lIns="0" tIns="0" rIns="0" bIns="0" rtlCol="0" anchor="t"/>
          <a:lstStyle/>
          <a:p>
            <a:pPr algn="l" indent="0" marL="0">
              <a:lnSpc>
                <a:spcPts val="1197"/>
              </a:lnSpc>
              <a:buNone/>
            </a:pPr>
            <a:r>
              <a:rPr lang="en-US" sz="855" dirty="0">
                <a:solidFill>
                  <a:srgbClr val="545C54">
                    <a:alpha val="99000"/>
                  </a:srgbClr>
                </a:solidFill>
                <a:latin typeface="Inter" pitchFamily="34" charset="0"/>
                <a:ea typeface="Inter" pitchFamily="34" charset="-122"/>
                <a:cs typeface="Inter" pitchFamily="34" charset="-120"/>
              </a:rPr>
              <a:t>Merchants choose when to convert. Many keep SIMPAY to spend in the network.</a:t>
            </a:r>
            <a:endParaRPr lang="en-US" sz="855" dirty="0"/>
          </a:p>
        </p:txBody>
      </p:sp>
      <p:sp>
        <p:nvSpPr>
          <p:cNvPr id="32" name="Shape 29"/>
          <p:cNvSpPr/>
          <p:nvPr/>
        </p:nvSpPr>
        <p:spPr>
          <a:xfrm>
            <a:off x="4572000" y="3190875"/>
            <a:ext cx="4000500" cy="14288"/>
          </a:xfrm>
          <a:prstGeom prst="rect">
            <a:avLst/>
          </a:prstGeom>
          <a:solidFill>
            <a:srgbClr val="0E130F"/>
          </a:solidFill>
          <a:ln/>
        </p:spPr>
        <p:txBody>
          <a:bodyPr/>
          <a:p/>
        </p:txBody>
      </p:sp>
      <p:sp>
        <p:nvSpPr>
          <p:cNvPr id="33" name="Text 30"/>
          <p:cNvSpPr/>
          <p:nvPr/>
        </p:nvSpPr>
        <p:spPr>
          <a:xfrm>
            <a:off x="4572000" y="3286125"/>
            <a:ext cx="1428750" cy="762000"/>
          </a:xfrm>
          <a:prstGeom prst="rect">
            <a:avLst/>
          </a:prstGeom>
          <a:noFill/>
          <a:ln/>
        </p:spPr>
        <p:txBody>
          <a:bodyPr wrap="square" lIns="0" tIns="0" rIns="0" bIns="0" rtlCol="0" anchor="t"/>
          <a:lstStyle/>
          <a:p>
            <a:pPr algn="l" indent="0" marL="0">
              <a:lnSpc>
                <a:spcPts val="5691"/>
              </a:lnSpc>
              <a:buNone/>
            </a:pPr>
            <a:r>
              <a:rPr lang="en-US" sz="4703" b="1" spc="-188" kern="0" dirty="0">
                <a:solidFill>
                  <a:srgbClr val="0E130F">
                    <a:alpha val="99000"/>
                  </a:srgbClr>
                </a:solidFill>
                <a:latin typeface="Inter" pitchFamily="34" charset="0"/>
                <a:ea typeface="Inter" pitchFamily="34" charset="-122"/>
                <a:cs typeface="Inter" pitchFamily="34" charset="-120"/>
              </a:rPr>
              <a:t>+</a:t>
            </a:r>
            <a:endParaRPr lang="en-US" sz="4703" dirty="0"/>
          </a:p>
        </p:txBody>
      </p:sp>
      <p:sp>
        <p:nvSpPr>
          <p:cNvPr id="34" name="Text 31"/>
          <p:cNvSpPr/>
          <p:nvPr/>
        </p:nvSpPr>
        <p:spPr>
          <a:xfrm>
            <a:off x="6096000" y="3400425"/>
            <a:ext cx="2476500" cy="176213"/>
          </a:xfrm>
          <a:prstGeom prst="rect">
            <a:avLst/>
          </a:prstGeom>
          <a:noFill/>
          <a:ln/>
        </p:spPr>
        <p:txBody>
          <a:bodyPr wrap="square" lIns="0" tIns="0" rIns="0" bIns="0" rtlCol="0" anchor="t"/>
          <a:lstStyle/>
          <a:p>
            <a:pPr algn="l" indent="0" marL="0">
              <a:lnSpc>
                <a:spcPts val="1311"/>
              </a:lnSpc>
              <a:buNone/>
            </a:pPr>
            <a:r>
              <a:rPr lang="en-US" sz="1140" b="1" spc="-6" kern="0" dirty="0">
                <a:solidFill>
                  <a:srgbClr val="0E130F">
                    <a:alpha val="99000"/>
                  </a:srgbClr>
                </a:solidFill>
                <a:latin typeface="Inter" pitchFamily="34" charset="0"/>
                <a:ea typeface="Inter" pitchFamily="34" charset="-122"/>
                <a:cs typeface="Inter" pitchFamily="34" charset="-120"/>
              </a:rPr>
              <a:t>service fee on Pix purchases</a:t>
            </a:r>
            <a:endParaRPr lang="en-US" sz="1140" dirty="0"/>
          </a:p>
        </p:txBody>
      </p:sp>
      <p:sp>
        <p:nvSpPr>
          <p:cNvPr id="35" name="Text 32"/>
          <p:cNvSpPr/>
          <p:nvPr/>
        </p:nvSpPr>
        <p:spPr>
          <a:xfrm>
            <a:off x="6096000" y="3648075"/>
            <a:ext cx="2476500" cy="323850"/>
          </a:xfrm>
          <a:prstGeom prst="rect">
            <a:avLst/>
          </a:prstGeom>
          <a:noFill/>
          <a:ln/>
        </p:spPr>
        <p:txBody>
          <a:bodyPr wrap="square" lIns="0" tIns="0" rIns="0" bIns="0" rtlCol="0" anchor="t"/>
          <a:lstStyle/>
          <a:p>
            <a:pPr algn="l" indent="0" marL="0">
              <a:lnSpc>
                <a:spcPts val="1197"/>
              </a:lnSpc>
              <a:buNone/>
            </a:pPr>
            <a:r>
              <a:rPr lang="en-US" sz="855" dirty="0">
                <a:solidFill>
                  <a:srgbClr val="545C54">
                    <a:alpha val="99000"/>
                  </a:srgbClr>
                </a:solidFill>
                <a:latin typeface="Inter" pitchFamily="34" charset="0"/>
                <a:ea typeface="Inter" pitchFamily="34" charset="-122"/>
                <a:cs typeface="Inter" pitchFamily="34" charset="-120"/>
              </a:rPr>
              <a:t>Consumers buy SIMPAY with Pix; a small fee funds operations.</a:t>
            </a:r>
            <a:endParaRPr lang="en-US" sz="855" dirty="0"/>
          </a:p>
        </p:txBody>
      </p:sp>
      <p:sp>
        <p:nvSpPr>
          <p:cNvPr id="36" name="Text 33"/>
          <p:cNvSpPr/>
          <p:nvPr/>
        </p:nvSpPr>
        <p:spPr>
          <a:xfrm>
            <a:off x="571500" y="4142232"/>
            <a:ext cx="3611880" cy="557213"/>
          </a:xfrm>
          <a:prstGeom prst="rect">
            <a:avLst/>
          </a:prstGeom>
          <a:noFill/>
          <a:ln/>
        </p:spPr>
        <p:txBody>
          <a:bodyPr wrap="square" lIns="0" tIns="0" rIns="0" bIns="0" rtlCol="0" anchor="t"/>
          <a:lstStyle/>
          <a:p>
            <a:pPr algn="l" indent="0" marL="0">
              <a:lnSpc>
                <a:spcPts val="1397"/>
              </a:lnSpc>
              <a:buNone/>
            </a:pPr>
            <a:r>
              <a:rPr lang="en-US" sz="855" dirty="0">
                <a:solidFill>
                  <a:srgbClr val="545C54">
                    <a:alpha val="99000"/>
                  </a:srgbClr>
                </a:solidFill>
                <a:latin typeface="Inter" pitchFamily="34" charset="0"/>
                <a:ea typeface="Inter" pitchFamily="34" charset="-122"/>
                <a:cs typeface="Inter" pitchFamily="34" charset="-120"/>
              </a:rPr>
              <a:t>Cashback and referrals: funded by the 20% rewards allocation.</a:t>
            </a:r>
            <a:endParaRPr lang="en-US" sz="998" dirty="0"/>
          </a:p>
        </p:txBody>
      </p:sp>
      <p:sp>
        <p:nvSpPr>
          <p:cNvPr id="42" name="TextBox 41"/>
          <p:cNvSpPr txBox="1"/>
          <p:nvPr/>
        </p:nvSpPr>
        <p:spPr>
          <a:xfrm>
            <a:off x="571500" y="4762500"/>
            <a:ext cx="237744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SIMPAY · COLOSSEUM 2026</a:t>
            </a:r>
          </a:p>
        </p:txBody>
      </p:sp>
      <p:sp>
        <p:nvSpPr>
          <p:cNvPr id="43" name="TextBox 42"/>
          <p:cNvSpPr txBox="1"/>
          <p:nvPr/>
        </p:nvSpPr>
        <p:spPr>
          <a:xfrm>
            <a:off x="8381999" y="4762500"/>
            <a:ext cx="19050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09</a:t>
            </a:r>
          </a:p>
        </p:txBody>
      </p:sp>
      <p:pic>
        <p:nvPicPr>
          <p:cNvPr id="39" name="simulator-en.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571500" y="2395728"/>
            <a:ext cx="3611880" cy="1473906"/>
          </a:xfrm>
          <a:prstGeom prst="rect">
            <a:avLst/>
          </a:prstGeom>
        </p:spPr>
      </p:pic>
      <p:sp>
        <p:nvSpPr>
          <p:cNvPr id="40" name="TextBox 39"/>
          <p:cNvSpPr txBox="1"/>
          <p:nvPr/>
        </p:nvSpPr>
        <p:spPr>
          <a:xfrm>
            <a:off x="571500" y="2185416"/>
            <a:ext cx="3611880" cy="137160"/>
          </a:xfrm>
          <a:prstGeom prst="rect">
            <a:avLst/>
          </a:prstGeom>
          <a:noFill/>
        </p:spPr>
        <p:txBody>
          <a:bodyPr wrap="square" lIns="0" tIns="0" rIns="0" bIns="0">
            <a:noAutofit/>
          </a:bodyPr>
          <a:lstStyle/>
          <a:p>
            <a:pPr>
              <a:lnSpc>
                <a:spcPts val="878"/>
              </a:lnSpc>
              <a:defRPr sz="720" b="0">
                <a:solidFill>
                  <a:srgbClr val="545C54"/>
                </a:solidFill>
                <a:latin typeface="JetBrains Mono"/>
              </a:defRPr>
            </a:pPr>
            <a:r>
              <a:rPr/>
              <a:t>WEBSITE SIMULATOR · 5s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39"/>
                </p:tgtEl>
              </p:cMediaNode>
            </p:vide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BDF06B"/>
        </a:solidFill>
      </p:bgPr>
    </p:bg>
    <p:spTree>
      <p:nvGrpSpPr>
        <p:cNvPr id="1" name=""/>
        <p:cNvGrpSpPr/>
        <p:nvPr/>
      </p:nvGrpSpPr>
      <p:grpSpPr>
        <a:xfrm>
          <a:off x="0" y="0"/>
          <a:ext cx="0" cy="0"/>
          <a:chOff x="0" y="0"/>
          <a:chExt cx="0" cy="0"/>
        </a:xfrm>
      </p:grpSpPr>
      <p:sp>
        <p:nvSpPr>
          <p:cNvPr id="38" name="TextBox 37"/>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0E130F"/>
                </a:solidFill>
                <a:latin typeface="JetBrains Mono"/>
              </a:defRPr>
            </a:pPr>
            <a:r>
              <a:t>09 — TRACTION PLAN</a:t>
            </a:r>
          </a:p>
        </p:txBody>
      </p:sp>
      <p:sp>
        <p:nvSpPr>
          <p:cNvPr id="20" name="Text 17"/>
          <p:cNvSpPr/>
          <p:nvPr/>
        </p:nvSpPr>
        <p:spPr>
          <a:xfrm>
            <a:off x="571500" y="809625"/>
            <a:ext cx="6667500" cy="762000"/>
          </a:xfrm>
          <a:prstGeom prst="rect">
            <a:avLst/>
          </a:prstGeom>
          <a:noFill/>
          <a:ln/>
        </p:spPr>
        <p:txBody>
          <a:bodyPr wrap="square" lIns="0" tIns="0" rIns="0" bIns="0" rtlCol="0" anchor="t"/>
          <a:lstStyle/>
          <a:p>
            <a:pPr algn="l" indent="0" marL="0">
              <a:lnSpc>
                <a:spcPts val="2850"/>
              </a:lnSpc>
              <a:buNone/>
            </a:pPr>
            <a:r>
              <a:rPr lang="en-US" sz="2850" b="1" spc="-85" kern="0" dirty="0">
                <a:solidFill>
                  <a:srgbClr val="0E130F">
                    <a:alpha val="99000"/>
                  </a:srgbClr>
                </a:solidFill>
                <a:latin typeface="Inter" pitchFamily="34" charset="0"/>
                <a:ea typeface="Inter" pitchFamily="34" charset="-122"/>
                <a:cs typeface="Inter" pitchFamily="34" charset="-120"/>
              </a:rPr>
              <a:t>A growth loop built</a:t>
            </a:r>
            <a:endParaRPr lang="en-US" sz="2850" dirty="0"/>
          </a:p>
          <a:p>
            <a:pPr algn="l" indent="0" marL="0">
              <a:lnSpc>
                <a:spcPts val="2850"/>
              </a:lnSpc>
              <a:buNone/>
            </a:pPr>
            <a:r>
              <a:rPr lang="en-US" sz="2850" b="1" spc="-85" kern="0" dirty="0">
                <a:solidFill>
                  <a:srgbClr val="0E130F">
                    <a:alpha val="99000"/>
                  </a:srgbClr>
                </a:solidFill>
                <a:latin typeface="Inter" pitchFamily="34" charset="0"/>
                <a:ea typeface="Inter" pitchFamily="34" charset="-122"/>
                <a:cs typeface="Inter" pitchFamily="34" charset="-120"/>
              </a:rPr>
              <a:t>into the product.</a:t>
            </a:r>
            <a:endParaRPr lang="en-US" sz="2850" dirty="0"/>
          </a:p>
        </p:txBody>
      </p:sp>
      <p:sp>
        <p:nvSpPr>
          <p:cNvPr id="21" name="Text 18"/>
          <p:cNvSpPr/>
          <p:nvPr/>
        </p:nvSpPr>
        <p:spPr>
          <a:xfrm>
            <a:off x="571500" y="2238375"/>
            <a:ext cx="952500" cy="690563"/>
          </a:xfrm>
          <a:prstGeom prst="rect">
            <a:avLst/>
          </a:prstGeom>
          <a:noFill/>
          <a:ln/>
        </p:spPr>
        <p:txBody>
          <a:bodyPr wrap="square" lIns="0" tIns="0" rIns="0" bIns="0" rtlCol="0" anchor="t"/>
          <a:lstStyle/>
          <a:p>
            <a:pPr algn="l" indent="0" marL="0">
              <a:lnSpc>
                <a:spcPts val="5174"/>
              </a:lnSpc>
              <a:buNone/>
            </a:pPr>
            <a:r>
              <a:rPr lang="en-US" sz="4275" b="1" spc="-171" kern="0" dirty="0">
                <a:solidFill>
                  <a:srgbClr val="0E130F">
                    <a:alpha val="99000"/>
                  </a:srgbClr>
                </a:solidFill>
                <a:latin typeface="Inter" pitchFamily="34" charset="0"/>
                <a:ea typeface="Inter" pitchFamily="34" charset="-122"/>
                <a:cs typeface="Inter" pitchFamily="34" charset="-120"/>
              </a:rPr>
              <a:t>1</a:t>
            </a:r>
            <a:endParaRPr lang="en-US" sz="4275" dirty="0"/>
          </a:p>
        </p:txBody>
      </p:sp>
      <p:sp>
        <p:nvSpPr>
          <p:cNvPr id="22" name="Text 19"/>
          <p:cNvSpPr/>
          <p:nvPr/>
        </p:nvSpPr>
        <p:spPr>
          <a:xfrm>
            <a:off x="571500" y="3048000"/>
            <a:ext cx="1762125" cy="176213"/>
          </a:xfrm>
          <a:prstGeom prst="rect">
            <a:avLst/>
          </a:prstGeom>
          <a:noFill/>
          <a:ln/>
        </p:spPr>
        <p:txBody>
          <a:bodyPr wrap="square" lIns="0" tIns="0" rIns="0" bIns="0" rtlCol="0" anchor="t"/>
          <a:lstStyle/>
          <a:p>
            <a:pPr algn="l" indent="0" marL="0">
              <a:lnSpc>
                <a:spcPts val="1332"/>
              </a:lnSpc>
              <a:buNone/>
            </a:pPr>
            <a:r>
              <a:rPr lang="en-US" sz="1211" b="1" spc="-12" kern="0" dirty="0">
                <a:solidFill>
                  <a:srgbClr val="0E130F">
                    <a:alpha val="99000"/>
                  </a:srgbClr>
                </a:solidFill>
                <a:latin typeface="Inter" pitchFamily="34" charset="0"/>
                <a:ea typeface="Inter" pitchFamily="34" charset="-122"/>
                <a:cs typeface="Inter" pitchFamily="34" charset="-120"/>
              </a:rPr>
              <a:t>Pilot merchants</a:t>
            </a:r>
            <a:endParaRPr lang="en-US" sz="1211" dirty="0"/>
          </a:p>
        </p:txBody>
      </p:sp>
      <p:sp>
        <p:nvSpPr>
          <p:cNvPr id="23" name="Text 20"/>
          <p:cNvSpPr/>
          <p:nvPr/>
        </p:nvSpPr>
        <p:spPr>
          <a:xfrm>
            <a:off x="571500" y="3333750"/>
            <a:ext cx="1714500" cy="485775"/>
          </a:xfrm>
          <a:prstGeom prst="rect">
            <a:avLst/>
          </a:prstGeom>
          <a:noFill/>
          <a:ln/>
        </p:spPr>
        <p:txBody>
          <a:bodyPr wrap="square" lIns="0" tIns="0" rIns="0" bIns="0" rtlCol="0" anchor="t"/>
          <a:lstStyle/>
          <a:p>
            <a:pPr algn="l" indent="0" marL="0">
              <a:lnSpc>
                <a:spcPts val="1197"/>
              </a:lnSpc>
              <a:buNone/>
            </a:pPr>
            <a:r>
              <a:rPr lang="en-US" sz="855" dirty="0">
                <a:solidFill>
                  <a:srgbClr val="0E130F">
                    <a:alpha val="99000"/>
                  </a:srgbClr>
                </a:solidFill>
                <a:latin typeface="Inter" pitchFamily="34" charset="0"/>
                <a:ea typeface="Inter" pitchFamily="34" charset="-122"/>
                <a:cs typeface="Inter" pitchFamily="34" charset="-120"/>
              </a:rPr>
              <a:t>Hand-onboard cafés and local shops with NFC tags and a 5-minute setup.</a:t>
            </a:r>
            <a:endParaRPr lang="en-US" sz="855" dirty="0"/>
          </a:p>
        </p:txBody>
      </p:sp>
      <p:sp>
        <p:nvSpPr>
          <p:cNvPr id="24" name="Text 21"/>
          <p:cNvSpPr/>
          <p:nvPr/>
        </p:nvSpPr>
        <p:spPr>
          <a:xfrm>
            <a:off x="2143125" y="2381250"/>
            <a:ext cx="295275" cy="366713"/>
          </a:xfrm>
          <a:prstGeom prst="rect">
            <a:avLst/>
          </a:prstGeom>
          <a:noFill/>
          <a:ln/>
        </p:spPr>
        <p:txBody>
          <a:bodyPr wrap="square" lIns="0" tIns="0" rIns="0" bIns="0" rtlCol="0" anchor="t"/>
          <a:lstStyle/>
          <a:p>
            <a:pPr algn="l" indent="0" marL="0">
              <a:lnSpc>
                <a:spcPts val="2759"/>
              </a:lnSpc>
              <a:buNone/>
            </a:pPr>
            <a:r>
              <a:rPr lang="en-US" sz="2280" b="1" dirty="0">
                <a:solidFill>
                  <a:srgbClr val="0E130F">
                    <a:alpha val="99000"/>
                  </a:srgbClr>
                </a:solidFill>
                <a:latin typeface="Inter" pitchFamily="34" charset="0"/>
                <a:ea typeface="Inter" pitchFamily="34" charset="-122"/>
                <a:cs typeface="Inter" pitchFamily="34" charset="-120"/>
              </a:rPr>
              <a:t>→</a:t>
            </a:r>
            <a:endParaRPr lang="en-US" sz="2280" dirty="0"/>
          </a:p>
        </p:txBody>
      </p:sp>
      <p:sp>
        <p:nvSpPr>
          <p:cNvPr id="25" name="Text 22"/>
          <p:cNvSpPr/>
          <p:nvPr/>
        </p:nvSpPr>
        <p:spPr>
          <a:xfrm>
            <a:off x="2619375" y="2238375"/>
            <a:ext cx="952500" cy="690563"/>
          </a:xfrm>
          <a:prstGeom prst="rect">
            <a:avLst/>
          </a:prstGeom>
          <a:noFill/>
          <a:ln/>
        </p:spPr>
        <p:txBody>
          <a:bodyPr wrap="square" lIns="0" tIns="0" rIns="0" bIns="0" rtlCol="0" anchor="t"/>
          <a:lstStyle/>
          <a:p>
            <a:pPr algn="l" indent="0" marL="0">
              <a:lnSpc>
                <a:spcPts val="5174"/>
              </a:lnSpc>
              <a:buNone/>
            </a:pPr>
            <a:r>
              <a:rPr lang="en-US" sz="4275" b="1" spc="-171" kern="0" dirty="0">
                <a:solidFill>
                  <a:srgbClr val="0E130F">
                    <a:alpha val="99000"/>
                  </a:srgbClr>
                </a:solidFill>
                <a:latin typeface="Inter" pitchFamily="34" charset="0"/>
                <a:ea typeface="Inter" pitchFamily="34" charset="-122"/>
                <a:cs typeface="Inter" pitchFamily="34" charset="-120"/>
              </a:rPr>
              <a:t>2</a:t>
            </a:r>
            <a:endParaRPr lang="en-US" sz="4275" dirty="0"/>
          </a:p>
        </p:txBody>
      </p:sp>
      <p:sp>
        <p:nvSpPr>
          <p:cNvPr id="26" name="Text 23"/>
          <p:cNvSpPr/>
          <p:nvPr/>
        </p:nvSpPr>
        <p:spPr>
          <a:xfrm>
            <a:off x="2619375" y="3048000"/>
            <a:ext cx="1762125" cy="176213"/>
          </a:xfrm>
          <a:prstGeom prst="rect">
            <a:avLst/>
          </a:prstGeom>
          <a:noFill/>
          <a:ln/>
        </p:spPr>
        <p:txBody>
          <a:bodyPr wrap="square" lIns="0" tIns="0" rIns="0" bIns="0" rtlCol="0" anchor="t"/>
          <a:lstStyle/>
          <a:p>
            <a:pPr algn="l" indent="0" marL="0">
              <a:lnSpc>
                <a:spcPts val="1332"/>
              </a:lnSpc>
              <a:buNone/>
            </a:pPr>
            <a:r>
              <a:rPr lang="en-US" sz="1211" b="1" spc="-12" kern="0" dirty="0">
                <a:solidFill>
                  <a:srgbClr val="0E130F">
                    <a:alpha val="99000"/>
                  </a:srgbClr>
                </a:solidFill>
                <a:latin typeface="Inter" pitchFamily="34" charset="0"/>
                <a:ea typeface="Inter" pitchFamily="34" charset="-122"/>
                <a:cs typeface="Inter" pitchFamily="34" charset="-120"/>
              </a:rPr>
              <a:t>Merchant → merchant</a:t>
            </a:r>
            <a:endParaRPr lang="en-US" sz="1211" dirty="0"/>
          </a:p>
        </p:txBody>
      </p:sp>
      <p:sp>
        <p:nvSpPr>
          <p:cNvPr id="27" name="Text 24"/>
          <p:cNvSpPr/>
          <p:nvPr/>
        </p:nvSpPr>
        <p:spPr>
          <a:xfrm>
            <a:off x="2619375" y="3333750"/>
            <a:ext cx="1714500" cy="485775"/>
          </a:xfrm>
          <a:prstGeom prst="rect">
            <a:avLst/>
          </a:prstGeom>
          <a:noFill/>
          <a:ln/>
        </p:spPr>
        <p:txBody>
          <a:bodyPr wrap="square" lIns="0" tIns="0" rIns="0" bIns="0" rtlCol="0" anchor="t"/>
          <a:lstStyle/>
          <a:p>
            <a:pPr algn="l" indent="0" marL="0">
              <a:lnSpc>
                <a:spcPts val="1197"/>
              </a:lnSpc>
              <a:buNone/>
            </a:pPr>
            <a:r>
              <a:rPr lang="en-US" sz="855" dirty="0">
                <a:solidFill>
                  <a:srgbClr val="0E130F">
                    <a:alpha val="99000"/>
                  </a:srgbClr>
                </a:solidFill>
                <a:latin typeface="Inter" pitchFamily="34" charset="0"/>
                <a:ea typeface="Inter" pitchFamily="34" charset="-122"/>
                <a:cs typeface="Inter" pitchFamily="34" charset="-120"/>
              </a:rPr>
              <a:t>Each merchant gets a code. Both earn SIMPAY after the new shop’s first sales.</a:t>
            </a:r>
            <a:endParaRPr lang="en-US" sz="855" dirty="0"/>
          </a:p>
        </p:txBody>
      </p:sp>
      <p:sp>
        <p:nvSpPr>
          <p:cNvPr id="28" name="Text 25"/>
          <p:cNvSpPr/>
          <p:nvPr/>
        </p:nvSpPr>
        <p:spPr>
          <a:xfrm>
            <a:off x="4191000" y="2381250"/>
            <a:ext cx="295275" cy="366713"/>
          </a:xfrm>
          <a:prstGeom prst="rect">
            <a:avLst/>
          </a:prstGeom>
          <a:noFill/>
          <a:ln/>
        </p:spPr>
        <p:txBody>
          <a:bodyPr wrap="square" lIns="0" tIns="0" rIns="0" bIns="0" rtlCol="0" anchor="t"/>
          <a:lstStyle/>
          <a:p>
            <a:pPr algn="l" indent="0" marL="0">
              <a:lnSpc>
                <a:spcPts val="2759"/>
              </a:lnSpc>
              <a:buNone/>
            </a:pPr>
            <a:r>
              <a:rPr lang="en-US" sz="2280" b="1" dirty="0">
                <a:solidFill>
                  <a:srgbClr val="0E130F">
                    <a:alpha val="99000"/>
                  </a:srgbClr>
                </a:solidFill>
                <a:latin typeface="Inter" pitchFamily="34" charset="0"/>
                <a:ea typeface="Inter" pitchFamily="34" charset="-122"/>
                <a:cs typeface="Inter" pitchFamily="34" charset="-120"/>
              </a:rPr>
              <a:t>→</a:t>
            </a:r>
            <a:endParaRPr lang="en-US" sz="2280" dirty="0"/>
          </a:p>
        </p:txBody>
      </p:sp>
      <p:sp>
        <p:nvSpPr>
          <p:cNvPr id="29" name="Text 26"/>
          <p:cNvSpPr/>
          <p:nvPr/>
        </p:nvSpPr>
        <p:spPr>
          <a:xfrm>
            <a:off x="4667250" y="2238375"/>
            <a:ext cx="952500" cy="690563"/>
          </a:xfrm>
          <a:prstGeom prst="rect">
            <a:avLst/>
          </a:prstGeom>
          <a:noFill/>
          <a:ln/>
        </p:spPr>
        <p:txBody>
          <a:bodyPr wrap="square" lIns="0" tIns="0" rIns="0" bIns="0" rtlCol="0" anchor="t"/>
          <a:lstStyle/>
          <a:p>
            <a:pPr algn="l" indent="0" marL="0">
              <a:lnSpc>
                <a:spcPts val="5174"/>
              </a:lnSpc>
              <a:buNone/>
            </a:pPr>
            <a:r>
              <a:rPr lang="en-US" sz="4275" b="1" spc="-171" kern="0" dirty="0">
                <a:solidFill>
                  <a:srgbClr val="0E130F">
                    <a:alpha val="99000"/>
                  </a:srgbClr>
                </a:solidFill>
                <a:latin typeface="Inter" pitchFamily="34" charset="0"/>
                <a:ea typeface="Inter" pitchFamily="34" charset="-122"/>
                <a:cs typeface="Inter" pitchFamily="34" charset="-120"/>
              </a:rPr>
              <a:t>3</a:t>
            </a:r>
            <a:endParaRPr lang="en-US" sz="4275" dirty="0"/>
          </a:p>
        </p:txBody>
      </p:sp>
      <p:sp>
        <p:nvSpPr>
          <p:cNvPr id="30" name="Text 27"/>
          <p:cNvSpPr/>
          <p:nvPr/>
        </p:nvSpPr>
        <p:spPr>
          <a:xfrm>
            <a:off x="4667250" y="3048000"/>
            <a:ext cx="1762125" cy="176213"/>
          </a:xfrm>
          <a:prstGeom prst="rect">
            <a:avLst/>
          </a:prstGeom>
          <a:noFill/>
          <a:ln/>
        </p:spPr>
        <p:txBody>
          <a:bodyPr wrap="square" lIns="0" tIns="0" rIns="0" bIns="0" rtlCol="0" anchor="t"/>
          <a:lstStyle/>
          <a:p>
            <a:pPr algn="l" indent="0" marL="0">
              <a:lnSpc>
                <a:spcPts val="1332"/>
              </a:lnSpc>
              <a:buNone/>
            </a:pPr>
            <a:r>
              <a:rPr lang="en-US" sz="1211" b="1" spc="-12" kern="0" dirty="0">
                <a:solidFill>
                  <a:srgbClr val="0E130F">
                    <a:alpha val="99000"/>
                  </a:srgbClr>
                </a:solidFill>
                <a:latin typeface="Inter" pitchFamily="34" charset="0"/>
                <a:ea typeface="Inter" pitchFamily="34" charset="-122"/>
                <a:cs typeface="Inter" pitchFamily="34" charset="-120"/>
              </a:rPr>
              <a:t>Customer → customer</a:t>
            </a:r>
            <a:endParaRPr lang="en-US" sz="1211" dirty="0"/>
          </a:p>
        </p:txBody>
      </p:sp>
      <p:sp>
        <p:nvSpPr>
          <p:cNvPr id="31" name="Text 28"/>
          <p:cNvSpPr/>
          <p:nvPr/>
        </p:nvSpPr>
        <p:spPr>
          <a:xfrm>
            <a:off x="4667250" y="3333750"/>
            <a:ext cx="1714500" cy="647700"/>
          </a:xfrm>
          <a:prstGeom prst="rect">
            <a:avLst/>
          </a:prstGeom>
          <a:noFill/>
          <a:ln/>
        </p:spPr>
        <p:txBody>
          <a:bodyPr wrap="square" lIns="0" tIns="0" rIns="0" bIns="0" rtlCol="0" anchor="t"/>
          <a:lstStyle/>
          <a:p>
            <a:pPr algn="l" indent="0" marL="0">
              <a:lnSpc>
                <a:spcPts val="1197"/>
              </a:lnSpc>
              <a:buNone/>
            </a:pPr>
            <a:r>
              <a:rPr lang="en-US" sz="855" dirty="0">
                <a:solidFill>
                  <a:srgbClr val="0E130F">
                    <a:alpha val="99000"/>
                  </a:srgbClr>
                </a:solidFill>
                <a:latin typeface="Inter" pitchFamily="34" charset="0"/>
                <a:ea typeface="Inter" pitchFamily="34" charset="-122"/>
                <a:cs typeface="Inter" pitchFamily="34" charset="-120"/>
              </a:rPr>
              <a:t>Cashback on every purchase plus invite codes. Rewards unlock on the first real payment.</a:t>
            </a:r>
            <a:endParaRPr lang="en-US" sz="855" dirty="0"/>
          </a:p>
        </p:txBody>
      </p:sp>
      <p:sp>
        <p:nvSpPr>
          <p:cNvPr id="32" name="Text 29"/>
          <p:cNvSpPr/>
          <p:nvPr/>
        </p:nvSpPr>
        <p:spPr>
          <a:xfrm>
            <a:off x="6238875" y="2381250"/>
            <a:ext cx="295275" cy="366713"/>
          </a:xfrm>
          <a:prstGeom prst="rect">
            <a:avLst/>
          </a:prstGeom>
          <a:noFill/>
          <a:ln/>
        </p:spPr>
        <p:txBody>
          <a:bodyPr wrap="square" lIns="0" tIns="0" rIns="0" bIns="0" rtlCol="0" anchor="t"/>
          <a:lstStyle/>
          <a:p>
            <a:pPr algn="l" indent="0" marL="0">
              <a:lnSpc>
                <a:spcPts val="2759"/>
              </a:lnSpc>
              <a:buNone/>
            </a:pPr>
            <a:r>
              <a:rPr lang="en-US" sz="2280" b="1" dirty="0">
                <a:solidFill>
                  <a:srgbClr val="0E130F">
                    <a:alpha val="99000"/>
                  </a:srgbClr>
                </a:solidFill>
                <a:latin typeface="Inter" pitchFamily="34" charset="0"/>
                <a:ea typeface="Inter" pitchFamily="34" charset="-122"/>
                <a:cs typeface="Inter" pitchFamily="34" charset="-120"/>
              </a:rPr>
              <a:t>→</a:t>
            </a:r>
            <a:endParaRPr lang="en-US" sz="2280" dirty="0"/>
          </a:p>
        </p:txBody>
      </p:sp>
      <p:sp>
        <p:nvSpPr>
          <p:cNvPr id="33" name="Text 30"/>
          <p:cNvSpPr/>
          <p:nvPr/>
        </p:nvSpPr>
        <p:spPr>
          <a:xfrm>
            <a:off x="6715125" y="2238375"/>
            <a:ext cx="952500" cy="690563"/>
          </a:xfrm>
          <a:prstGeom prst="rect">
            <a:avLst/>
          </a:prstGeom>
          <a:noFill/>
          <a:ln/>
        </p:spPr>
        <p:txBody>
          <a:bodyPr wrap="square" lIns="0" tIns="0" rIns="0" bIns="0" rtlCol="0" anchor="t"/>
          <a:lstStyle/>
          <a:p>
            <a:pPr algn="l" indent="0" marL="0">
              <a:lnSpc>
                <a:spcPts val="5174"/>
              </a:lnSpc>
              <a:buNone/>
            </a:pPr>
            <a:r>
              <a:rPr lang="en-US" sz="4275" b="1" spc="-171" kern="0" dirty="0">
                <a:solidFill>
                  <a:srgbClr val="0E130F">
                    <a:alpha val="99000"/>
                  </a:srgbClr>
                </a:solidFill>
                <a:latin typeface="Inter" pitchFamily="34" charset="0"/>
                <a:ea typeface="Inter" pitchFamily="34" charset="-122"/>
                <a:cs typeface="Inter" pitchFamily="34" charset="-120"/>
              </a:rPr>
              <a:t>4</a:t>
            </a:r>
            <a:endParaRPr lang="en-US" sz="4275" dirty="0"/>
          </a:p>
        </p:txBody>
      </p:sp>
      <p:sp>
        <p:nvSpPr>
          <p:cNvPr id="34" name="Text 31"/>
          <p:cNvSpPr/>
          <p:nvPr/>
        </p:nvSpPr>
        <p:spPr>
          <a:xfrm>
            <a:off x="6715125" y="3048000"/>
            <a:ext cx="1762125" cy="176213"/>
          </a:xfrm>
          <a:prstGeom prst="rect">
            <a:avLst/>
          </a:prstGeom>
          <a:noFill/>
          <a:ln/>
        </p:spPr>
        <p:txBody>
          <a:bodyPr wrap="square" lIns="0" tIns="0" rIns="0" bIns="0" rtlCol="0" anchor="t"/>
          <a:lstStyle/>
          <a:p>
            <a:pPr algn="l" indent="0" marL="0">
              <a:lnSpc>
                <a:spcPts val="1332"/>
              </a:lnSpc>
              <a:buNone/>
            </a:pPr>
            <a:r>
              <a:rPr lang="en-US" sz="1211" b="1" spc="-12" kern="0" dirty="0">
                <a:solidFill>
                  <a:srgbClr val="0E130F">
                    <a:alpha val="99000"/>
                  </a:srgbClr>
                </a:solidFill>
                <a:latin typeface="Inter" pitchFamily="34" charset="0"/>
                <a:ea typeface="Inter" pitchFamily="34" charset="-122"/>
                <a:cs typeface="Inter" pitchFamily="34" charset="-120"/>
              </a:rPr>
              <a:t>Blinks everywhere</a:t>
            </a:r>
            <a:endParaRPr lang="en-US" sz="1211" dirty="0"/>
          </a:p>
        </p:txBody>
      </p:sp>
      <p:sp>
        <p:nvSpPr>
          <p:cNvPr id="35" name="Text 32"/>
          <p:cNvSpPr/>
          <p:nvPr/>
        </p:nvSpPr>
        <p:spPr>
          <a:xfrm>
            <a:off x="6715125" y="3333750"/>
            <a:ext cx="1714500" cy="485775"/>
          </a:xfrm>
          <a:prstGeom prst="rect">
            <a:avLst/>
          </a:prstGeom>
          <a:noFill/>
          <a:ln/>
        </p:spPr>
        <p:txBody>
          <a:bodyPr wrap="square" lIns="0" tIns="0" rIns="0" bIns="0" rtlCol="0" anchor="t"/>
          <a:lstStyle/>
          <a:p>
            <a:pPr algn="l" indent="0" marL="0">
              <a:lnSpc>
                <a:spcPts val="1197"/>
              </a:lnSpc>
              <a:buNone/>
            </a:pPr>
            <a:r>
              <a:rPr lang="en-US" sz="855" dirty="0">
                <a:solidFill>
                  <a:srgbClr val="0E130F">
                    <a:alpha val="99000"/>
                  </a:srgbClr>
                </a:solidFill>
                <a:latin typeface="Inter" pitchFamily="34" charset="0"/>
                <a:ea typeface="Inter" pitchFamily="34" charset="-122"/>
                <a:cs typeface="Inter" pitchFamily="34" charset="-120"/>
              </a:rPr>
              <a:t>Till links shared on X, WhatsApp and Phantom bring crypto users to the counter.</a:t>
            </a:r>
            <a:endParaRPr lang="en-US" sz="855" dirty="0"/>
          </a:p>
        </p:txBody>
      </p:sp>
      <p:sp>
        <p:nvSpPr>
          <p:cNvPr id="36" name="Shape 33"/>
          <p:cNvSpPr/>
          <p:nvPr/>
        </p:nvSpPr>
        <p:spPr>
          <a:xfrm>
            <a:off x="571500" y="4286250"/>
            <a:ext cx="8001000" cy="14288"/>
          </a:xfrm>
          <a:prstGeom prst="rect">
            <a:avLst/>
          </a:prstGeom>
          <a:solidFill>
            <a:srgbClr val="0E130F"/>
          </a:solidFill>
          <a:ln/>
        </p:spPr>
        <p:txBody>
          <a:bodyPr/>
          <a:p/>
        </p:txBody>
      </p:sp>
      <p:sp>
        <p:nvSpPr>
          <p:cNvPr id="39" name="TextBox 38"/>
          <p:cNvSpPr txBox="1"/>
          <p:nvPr/>
        </p:nvSpPr>
        <p:spPr>
          <a:xfrm>
            <a:off x="571500" y="4429125"/>
            <a:ext cx="8001000" cy="179070"/>
          </a:xfrm>
          <a:prstGeom prst="rect">
            <a:avLst/>
          </a:prstGeom>
          <a:noFill/>
        </p:spPr>
        <p:txBody>
          <a:bodyPr wrap="none" lIns="0" tIns="0" rIns="0" bIns="0">
            <a:noAutofit/>
          </a:bodyPr>
          <a:lstStyle/>
          <a:p>
            <a:pPr>
              <a:lnSpc>
                <a:spcPts val="915"/>
              </a:lnSpc>
              <a:defRPr sz="750" b="1">
                <a:solidFill>
                  <a:srgbClr val="0E130F"/>
                </a:solidFill>
                <a:latin typeface="JetBrains Mono"/>
              </a:defRPr>
            </a:pPr>
            <a:r>
              <a:t>NEXT: PILOT MERCHANTS → FIRST PAYMENTS → NETWORK GROWTH</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30F"/>
        </a:solidFill>
      </p:bgPr>
    </p:bg>
    <p:spTree>
      <p:nvGrpSpPr>
        <p:cNvPr id="1" name=""/>
        <p:cNvGrpSpPr/>
        <p:nvPr/>
      </p:nvGrpSpPr>
      <p:grpSpPr>
        <a:xfrm>
          <a:off x="0" y="0"/>
          <a:ext cx="0" cy="0"/>
          <a:chOff x="0" y="0"/>
          <a:chExt cx="0" cy="0"/>
        </a:xfrm>
      </p:grpSpPr>
      <p:sp>
        <p:nvSpPr>
          <p:cNvPr id="42" name="TextBox 41"/>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BDF06B"/>
                </a:solidFill>
                <a:latin typeface="JetBrains Mono"/>
              </a:defRPr>
            </a:pPr>
            <a:r>
              <a:t>10 — BEYOND THE COUNTER</a:t>
            </a:r>
          </a:p>
        </p:txBody>
      </p:sp>
      <p:sp>
        <p:nvSpPr>
          <p:cNvPr id="26" name="Text 23"/>
          <p:cNvSpPr/>
          <p:nvPr/>
        </p:nvSpPr>
        <p:spPr>
          <a:xfrm>
            <a:off x="571500" y="809625"/>
            <a:ext cx="7143750" cy="723900"/>
          </a:xfrm>
          <a:prstGeom prst="rect">
            <a:avLst/>
          </a:prstGeom>
          <a:noFill/>
          <a:ln/>
        </p:spPr>
        <p:txBody>
          <a:bodyPr wrap="square" lIns="0" tIns="0" rIns="0" bIns="0" rtlCol="0" anchor="t"/>
          <a:lstStyle/>
          <a:p>
            <a:pPr algn="l" indent="0" marL="0">
              <a:lnSpc>
                <a:spcPts val="2708"/>
              </a:lnSpc>
              <a:buNone/>
            </a:pPr>
            <a:r>
              <a:rPr lang="en-US" sz="2708" b="1" spc="-81" kern="0" dirty="0">
                <a:solidFill>
                  <a:srgbClr val="F7F7F2">
                    <a:alpha val="99000"/>
                  </a:srgbClr>
                </a:solidFill>
                <a:latin typeface="Inter" pitchFamily="34" charset="0"/>
                <a:ea typeface="Inter" pitchFamily="34" charset="-122"/>
                <a:cs typeface="Inter" pitchFamily="34" charset="-120"/>
              </a:rPr>
              <a:t>The same rails, for</a:t>
            </a:r>
            <a:endParaRPr lang="en-US" sz="2708" dirty="0"/>
          </a:p>
          <a:p>
            <a:pPr algn="l" indent="0" marL="0">
              <a:lnSpc>
                <a:spcPts val="2708"/>
              </a:lnSpc>
              <a:buNone/>
            </a:pPr>
            <a:r>
              <a:rPr lang="en-US" sz="2708" b="1" spc="-81" kern="0" dirty="0">
                <a:solidFill>
                  <a:srgbClr val="F7F7F2">
                    <a:alpha val="99000"/>
                  </a:srgbClr>
                </a:solidFill>
                <a:latin typeface="Inter" pitchFamily="34" charset="0"/>
                <a:ea typeface="Inter" pitchFamily="34" charset="-122"/>
                <a:cs typeface="Inter" pitchFamily="34" charset="-120"/>
              </a:rPr>
              <a:t>every payment that hurts.</a:t>
            </a:r>
            <a:endParaRPr lang="en-US" sz="2708" dirty="0"/>
          </a:p>
        </p:txBody>
      </p:sp>
      <p:sp>
        <p:nvSpPr>
          <p:cNvPr id="27" name="Shape 24"/>
          <p:cNvSpPr/>
          <p:nvPr/>
        </p:nvSpPr>
        <p:spPr>
          <a:xfrm>
            <a:off x="571500" y="3143250"/>
            <a:ext cx="2476500" cy="1428750"/>
          </a:xfrm>
          <a:prstGeom prst="rect">
            <a:avLst/>
          </a:prstGeom>
          <a:solidFill>
            <a:srgbClr val="BDF06B"/>
          </a:solidFill>
          <a:ln/>
        </p:spPr>
        <p:txBody>
          <a:bodyPr/>
          <a:p/>
        </p:txBody>
      </p:sp>
      <p:sp>
        <p:nvSpPr>
          <p:cNvPr id="43" name="TextBox 42"/>
          <p:cNvSpPr txBox="1"/>
          <p:nvPr/>
        </p:nvSpPr>
        <p:spPr>
          <a:xfrm>
            <a:off x="742950" y="3314700"/>
            <a:ext cx="251460" cy="185115"/>
          </a:xfrm>
          <a:prstGeom prst="rect">
            <a:avLst/>
          </a:prstGeom>
          <a:noFill/>
        </p:spPr>
        <p:txBody>
          <a:bodyPr wrap="none" lIns="0" tIns="0" rIns="0" bIns="0">
            <a:noAutofit/>
          </a:bodyPr>
          <a:lstStyle/>
          <a:p>
            <a:pPr>
              <a:lnSpc>
                <a:spcPts val="956"/>
              </a:lnSpc>
              <a:defRPr sz="784" b="1">
                <a:solidFill>
                  <a:srgbClr val="0E130F"/>
                </a:solidFill>
                <a:latin typeface="JetBrains Mono"/>
              </a:defRPr>
            </a:pPr>
            <a:r>
              <a:t>NOW</a:t>
            </a:r>
          </a:p>
        </p:txBody>
      </p:sp>
      <p:sp>
        <p:nvSpPr>
          <p:cNvPr id="29" name="Text 26"/>
          <p:cNvSpPr/>
          <p:nvPr/>
        </p:nvSpPr>
        <p:spPr>
          <a:xfrm>
            <a:off x="742950" y="3524250"/>
            <a:ext cx="2133600" cy="204788"/>
          </a:xfrm>
          <a:prstGeom prst="rect">
            <a:avLst/>
          </a:prstGeom>
          <a:noFill/>
          <a:ln/>
        </p:spPr>
        <p:txBody>
          <a:bodyPr wrap="square" lIns="0" tIns="0" rIns="0" bIns="0" rtlCol="0" anchor="t"/>
          <a:lstStyle/>
          <a:p>
            <a:pPr algn="l" indent="0" marL="0">
              <a:lnSpc>
                <a:spcPts val="1539"/>
              </a:lnSpc>
              <a:buNone/>
            </a:pPr>
            <a:r>
              <a:rPr lang="en-US" sz="1425" b="1" spc="-17" kern="0" dirty="0">
                <a:solidFill>
                  <a:srgbClr val="0E130F">
                    <a:alpha val="99000"/>
                  </a:srgbClr>
                </a:solidFill>
                <a:latin typeface="Inter" pitchFamily="34" charset="0"/>
                <a:ea typeface="Inter" pitchFamily="34" charset="-122"/>
                <a:cs typeface="Inter" pitchFamily="34" charset="-120"/>
              </a:rPr>
              <a:t>Counter payments</a:t>
            </a:r>
            <a:endParaRPr lang="en-US" sz="1425" dirty="0"/>
          </a:p>
        </p:txBody>
      </p:sp>
      <p:sp>
        <p:nvSpPr>
          <p:cNvPr id="30" name="Text 27"/>
          <p:cNvSpPr/>
          <p:nvPr/>
        </p:nvSpPr>
        <p:spPr>
          <a:xfrm>
            <a:off x="742950" y="4048125"/>
            <a:ext cx="2133600" cy="333375"/>
          </a:xfrm>
          <a:prstGeom prst="rect">
            <a:avLst/>
          </a:prstGeom>
          <a:noFill/>
          <a:ln/>
        </p:spPr>
        <p:txBody>
          <a:bodyPr wrap="square" lIns="0" tIns="0" rIns="0" bIns="0" rtlCol="0" anchor="t"/>
          <a:lstStyle/>
          <a:p>
            <a:pPr algn="l" indent="0" marL="0">
              <a:lnSpc>
                <a:spcPts val="1247"/>
              </a:lnSpc>
              <a:buNone/>
            </a:pPr>
            <a:r>
              <a:rPr lang="en-US" sz="891" dirty="0">
                <a:solidFill>
                  <a:srgbClr val="0E130F">
                    <a:alpha val="99000"/>
                  </a:srgbClr>
                </a:solidFill>
                <a:latin typeface="Inter" pitchFamily="34" charset="0"/>
                <a:ea typeface="Inter" pitchFamily="34" charset="-122"/>
                <a:cs typeface="Inter" pitchFamily="34" charset="-120"/>
              </a:rPr>
              <a:t>Consumers pay local merchants by QR, NFC and Blinks.</a:t>
            </a:r>
            <a:endParaRPr lang="en-US" sz="891" dirty="0"/>
          </a:p>
        </p:txBody>
      </p:sp>
      <p:sp>
        <p:nvSpPr>
          <p:cNvPr id="31" name="Shape 28"/>
          <p:cNvSpPr/>
          <p:nvPr/>
        </p:nvSpPr>
        <p:spPr>
          <a:xfrm>
            <a:off x="3333750" y="2762250"/>
            <a:ext cx="2476500" cy="1809750"/>
          </a:xfrm>
          <a:prstGeom prst="rect">
            <a:avLst/>
          </a:prstGeom>
          <a:solidFill>
            <a:srgbClr val="789E38"/>
          </a:solidFill>
          <a:ln/>
        </p:spPr>
        <p:txBody>
          <a:bodyPr/>
          <a:p/>
        </p:txBody>
      </p:sp>
      <p:sp>
        <p:nvSpPr>
          <p:cNvPr id="44" name="TextBox 43"/>
          <p:cNvSpPr txBox="1"/>
          <p:nvPr/>
        </p:nvSpPr>
        <p:spPr>
          <a:xfrm>
            <a:off x="3505200" y="2933700"/>
            <a:ext cx="316611" cy="185115"/>
          </a:xfrm>
          <a:prstGeom prst="rect">
            <a:avLst/>
          </a:prstGeom>
          <a:noFill/>
        </p:spPr>
        <p:txBody>
          <a:bodyPr wrap="none" lIns="0" tIns="0" rIns="0" bIns="0">
            <a:noAutofit/>
          </a:bodyPr>
          <a:lstStyle/>
          <a:p>
            <a:pPr>
              <a:lnSpc>
                <a:spcPts val="956"/>
              </a:lnSpc>
              <a:defRPr sz="784" b="1">
                <a:solidFill>
                  <a:srgbClr val="0E130F"/>
                </a:solidFill>
                <a:latin typeface="JetBrains Mono"/>
              </a:defRPr>
            </a:pPr>
            <a:r>
              <a:t>NEXT</a:t>
            </a:r>
          </a:p>
        </p:txBody>
      </p:sp>
      <p:sp>
        <p:nvSpPr>
          <p:cNvPr id="33" name="Text 30"/>
          <p:cNvSpPr/>
          <p:nvPr/>
        </p:nvSpPr>
        <p:spPr>
          <a:xfrm>
            <a:off x="3505200" y="3143250"/>
            <a:ext cx="2133600" cy="204788"/>
          </a:xfrm>
          <a:prstGeom prst="rect">
            <a:avLst/>
          </a:prstGeom>
          <a:noFill/>
          <a:ln/>
        </p:spPr>
        <p:txBody>
          <a:bodyPr wrap="square" lIns="0" tIns="0" rIns="0" bIns="0" rtlCol="0" anchor="t"/>
          <a:lstStyle/>
          <a:p>
            <a:pPr algn="l" indent="0" marL="0">
              <a:lnSpc>
                <a:spcPts val="1539"/>
              </a:lnSpc>
              <a:buNone/>
            </a:pPr>
            <a:r>
              <a:rPr lang="en-US" sz="1425" b="1" spc="-17" kern="0" dirty="0">
                <a:solidFill>
                  <a:srgbClr val="0E130F">
                    <a:alpha val="99000"/>
                  </a:srgbClr>
                </a:solidFill>
                <a:latin typeface="Inter" pitchFamily="34" charset="0"/>
                <a:ea typeface="Inter" pitchFamily="34" charset="-122"/>
                <a:cs typeface="Inter" pitchFamily="34" charset="-120"/>
              </a:rPr>
              <a:t>Business-to-business</a:t>
            </a:r>
            <a:endParaRPr lang="en-US" sz="1425" dirty="0"/>
          </a:p>
        </p:txBody>
      </p:sp>
      <p:sp>
        <p:nvSpPr>
          <p:cNvPr id="34" name="Text 31"/>
          <p:cNvSpPr/>
          <p:nvPr/>
        </p:nvSpPr>
        <p:spPr>
          <a:xfrm>
            <a:off x="3505200" y="3667125"/>
            <a:ext cx="2133600" cy="500063"/>
          </a:xfrm>
          <a:prstGeom prst="rect">
            <a:avLst/>
          </a:prstGeom>
          <a:noFill/>
          <a:ln/>
        </p:spPr>
        <p:txBody>
          <a:bodyPr wrap="square" lIns="0" tIns="0" rIns="0" bIns="0" rtlCol="0" anchor="t"/>
          <a:lstStyle/>
          <a:p>
            <a:pPr algn="l" indent="0" marL="0">
              <a:lnSpc>
                <a:spcPts val="1247"/>
              </a:lnSpc>
              <a:buNone/>
            </a:pPr>
            <a:r>
              <a:rPr lang="en-US" sz="891" dirty="0">
                <a:solidFill>
                  <a:srgbClr val="0E130F">
                    <a:alpha val="99000"/>
                  </a:srgbClr>
                </a:solidFill>
                <a:latin typeface="Inter" pitchFamily="34" charset="0"/>
                <a:ea typeface="Inter" pitchFamily="34" charset="-122"/>
                <a:cs typeface="Inter" pitchFamily="34" charset="-120"/>
              </a:rPr>
              <a:t>Companies pay suppliers and each other: large amounts, settled in seconds, any day, any hour.</a:t>
            </a:r>
            <a:endParaRPr lang="en-US" sz="891" dirty="0"/>
          </a:p>
        </p:txBody>
      </p:sp>
      <p:sp>
        <p:nvSpPr>
          <p:cNvPr id="35" name="Shape 32"/>
          <p:cNvSpPr/>
          <p:nvPr/>
        </p:nvSpPr>
        <p:spPr>
          <a:xfrm>
            <a:off x="6096000" y="2381250"/>
            <a:ext cx="2476500" cy="2190750"/>
          </a:xfrm>
          <a:prstGeom prst="rect">
            <a:avLst/>
          </a:prstGeom>
          <a:solidFill>
            <a:srgbClr val="333D33"/>
          </a:solidFill>
          <a:ln/>
        </p:spPr>
        <p:txBody>
          <a:bodyPr/>
          <a:p/>
        </p:txBody>
      </p:sp>
      <p:sp>
        <p:nvSpPr>
          <p:cNvPr id="45" name="TextBox 44"/>
          <p:cNvSpPr txBox="1"/>
          <p:nvPr/>
        </p:nvSpPr>
        <p:spPr>
          <a:xfrm>
            <a:off x="6267450" y="2552700"/>
            <a:ext cx="316611" cy="185115"/>
          </a:xfrm>
          <a:prstGeom prst="rect">
            <a:avLst/>
          </a:prstGeom>
          <a:noFill/>
        </p:spPr>
        <p:txBody>
          <a:bodyPr wrap="none" lIns="0" tIns="0" rIns="0" bIns="0">
            <a:noAutofit/>
          </a:bodyPr>
          <a:lstStyle/>
          <a:p>
            <a:pPr>
              <a:lnSpc>
                <a:spcPts val="956"/>
              </a:lnSpc>
              <a:defRPr sz="784" b="1">
                <a:solidFill>
                  <a:srgbClr val="F7F7F2"/>
                </a:solidFill>
                <a:latin typeface="JetBrains Mono"/>
              </a:defRPr>
            </a:pPr>
            <a:r>
              <a:t>THEN</a:t>
            </a:r>
          </a:p>
        </p:txBody>
      </p:sp>
      <p:sp>
        <p:nvSpPr>
          <p:cNvPr id="37" name="Text 34"/>
          <p:cNvSpPr/>
          <p:nvPr/>
        </p:nvSpPr>
        <p:spPr>
          <a:xfrm>
            <a:off x="6267450" y="2762250"/>
            <a:ext cx="2133600" cy="409575"/>
          </a:xfrm>
          <a:prstGeom prst="rect">
            <a:avLst/>
          </a:prstGeom>
          <a:noFill/>
          <a:ln/>
        </p:spPr>
        <p:txBody>
          <a:bodyPr wrap="square" lIns="0" tIns="0" rIns="0" bIns="0" rtlCol="0" anchor="t"/>
          <a:lstStyle/>
          <a:p>
            <a:pPr algn="l" indent="0" marL="0">
              <a:lnSpc>
                <a:spcPts val="1539"/>
              </a:lnSpc>
              <a:buNone/>
            </a:pPr>
            <a:r>
              <a:rPr lang="en-US" sz="1425" b="1" spc="-17" kern="0" dirty="0">
                <a:solidFill>
                  <a:srgbClr val="F7F7F2">
                    <a:alpha val="99000"/>
                  </a:srgbClr>
                </a:solidFill>
                <a:latin typeface="Inter" pitchFamily="34" charset="0"/>
                <a:ea typeface="Inter" pitchFamily="34" charset="-122"/>
                <a:cs typeface="Inter" pitchFamily="34" charset="-120"/>
              </a:rPr>
              <a:t>Cross-border remittances</a:t>
            </a:r>
            <a:endParaRPr lang="en-US" sz="1425" dirty="0"/>
          </a:p>
        </p:txBody>
      </p:sp>
      <p:sp>
        <p:nvSpPr>
          <p:cNvPr id="38" name="Text 35"/>
          <p:cNvSpPr/>
          <p:nvPr/>
        </p:nvSpPr>
        <p:spPr>
          <a:xfrm>
            <a:off x="6267450" y="3286125"/>
            <a:ext cx="2133600" cy="500063"/>
          </a:xfrm>
          <a:prstGeom prst="rect">
            <a:avLst/>
          </a:prstGeom>
          <a:noFill/>
          <a:ln/>
        </p:spPr>
        <p:txBody>
          <a:bodyPr wrap="square" lIns="0" tIns="0" rIns="0" bIns="0" rtlCol="0" anchor="t"/>
          <a:lstStyle/>
          <a:p>
            <a:pPr algn="l" indent="0" marL="0">
              <a:lnSpc>
                <a:spcPts val="1247"/>
              </a:lnSpc>
              <a:buNone/>
            </a:pPr>
            <a:r>
              <a:rPr lang="en-US" sz="891" dirty="0">
                <a:solidFill>
                  <a:srgbClr val="B2BDB2">
                    <a:alpha val="99000"/>
                  </a:srgbClr>
                </a:solidFill>
                <a:latin typeface="Inter" pitchFamily="34" charset="0"/>
                <a:ea typeface="Inter" pitchFamily="34" charset="-122"/>
                <a:cs typeface="Inter" pitchFamily="34" charset="-120"/>
              </a:rPr>
              <a:t>Money sent from abroad lands in a Brazilian wallet and cashes out to Pix, without correspondent banks.</a:t>
            </a:r>
            <a:endParaRPr lang="en-US" sz="891" dirty="0"/>
          </a:p>
        </p:txBody>
      </p:sp>
      <p:sp>
        <p:nvSpPr>
          <p:cNvPr id="46" name="TextBox 45"/>
          <p:cNvSpPr txBox="1"/>
          <p:nvPr/>
        </p:nvSpPr>
        <p:spPr>
          <a:xfrm>
            <a:off x="571500" y="4762500"/>
            <a:ext cx="2377440" cy="159689"/>
          </a:xfrm>
          <a:prstGeom prst="rect">
            <a:avLst/>
          </a:prstGeom>
          <a:noFill/>
        </p:spPr>
        <p:txBody>
          <a:bodyPr wrap="none" lIns="0" tIns="0" rIns="0" bIns="0">
            <a:noAutofit/>
          </a:bodyPr>
          <a:lstStyle/>
          <a:p>
            <a:pPr>
              <a:lnSpc>
                <a:spcPts val="782"/>
              </a:lnSpc>
              <a:defRPr sz="641" b="0">
                <a:solidFill>
                  <a:srgbClr val="B2BDB2"/>
                </a:solidFill>
                <a:latin typeface="JetBrains Mono"/>
              </a:defRPr>
            </a:pPr>
            <a:r>
              <a:t>SIMPAY · COLOSSEUM 2026</a:t>
            </a:r>
          </a:p>
        </p:txBody>
      </p:sp>
      <p:sp>
        <p:nvSpPr>
          <p:cNvPr id="47" name="TextBox 46"/>
          <p:cNvSpPr txBox="1"/>
          <p:nvPr/>
        </p:nvSpPr>
        <p:spPr>
          <a:xfrm>
            <a:off x="8381999" y="4762500"/>
            <a:ext cx="190500" cy="159689"/>
          </a:xfrm>
          <a:prstGeom prst="rect">
            <a:avLst/>
          </a:prstGeom>
          <a:noFill/>
        </p:spPr>
        <p:txBody>
          <a:bodyPr wrap="none" lIns="0" tIns="0" rIns="0" bIns="0">
            <a:noAutofit/>
          </a:bodyPr>
          <a:lstStyle/>
          <a:p>
            <a:pPr>
              <a:lnSpc>
                <a:spcPts val="782"/>
              </a:lnSpc>
              <a:defRPr sz="641" b="0">
                <a:solidFill>
                  <a:srgbClr val="B2BDB2"/>
                </a:solidFill>
                <a:latin typeface="JetBrains Mono"/>
              </a:defRPr>
            </a:pPr>
            <a:r>
              <a:t>11</a:t>
            </a:r>
          </a:p>
        </p:txBody>
      </p:sp>
      <p:sp>
        <p:nvSpPr>
          <p:cNvPr id="41" name="TextBox 40"/>
          <p:cNvSpPr txBox="1"/>
          <p:nvPr/>
        </p:nvSpPr>
        <p:spPr>
          <a:xfrm>
            <a:off x="571500" y="1847088"/>
            <a:ext cx="5029200" cy="201168"/>
          </a:xfrm>
          <a:prstGeom prst="rect">
            <a:avLst/>
          </a:prstGeom>
          <a:noFill/>
        </p:spPr>
        <p:txBody>
          <a:bodyPr wrap="square" lIns="0" tIns="0" rIns="0" bIns="0">
            <a:noAutofit/>
          </a:bodyPr>
          <a:lstStyle/>
          <a:p>
            <a:pPr>
              <a:lnSpc>
                <a:spcPts val="976"/>
              </a:lnSpc>
              <a:defRPr sz="800" b="0">
                <a:solidFill>
                  <a:srgbClr val="BDF06B"/>
                </a:solidFill>
                <a:latin typeface="JetBrains Mono"/>
              </a:defRPr>
            </a:pPr>
            <a:r>
              <a:rPr/>
              <a:t>EXPANSION VISION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2"/>
        </a:solidFill>
      </p:bgPr>
    </p:bg>
    <p:spTree>
      <p:nvGrpSpPr>
        <p:cNvPr id="1" name=""/>
        <p:cNvGrpSpPr/>
        <p:nvPr/>
      </p:nvGrpSpPr>
      <p:grpSpPr>
        <a:xfrm>
          <a:off x="0" y="0"/>
          <a:ext cx="0" cy="0"/>
          <a:chOff x="0" y="0"/>
          <a:chExt cx="0" cy="0"/>
        </a:xfrm>
      </p:grpSpPr>
      <p:sp>
        <p:nvSpPr>
          <p:cNvPr id="55" name="TextBox 54"/>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545C54"/>
                </a:solidFill>
                <a:latin typeface="JetBrains Mono"/>
              </a:defRPr>
            </a:pPr>
            <a:r>
              <a:t>11 — NEW FRONTS</a:t>
            </a:r>
          </a:p>
        </p:txBody>
      </p:sp>
      <p:sp>
        <p:nvSpPr>
          <p:cNvPr id="33" name="Text 30"/>
          <p:cNvSpPr/>
          <p:nvPr/>
        </p:nvSpPr>
        <p:spPr>
          <a:xfrm>
            <a:off x="571500" y="809625"/>
            <a:ext cx="7143750" cy="723900"/>
          </a:xfrm>
          <a:prstGeom prst="rect">
            <a:avLst/>
          </a:prstGeom>
          <a:noFill/>
          <a:ln/>
        </p:spPr>
        <p:txBody>
          <a:bodyPr wrap="square" lIns="0" tIns="0" rIns="0" bIns="0" rtlCol="0" anchor="t"/>
          <a:lstStyle/>
          <a:p>
            <a:pPr algn="l" indent="0" marL="0">
              <a:lnSpc>
                <a:spcPts val="2708"/>
              </a:lnSpc>
              <a:buNone/>
            </a:pPr>
            <a:r>
              <a:rPr lang="en-US" sz="2708" b="1" spc="-81" kern="0" dirty="0">
                <a:solidFill>
                  <a:srgbClr val="0E130F">
                    <a:alpha val="99000"/>
                  </a:srgbClr>
                </a:solidFill>
                <a:latin typeface="Inter" pitchFamily="34" charset="0"/>
                <a:ea typeface="Inter" pitchFamily="34" charset="-122"/>
                <a:cs typeface="Inter" pitchFamily="34" charset="-120"/>
              </a:rPr>
              <a:t>Less friction, fewer fees,</a:t>
            </a:r>
            <a:endParaRPr lang="en-US" sz="2708" dirty="0"/>
          </a:p>
          <a:p>
            <a:pPr algn="l" indent="0" marL="0">
              <a:lnSpc>
                <a:spcPts val="2708"/>
              </a:lnSpc>
              <a:buNone/>
            </a:pPr>
            <a:r>
              <a:rPr lang="en-US" sz="2708" b="1" spc="-81" kern="0" dirty="0">
                <a:solidFill>
                  <a:srgbClr val="0E130F">
                    <a:alpha val="99000"/>
                  </a:srgbClr>
                </a:solidFill>
                <a:latin typeface="Inter" pitchFamily="34" charset="0"/>
                <a:ea typeface="Inter" pitchFamily="34" charset="-122"/>
                <a:cs typeface="Inter" pitchFamily="34" charset="-120"/>
              </a:rPr>
              <a:t>fewer intermediaries.</a:t>
            </a:r>
            <a:endParaRPr lang="en-US" sz="2708" dirty="0"/>
          </a:p>
        </p:txBody>
      </p:sp>
      <p:sp>
        <p:nvSpPr>
          <p:cNvPr id="34" name="Shape 31"/>
          <p:cNvSpPr/>
          <p:nvPr/>
        </p:nvSpPr>
        <p:spPr>
          <a:xfrm>
            <a:off x="571500" y="2238375"/>
            <a:ext cx="3714750" cy="28575"/>
          </a:xfrm>
          <a:prstGeom prst="rect">
            <a:avLst/>
          </a:prstGeom>
          <a:solidFill>
            <a:srgbClr val="0E130F"/>
          </a:solidFill>
          <a:ln/>
        </p:spPr>
        <p:txBody>
          <a:bodyPr/>
          <a:p/>
        </p:txBody>
      </p:sp>
      <p:sp>
        <p:nvSpPr>
          <p:cNvPr id="56" name="TextBox 55"/>
          <p:cNvSpPr txBox="1"/>
          <p:nvPr/>
        </p:nvSpPr>
        <p:spPr>
          <a:xfrm>
            <a:off x="571500" y="2409825"/>
            <a:ext cx="251460" cy="185115"/>
          </a:xfrm>
          <a:prstGeom prst="rect">
            <a:avLst/>
          </a:prstGeom>
          <a:noFill/>
        </p:spPr>
        <p:txBody>
          <a:bodyPr wrap="none" lIns="0" tIns="0" rIns="0" bIns="0">
            <a:noAutofit/>
          </a:bodyPr>
          <a:lstStyle/>
          <a:p>
            <a:pPr>
              <a:lnSpc>
                <a:spcPts val="956"/>
              </a:lnSpc>
              <a:defRPr sz="784" b="1">
                <a:solidFill>
                  <a:srgbClr val="0E130F"/>
                </a:solidFill>
                <a:latin typeface="JetBrains Mono"/>
              </a:defRPr>
            </a:pPr>
            <a:r>
              <a:t>B2B</a:t>
            </a:r>
          </a:p>
        </p:txBody>
      </p:sp>
      <p:sp>
        <p:nvSpPr>
          <p:cNvPr id="36" name="Text 33"/>
          <p:cNvSpPr/>
          <p:nvPr/>
        </p:nvSpPr>
        <p:spPr>
          <a:xfrm>
            <a:off x="571500" y="2600325"/>
            <a:ext cx="3714750" cy="252413"/>
          </a:xfrm>
          <a:prstGeom prst="rect">
            <a:avLst/>
          </a:prstGeom>
          <a:noFill/>
          <a:ln/>
        </p:spPr>
        <p:txBody>
          <a:bodyPr wrap="square" lIns="0" tIns="0" rIns="0" bIns="0" rtlCol="0" anchor="t"/>
          <a:lstStyle/>
          <a:p>
            <a:pPr algn="l" indent="0" marL="0">
              <a:lnSpc>
                <a:spcPts val="1897"/>
              </a:lnSpc>
              <a:buNone/>
            </a:pPr>
            <a:r>
              <a:rPr lang="en-US" sz="1568" b="1" spc="-24" kern="0" dirty="0">
                <a:solidFill>
                  <a:srgbClr val="0E130F">
                    <a:alpha val="99000"/>
                  </a:srgbClr>
                </a:solidFill>
                <a:latin typeface="Inter" pitchFamily="34" charset="0"/>
                <a:ea typeface="Inter" pitchFamily="34" charset="-122"/>
                <a:cs typeface="Inter" pitchFamily="34" charset="-120"/>
              </a:rPr>
              <a:t>Payments between companies</a:t>
            </a:r>
            <a:endParaRPr lang="en-US" sz="1568" dirty="0"/>
          </a:p>
        </p:txBody>
      </p:sp>
      <p:sp>
        <p:nvSpPr>
          <p:cNvPr id="57" name="TextBox 56"/>
          <p:cNvSpPr txBox="1"/>
          <p:nvPr/>
        </p:nvSpPr>
        <p:spPr>
          <a:xfrm>
            <a:off x="571500" y="3076575"/>
            <a:ext cx="857250" cy="172491"/>
          </a:xfrm>
          <a:prstGeom prst="rect">
            <a:avLst/>
          </a:prstGeom>
          <a:noFill/>
        </p:spPr>
        <p:txBody>
          <a:bodyPr wrap="none" lIns="0" tIns="0" rIns="0" bIns="0">
            <a:noAutofit/>
          </a:bodyPr>
          <a:lstStyle/>
          <a:p>
            <a:pPr>
              <a:lnSpc>
                <a:spcPts val="869"/>
              </a:lnSpc>
              <a:defRPr sz="713" b="1">
                <a:solidFill>
                  <a:srgbClr val="545C54"/>
                </a:solidFill>
                <a:latin typeface="JetBrains Mono"/>
              </a:defRPr>
            </a:pPr>
            <a:r>
              <a:t>TODAY</a:t>
            </a:r>
          </a:p>
        </p:txBody>
      </p:sp>
      <p:sp>
        <p:nvSpPr>
          <p:cNvPr id="38" name="Text 35"/>
          <p:cNvSpPr/>
          <p:nvPr/>
        </p:nvSpPr>
        <p:spPr>
          <a:xfrm>
            <a:off x="1524000" y="3048000"/>
            <a:ext cx="2762250" cy="323850"/>
          </a:xfrm>
          <a:prstGeom prst="rect">
            <a:avLst/>
          </a:prstGeom>
          <a:noFill/>
          <a:ln/>
        </p:spPr>
        <p:txBody>
          <a:bodyPr wrap="square" lIns="0" tIns="0" rIns="0" bIns="0" rtlCol="0" anchor="t"/>
          <a:lstStyle/>
          <a:p>
            <a:pPr algn="l" indent="0" marL="0">
              <a:lnSpc>
                <a:spcPts val="1229"/>
              </a:lnSpc>
              <a:buNone/>
            </a:pPr>
            <a:r>
              <a:rPr lang="en-US" sz="891" dirty="0">
                <a:solidFill>
                  <a:srgbClr val="0E130F">
                    <a:alpha val="99000"/>
                  </a:srgbClr>
                </a:solidFill>
                <a:latin typeface="Inter" pitchFamily="34" charset="0"/>
                <a:ea typeface="Inter" pitchFamily="34" charset="-122"/>
                <a:cs typeface="Inter" pitchFamily="34" charset="-120"/>
              </a:rPr>
              <a:t>Bank transfers with cut-off times, weekend delays and fees on every large payment.</a:t>
            </a:r>
            <a:endParaRPr lang="en-US" sz="891" dirty="0"/>
          </a:p>
        </p:txBody>
      </p:sp>
      <p:sp>
        <p:nvSpPr>
          <p:cNvPr id="58" name="TextBox 57"/>
          <p:cNvSpPr txBox="1"/>
          <p:nvPr/>
        </p:nvSpPr>
        <p:spPr>
          <a:xfrm>
            <a:off x="571500" y="3571875"/>
            <a:ext cx="857250" cy="172491"/>
          </a:xfrm>
          <a:prstGeom prst="rect">
            <a:avLst/>
          </a:prstGeom>
          <a:noFill/>
        </p:spPr>
        <p:txBody>
          <a:bodyPr wrap="none" lIns="0" tIns="0" rIns="0" bIns="0">
            <a:noAutofit/>
          </a:bodyPr>
          <a:lstStyle/>
          <a:p>
            <a:pPr>
              <a:lnSpc>
                <a:spcPts val="869"/>
              </a:lnSpc>
              <a:defRPr sz="713" b="1">
                <a:solidFill>
                  <a:srgbClr val="789E38"/>
                </a:solidFill>
                <a:latin typeface="JetBrains Mono"/>
              </a:defRPr>
            </a:pPr>
            <a:r>
              <a:t>WITH SIMPAY</a:t>
            </a:r>
          </a:p>
        </p:txBody>
      </p:sp>
      <p:sp>
        <p:nvSpPr>
          <p:cNvPr id="40" name="Text 37"/>
          <p:cNvSpPr/>
          <p:nvPr/>
        </p:nvSpPr>
        <p:spPr>
          <a:xfrm>
            <a:off x="1524000" y="3543300"/>
            <a:ext cx="2762250" cy="323850"/>
          </a:xfrm>
          <a:prstGeom prst="rect">
            <a:avLst/>
          </a:prstGeom>
          <a:noFill/>
          <a:ln/>
        </p:spPr>
        <p:txBody>
          <a:bodyPr wrap="square" lIns="0" tIns="0" rIns="0" bIns="0" rtlCol="0" anchor="t"/>
          <a:lstStyle/>
          <a:p>
            <a:pPr algn="l" indent="0" marL="0">
              <a:lnSpc>
                <a:spcPts val="1229"/>
              </a:lnSpc>
              <a:buNone/>
            </a:pPr>
            <a:r>
              <a:rPr lang="en-US" sz="891" b="1" dirty="0">
                <a:solidFill>
                  <a:srgbClr val="0E130F">
                    <a:alpha val="99000"/>
                  </a:srgbClr>
                </a:solidFill>
                <a:latin typeface="Inter" pitchFamily="34" charset="0"/>
                <a:ea typeface="Inter" pitchFamily="34" charset="-122"/>
                <a:cs typeface="Inter" pitchFamily="34" charset="-120"/>
              </a:rPr>
              <a:t>Pay suppliers in seconds, 24/7, with an on-chain receipt ready for reconciliation.</a:t>
            </a:r>
            <a:endParaRPr lang="en-US" sz="891" dirty="0"/>
          </a:p>
        </p:txBody>
      </p:sp>
      <p:sp>
        <p:nvSpPr>
          <p:cNvPr id="59" name="TextBox 58"/>
          <p:cNvSpPr txBox="1"/>
          <p:nvPr/>
        </p:nvSpPr>
        <p:spPr>
          <a:xfrm>
            <a:off x="571500" y="4067175"/>
            <a:ext cx="857250" cy="172491"/>
          </a:xfrm>
          <a:prstGeom prst="rect">
            <a:avLst/>
          </a:prstGeom>
          <a:noFill/>
        </p:spPr>
        <p:txBody>
          <a:bodyPr wrap="none" lIns="0" tIns="0" rIns="0" bIns="0">
            <a:noAutofit/>
          </a:bodyPr>
          <a:lstStyle/>
          <a:p>
            <a:pPr>
              <a:lnSpc>
                <a:spcPts val="869"/>
              </a:lnSpc>
              <a:defRPr sz="713" b="1">
                <a:solidFill>
                  <a:srgbClr val="545C54"/>
                </a:solidFill>
                <a:latin typeface="JetBrains Mono"/>
              </a:defRPr>
            </a:pPr>
            <a:r>
              <a:t>LOOP</a:t>
            </a:r>
          </a:p>
        </p:txBody>
      </p:sp>
      <p:sp>
        <p:nvSpPr>
          <p:cNvPr id="42" name="Text 39"/>
          <p:cNvSpPr/>
          <p:nvPr/>
        </p:nvSpPr>
        <p:spPr>
          <a:xfrm>
            <a:off x="1524000" y="4038600"/>
            <a:ext cx="2762250" cy="323850"/>
          </a:xfrm>
          <a:prstGeom prst="rect">
            <a:avLst/>
          </a:prstGeom>
          <a:noFill/>
          <a:ln/>
        </p:spPr>
        <p:txBody>
          <a:bodyPr wrap="square" lIns="0" tIns="0" rIns="0" bIns="0" rtlCol="0" anchor="t"/>
          <a:lstStyle/>
          <a:p>
            <a:pPr algn="l" indent="0" marL="0">
              <a:lnSpc>
                <a:spcPts val="1229"/>
              </a:lnSpc>
              <a:buNone/>
            </a:pPr>
            <a:r>
              <a:rPr lang="en-US" sz="891" dirty="0">
                <a:solidFill>
                  <a:srgbClr val="0E130F">
                    <a:alpha val="99000"/>
                  </a:srgbClr>
                </a:solidFill>
                <a:latin typeface="Inter" pitchFamily="34" charset="0"/>
                <a:ea typeface="Inter" pitchFamily="34" charset="-122"/>
                <a:cs typeface="Inter" pitchFamily="34" charset="-120"/>
              </a:rPr>
              <a:t>Merchants already paid in SIMPAY pay their own suppliers without cashing out.</a:t>
            </a:r>
            <a:endParaRPr lang="en-US" sz="891" dirty="0"/>
          </a:p>
        </p:txBody>
      </p:sp>
      <p:sp>
        <p:nvSpPr>
          <p:cNvPr id="43" name="Shape 40"/>
          <p:cNvSpPr/>
          <p:nvPr/>
        </p:nvSpPr>
        <p:spPr>
          <a:xfrm>
            <a:off x="4667250" y="2238375"/>
            <a:ext cx="3714750" cy="28575"/>
          </a:xfrm>
          <a:prstGeom prst="rect">
            <a:avLst/>
          </a:prstGeom>
          <a:solidFill>
            <a:srgbClr val="0E130F"/>
          </a:solidFill>
          <a:ln/>
        </p:spPr>
        <p:txBody>
          <a:bodyPr/>
          <a:p/>
        </p:txBody>
      </p:sp>
      <p:sp>
        <p:nvSpPr>
          <p:cNvPr id="60" name="TextBox 59"/>
          <p:cNvSpPr txBox="1"/>
          <p:nvPr/>
        </p:nvSpPr>
        <p:spPr>
          <a:xfrm>
            <a:off x="4667250" y="2409825"/>
            <a:ext cx="381762" cy="185115"/>
          </a:xfrm>
          <a:prstGeom prst="rect">
            <a:avLst/>
          </a:prstGeom>
          <a:noFill/>
        </p:spPr>
        <p:txBody>
          <a:bodyPr wrap="none" lIns="0" tIns="0" rIns="0" bIns="0">
            <a:noAutofit/>
          </a:bodyPr>
          <a:lstStyle/>
          <a:p>
            <a:pPr>
              <a:lnSpc>
                <a:spcPts val="956"/>
              </a:lnSpc>
              <a:defRPr sz="784" b="1">
                <a:solidFill>
                  <a:srgbClr val="0E130F"/>
                </a:solidFill>
                <a:latin typeface="JetBrains Mono"/>
              </a:defRPr>
            </a:pPr>
            <a:r>
              <a:t>REMIT</a:t>
            </a:r>
          </a:p>
        </p:txBody>
      </p:sp>
      <p:sp>
        <p:nvSpPr>
          <p:cNvPr id="45" name="Text 42"/>
          <p:cNvSpPr/>
          <p:nvPr/>
        </p:nvSpPr>
        <p:spPr>
          <a:xfrm>
            <a:off x="4667250" y="2600325"/>
            <a:ext cx="3714750" cy="252413"/>
          </a:xfrm>
          <a:prstGeom prst="rect">
            <a:avLst/>
          </a:prstGeom>
          <a:noFill/>
          <a:ln/>
        </p:spPr>
        <p:txBody>
          <a:bodyPr wrap="square" lIns="0" tIns="0" rIns="0" bIns="0" rtlCol="0" anchor="t"/>
          <a:lstStyle/>
          <a:p>
            <a:pPr algn="l" indent="0" marL="0">
              <a:lnSpc>
                <a:spcPts val="1897"/>
              </a:lnSpc>
              <a:buNone/>
            </a:pPr>
            <a:r>
              <a:rPr lang="en-US" sz="1568" b="1" spc="-24" kern="0" dirty="0">
                <a:solidFill>
                  <a:srgbClr val="0E130F">
                    <a:alpha val="99000"/>
                  </a:srgbClr>
                </a:solidFill>
                <a:latin typeface="Inter" pitchFamily="34" charset="0"/>
                <a:ea typeface="Inter" pitchFamily="34" charset="-122"/>
                <a:cs typeface="Inter" pitchFamily="34" charset="-120"/>
              </a:rPr>
              <a:t>International remittances</a:t>
            </a:r>
            <a:endParaRPr lang="en-US" sz="1568" dirty="0"/>
          </a:p>
        </p:txBody>
      </p:sp>
      <p:sp>
        <p:nvSpPr>
          <p:cNvPr id="61" name="TextBox 60"/>
          <p:cNvSpPr txBox="1"/>
          <p:nvPr/>
        </p:nvSpPr>
        <p:spPr>
          <a:xfrm>
            <a:off x="4667250" y="3076575"/>
            <a:ext cx="857250" cy="172491"/>
          </a:xfrm>
          <a:prstGeom prst="rect">
            <a:avLst/>
          </a:prstGeom>
          <a:noFill/>
        </p:spPr>
        <p:txBody>
          <a:bodyPr wrap="none" lIns="0" tIns="0" rIns="0" bIns="0">
            <a:noAutofit/>
          </a:bodyPr>
          <a:lstStyle/>
          <a:p>
            <a:pPr>
              <a:lnSpc>
                <a:spcPts val="869"/>
              </a:lnSpc>
              <a:defRPr sz="713" b="1">
                <a:solidFill>
                  <a:srgbClr val="545C54"/>
                </a:solidFill>
                <a:latin typeface="JetBrains Mono"/>
              </a:defRPr>
            </a:pPr>
            <a:r>
              <a:t>TODAY</a:t>
            </a:r>
          </a:p>
        </p:txBody>
      </p:sp>
      <p:sp>
        <p:nvSpPr>
          <p:cNvPr id="47" name="Text 44"/>
          <p:cNvSpPr/>
          <p:nvPr/>
        </p:nvSpPr>
        <p:spPr>
          <a:xfrm>
            <a:off x="5619750" y="3048000"/>
            <a:ext cx="2762250" cy="323850"/>
          </a:xfrm>
          <a:prstGeom prst="rect">
            <a:avLst/>
          </a:prstGeom>
          <a:noFill/>
          <a:ln/>
        </p:spPr>
        <p:txBody>
          <a:bodyPr wrap="square" lIns="0" tIns="0" rIns="0" bIns="0" rtlCol="0" anchor="t"/>
          <a:lstStyle/>
          <a:p>
            <a:pPr algn="l" indent="0" marL="0">
              <a:lnSpc>
                <a:spcPts val="1229"/>
              </a:lnSpc>
              <a:buNone/>
            </a:pPr>
            <a:r>
              <a:rPr lang="en-US" sz="891" dirty="0">
                <a:solidFill>
                  <a:srgbClr val="0E130F">
                    <a:alpha val="99000"/>
                  </a:srgbClr>
                </a:solidFill>
                <a:latin typeface="Inter" pitchFamily="34" charset="0"/>
                <a:ea typeface="Inter" pitchFamily="34" charset="-122"/>
                <a:cs typeface="Inter" pitchFamily="34" charset="-120"/>
              </a:rPr>
              <a:t>Several banks in the middle, high fees and days until the money arrives.</a:t>
            </a:r>
            <a:endParaRPr lang="en-US" sz="891" dirty="0"/>
          </a:p>
        </p:txBody>
      </p:sp>
      <p:sp>
        <p:nvSpPr>
          <p:cNvPr id="62" name="TextBox 61"/>
          <p:cNvSpPr txBox="1"/>
          <p:nvPr/>
        </p:nvSpPr>
        <p:spPr>
          <a:xfrm>
            <a:off x="4667250" y="3571875"/>
            <a:ext cx="857250" cy="172491"/>
          </a:xfrm>
          <a:prstGeom prst="rect">
            <a:avLst/>
          </a:prstGeom>
          <a:noFill/>
        </p:spPr>
        <p:txBody>
          <a:bodyPr wrap="none" lIns="0" tIns="0" rIns="0" bIns="0">
            <a:noAutofit/>
          </a:bodyPr>
          <a:lstStyle/>
          <a:p>
            <a:pPr>
              <a:lnSpc>
                <a:spcPts val="869"/>
              </a:lnSpc>
              <a:defRPr sz="713" b="1">
                <a:solidFill>
                  <a:srgbClr val="789E38"/>
                </a:solidFill>
                <a:latin typeface="JetBrains Mono"/>
              </a:defRPr>
            </a:pPr>
            <a:r>
              <a:t>WITH SIMPAY</a:t>
            </a:r>
          </a:p>
        </p:txBody>
      </p:sp>
      <p:sp>
        <p:nvSpPr>
          <p:cNvPr id="49" name="Text 46"/>
          <p:cNvSpPr/>
          <p:nvPr/>
        </p:nvSpPr>
        <p:spPr>
          <a:xfrm>
            <a:off x="5619750" y="3543300"/>
            <a:ext cx="2762250" cy="323850"/>
          </a:xfrm>
          <a:prstGeom prst="rect">
            <a:avLst/>
          </a:prstGeom>
          <a:noFill/>
          <a:ln/>
        </p:spPr>
        <p:txBody>
          <a:bodyPr wrap="square" lIns="0" tIns="0" rIns="0" bIns="0" rtlCol="0" anchor="t"/>
          <a:lstStyle/>
          <a:p>
            <a:pPr algn="l" indent="0" marL="0">
              <a:lnSpc>
                <a:spcPts val="1229"/>
              </a:lnSpc>
              <a:buNone/>
            </a:pPr>
            <a:r>
              <a:rPr lang="en-US" sz="891" b="1" dirty="0">
                <a:solidFill>
                  <a:srgbClr val="0E130F">
                    <a:alpha val="99000"/>
                  </a:srgbClr>
                </a:solidFill>
                <a:latin typeface="Inter" pitchFamily="34" charset="0"/>
                <a:ea typeface="Inter" pitchFamily="34" charset="-122"/>
                <a:cs typeface="Inter" pitchFamily="34" charset="-120"/>
              </a:rPr>
              <a:t>Sent on Solana in seconds; the family cashes out to Pix or spends at partners.</a:t>
            </a:r>
            <a:endParaRPr lang="en-US" sz="891" dirty="0"/>
          </a:p>
        </p:txBody>
      </p:sp>
      <p:sp>
        <p:nvSpPr>
          <p:cNvPr id="63" name="TextBox 62"/>
          <p:cNvSpPr txBox="1"/>
          <p:nvPr/>
        </p:nvSpPr>
        <p:spPr>
          <a:xfrm>
            <a:off x="4667250" y="4067175"/>
            <a:ext cx="857250" cy="172491"/>
          </a:xfrm>
          <a:prstGeom prst="rect">
            <a:avLst/>
          </a:prstGeom>
          <a:noFill/>
        </p:spPr>
        <p:txBody>
          <a:bodyPr wrap="none" lIns="0" tIns="0" rIns="0" bIns="0">
            <a:noAutofit/>
          </a:bodyPr>
          <a:lstStyle/>
          <a:p>
            <a:pPr>
              <a:lnSpc>
                <a:spcPts val="869"/>
              </a:lnSpc>
              <a:defRPr sz="713" b="1">
                <a:solidFill>
                  <a:srgbClr val="545C54"/>
                </a:solidFill>
                <a:latin typeface="JetBrains Mono"/>
              </a:defRPr>
            </a:pPr>
            <a:r>
              <a:t>COMPLIANCE</a:t>
            </a:r>
          </a:p>
        </p:txBody>
      </p:sp>
      <p:sp>
        <p:nvSpPr>
          <p:cNvPr id="51" name="Text 48"/>
          <p:cNvSpPr/>
          <p:nvPr/>
        </p:nvSpPr>
        <p:spPr>
          <a:xfrm>
            <a:off x="5619750" y="4038600"/>
            <a:ext cx="2762250" cy="323850"/>
          </a:xfrm>
          <a:prstGeom prst="rect">
            <a:avLst/>
          </a:prstGeom>
          <a:noFill/>
          <a:ln/>
        </p:spPr>
        <p:txBody>
          <a:bodyPr wrap="square" lIns="0" tIns="0" rIns="0" bIns="0" rtlCol="0" anchor="t"/>
          <a:lstStyle/>
          <a:p>
            <a:pPr algn="l" indent="0" marL="0">
              <a:lnSpc>
                <a:spcPts val="1229"/>
              </a:lnSpc>
              <a:buNone/>
            </a:pPr>
            <a:r>
              <a:rPr lang="en-US" sz="891" dirty="0">
                <a:solidFill>
                  <a:srgbClr val="0E130F">
                    <a:alpha val="99000"/>
                  </a:srgbClr>
                </a:solidFill>
                <a:latin typeface="Inter" pitchFamily="34" charset="0"/>
                <a:ea typeface="Inter" pitchFamily="34" charset="-122"/>
                <a:cs typeface="Inter" pitchFamily="34" charset="-120"/>
              </a:rPr>
              <a:t>Operated with licensed exchange partners, following Brazil’s crypto-asset rules.</a:t>
            </a:r>
            <a:endParaRPr lang="en-US" sz="891" dirty="0"/>
          </a:p>
        </p:txBody>
      </p:sp>
      <p:sp>
        <p:nvSpPr>
          <p:cNvPr id="64" name="TextBox 63"/>
          <p:cNvSpPr txBox="1"/>
          <p:nvPr/>
        </p:nvSpPr>
        <p:spPr>
          <a:xfrm>
            <a:off x="571500" y="4762500"/>
            <a:ext cx="237744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SIMPAY · COLOSSEUM 2026</a:t>
            </a:r>
          </a:p>
        </p:txBody>
      </p:sp>
      <p:sp>
        <p:nvSpPr>
          <p:cNvPr id="65" name="TextBox 64"/>
          <p:cNvSpPr txBox="1"/>
          <p:nvPr/>
        </p:nvSpPr>
        <p:spPr>
          <a:xfrm>
            <a:off x="8381999" y="4762500"/>
            <a:ext cx="19050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12</a:t>
            </a:r>
          </a:p>
        </p:txBody>
      </p:sp>
      <p:sp>
        <p:nvSpPr>
          <p:cNvPr id="54" name="TextBox 53"/>
          <p:cNvSpPr txBox="1"/>
          <p:nvPr/>
        </p:nvSpPr>
        <p:spPr>
          <a:xfrm>
            <a:off x="571500" y="1847088"/>
            <a:ext cx="5029200" cy="201168"/>
          </a:xfrm>
          <a:prstGeom prst="rect">
            <a:avLst/>
          </a:prstGeom>
          <a:noFill/>
        </p:spPr>
        <p:txBody>
          <a:bodyPr wrap="square" lIns="0" tIns="0" rIns="0" bIns="0">
            <a:noAutofit/>
          </a:bodyPr>
          <a:lstStyle/>
          <a:p>
            <a:pPr>
              <a:lnSpc>
                <a:spcPts val="976"/>
              </a:lnSpc>
              <a:defRPr sz="800" b="0">
                <a:solidFill>
                  <a:srgbClr val="545C54"/>
                </a:solidFill>
                <a:latin typeface="JetBrains Mono"/>
              </a:defRPr>
            </a:pPr>
            <a:r>
              <a:rPr/>
              <a:t>EXPANSION VISION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30F"/>
        </a:solidFill>
      </p:bgPr>
    </p:bg>
    <p:spTree>
      <p:nvGrpSpPr>
        <p:cNvPr id="1" name=""/>
        <p:cNvGrpSpPr/>
        <p:nvPr/>
      </p:nvGrpSpPr>
      <p:grpSpPr>
        <a:xfrm>
          <a:off x="0" y="0"/>
          <a:ext cx="0" cy="0"/>
          <a:chOff x="0" y="0"/>
          <a:chExt cx="0" cy="0"/>
        </a:xfrm>
      </p:grpSpPr>
      <p:sp>
        <p:nvSpPr>
          <p:cNvPr id="61" name="TextBox 60"/>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BDF06B"/>
                </a:solidFill>
                <a:latin typeface="JetBrains Mono"/>
              </a:defRPr>
            </a:pPr>
            <a:r>
              <a:t>12 — WHERE WE ARE</a:t>
            </a:r>
          </a:p>
        </p:txBody>
      </p:sp>
      <p:sp>
        <p:nvSpPr>
          <p:cNvPr id="30" name="Text 27"/>
          <p:cNvSpPr/>
          <p:nvPr/>
        </p:nvSpPr>
        <p:spPr>
          <a:xfrm>
            <a:off x="571500" y="809625"/>
            <a:ext cx="6667500" cy="723900"/>
          </a:xfrm>
          <a:prstGeom prst="rect">
            <a:avLst/>
          </a:prstGeom>
          <a:noFill/>
          <a:ln/>
        </p:spPr>
        <p:txBody>
          <a:bodyPr wrap="square" lIns="0" tIns="0" rIns="0" bIns="0" rtlCol="0" anchor="t"/>
          <a:lstStyle/>
          <a:p>
            <a:pPr algn="l" indent="0" marL="0">
              <a:lnSpc>
                <a:spcPts val="2708"/>
              </a:lnSpc>
              <a:buNone/>
            </a:pPr>
            <a:r>
              <a:rPr lang="en-US" sz="2708" b="1" spc="-81" kern="0" dirty="0">
                <a:solidFill>
                  <a:srgbClr val="F7F7F2">
                    <a:alpha val="99000"/>
                  </a:srgbClr>
                </a:solidFill>
                <a:latin typeface="Inter" pitchFamily="34" charset="0"/>
                <a:ea typeface="Inter" pitchFamily="34" charset="-122"/>
                <a:cs typeface="Inter" pitchFamily="34" charset="-120"/>
              </a:rPr>
              <a:t>Not a mockup.</a:t>
            </a:r>
            <a:endParaRPr lang="en-US" sz="2708" dirty="0"/>
          </a:p>
          <a:p>
            <a:pPr algn="l" indent="0" marL="0">
              <a:lnSpc>
                <a:spcPts val="2708"/>
              </a:lnSpc>
              <a:buNone/>
            </a:pPr>
            <a:r>
              <a:rPr lang="en-US" sz="2708" b="1" spc="-81" kern="0" dirty="0">
                <a:solidFill>
                  <a:srgbClr val="F7F7F2">
                    <a:alpha val="99000"/>
                  </a:srgbClr>
                </a:solidFill>
                <a:latin typeface="Inter" pitchFamily="34" charset="0"/>
                <a:ea typeface="Inter" pitchFamily="34" charset="-122"/>
                <a:cs typeface="Inter" pitchFamily="34" charset="-120"/>
              </a:rPr>
              <a:t>A working network on devnet.</a:t>
            </a:r>
            <a:endParaRPr lang="en-US" sz="2708" dirty="0"/>
          </a:p>
        </p:txBody>
      </p:sp>
      <p:sp>
        <p:nvSpPr>
          <p:cNvPr id="31" name="Shape 28"/>
          <p:cNvSpPr/>
          <p:nvPr/>
        </p:nvSpPr>
        <p:spPr>
          <a:xfrm>
            <a:off x="571500" y="2286000"/>
            <a:ext cx="114300" cy="114300"/>
          </a:xfrm>
          <a:prstGeom prst="roundRect">
            <a:avLst/>
          </a:prstGeom>
          <a:solidFill>
            <a:srgbClr val="BDF06B"/>
          </a:solidFill>
          <a:ln/>
        </p:spPr>
        <p:txBody>
          <a:bodyPr/>
          <a:p/>
        </p:txBody>
      </p:sp>
      <p:sp>
        <p:nvSpPr>
          <p:cNvPr id="32" name="Text 29"/>
          <p:cNvSpPr/>
          <p:nvPr/>
        </p:nvSpPr>
        <p:spPr>
          <a:xfrm>
            <a:off x="800100" y="2238375"/>
            <a:ext cx="2286000" cy="171450"/>
          </a:xfrm>
          <a:prstGeom prst="rect">
            <a:avLst/>
          </a:prstGeom>
          <a:noFill/>
          <a:ln/>
        </p:spPr>
        <p:txBody>
          <a:bodyPr wrap="square" lIns="0" tIns="0" rIns="0" bIns="0" rtlCol="0" anchor="t"/>
          <a:lstStyle/>
          <a:p>
            <a:pPr algn="l" indent="0" marL="0">
              <a:lnSpc>
                <a:spcPts val="1293"/>
              </a:lnSpc>
              <a:buNone/>
            </a:pPr>
            <a:r>
              <a:rPr lang="en-US" sz="1069" dirty="0">
                <a:solidFill>
                  <a:srgbClr val="F7F7F2">
                    <a:alpha val="99000"/>
                  </a:srgbClr>
                </a:solidFill>
                <a:latin typeface="Inter" pitchFamily="34" charset="0"/>
                <a:ea typeface="Inter" pitchFamily="34" charset="-122"/>
                <a:cs typeface="Inter" pitchFamily="34" charset="-120"/>
              </a:rPr>
              <a:t>Wallet app for iOS and Android</a:t>
            </a:r>
            <a:endParaRPr lang="en-US" sz="1069" dirty="0"/>
          </a:p>
        </p:txBody>
      </p:sp>
      <p:sp>
        <p:nvSpPr>
          <p:cNvPr id="33" name="Shape 30"/>
          <p:cNvSpPr/>
          <p:nvPr/>
        </p:nvSpPr>
        <p:spPr>
          <a:xfrm>
            <a:off x="3238500" y="2286000"/>
            <a:ext cx="114300" cy="114300"/>
          </a:xfrm>
          <a:prstGeom prst="roundRect">
            <a:avLst/>
          </a:prstGeom>
          <a:solidFill>
            <a:srgbClr val="BDF06B"/>
          </a:solidFill>
          <a:ln/>
        </p:spPr>
        <p:txBody>
          <a:bodyPr/>
          <a:p/>
        </p:txBody>
      </p:sp>
      <p:sp>
        <p:nvSpPr>
          <p:cNvPr id="34" name="Text 31"/>
          <p:cNvSpPr/>
          <p:nvPr/>
        </p:nvSpPr>
        <p:spPr>
          <a:xfrm>
            <a:off x="3467100" y="2238375"/>
            <a:ext cx="2286000" cy="342900"/>
          </a:xfrm>
          <a:prstGeom prst="rect">
            <a:avLst/>
          </a:prstGeom>
          <a:noFill/>
          <a:ln/>
        </p:spPr>
        <p:txBody>
          <a:bodyPr wrap="square" lIns="0" tIns="0" rIns="0" bIns="0" rtlCol="0" anchor="t"/>
          <a:lstStyle/>
          <a:p>
            <a:pPr algn="l" indent="0" marL="0">
              <a:lnSpc>
                <a:spcPts val="1293"/>
              </a:lnSpc>
              <a:buNone/>
            </a:pPr>
            <a:r>
              <a:rPr lang="en-US" sz="1069" dirty="0">
                <a:solidFill>
                  <a:srgbClr val="F7F7F2">
                    <a:alpha val="99000"/>
                  </a:srgbClr>
                </a:solidFill>
                <a:latin typeface="Inter" pitchFamily="34" charset="0"/>
                <a:ea typeface="Inter" pitchFamily="34" charset="-122"/>
                <a:cs typeface="Inter" pitchFamily="34" charset="-120"/>
              </a:rPr>
              <a:t>Merchant PDV with QR and NFC tags</a:t>
            </a:r>
            <a:endParaRPr lang="en-US" sz="1069" dirty="0"/>
          </a:p>
        </p:txBody>
      </p:sp>
      <p:sp>
        <p:nvSpPr>
          <p:cNvPr id="35" name="Shape 32"/>
          <p:cNvSpPr/>
          <p:nvPr/>
        </p:nvSpPr>
        <p:spPr>
          <a:xfrm>
            <a:off x="571500" y="2686050"/>
            <a:ext cx="114300" cy="114300"/>
          </a:xfrm>
          <a:prstGeom prst="roundRect">
            <a:avLst/>
          </a:prstGeom>
          <a:solidFill>
            <a:srgbClr val="BDF06B"/>
          </a:solidFill>
          <a:ln/>
        </p:spPr>
        <p:txBody>
          <a:bodyPr/>
          <a:p/>
        </p:txBody>
      </p:sp>
      <p:sp>
        <p:nvSpPr>
          <p:cNvPr id="36" name="Text 33"/>
          <p:cNvSpPr/>
          <p:nvPr/>
        </p:nvSpPr>
        <p:spPr>
          <a:xfrm>
            <a:off x="800100" y="2638425"/>
            <a:ext cx="2286000" cy="171450"/>
          </a:xfrm>
          <a:prstGeom prst="rect">
            <a:avLst/>
          </a:prstGeom>
          <a:noFill/>
          <a:ln/>
        </p:spPr>
        <p:txBody>
          <a:bodyPr wrap="square" lIns="0" tIns="0" rIns="0" bIns="0" rtlCol="0" anchor="t"/>
          <a:lstStyle/>
          <a:p>
            <a:pPr algn="l" indent="0" marL="0">
              <a:lnSpc>
                <a:spcPts val="1293"/>
              </a:lnSpc>
              <a:buNone/>
            </a:pPr>
            <a:r>
              <a:rPr lang="en-US" sz="1069" dirty="0">
                <a:solidFill>
                  <a:srgbClr val="F7F7F2">
                    <a:alpha val="99000"/>
                  </a:srgbClr>
                </a:solidFill>
                <a:latin typeface="Inter" pitchFamily="34" charset="0"/>
                <a:ea typeface="Inter" pitchFamily="34" charset="-122"/>
                <a:cs typeface="Inter" pitchFamily="34" charset="-120"/>
              </a:rPr>
              <a:t>Buy with Pix, delivered on-chain</a:t>
            </a:r>
            <a:endParaRPr lang="en-US" sz="1069" dirty="0"/>
          </a:p>
        </p:txBody>
      </p:sp>
      <p:sp>
        <p:nvSpPr>
          <p:cNvPr id="37" name="Shape 34"/>
          <p:cNvSpPr/>
          <p:nvPr/>
        </p:nvSpPr>
        <p:spPr>
          <a:xfrm>
            <a:off x="3238500" y="2686050"/>
            <a:ext cx="114300" cy="114300"/>
          </a:xfrm>
          <a:prstGeom prst="roundRect">
            <a:avLst/>
          </a:prstGeom>
          <a:solidFill>
            <a:srgbClr val="BDF06B"/>
          </a:solidFill>
          <a:ln/>
        </p:spPr>
        <p:txBody>
          <a:bodyPr/>
          <a:p/>
        </p:txBody>
      </p:sp>
      <p:sp>
        <p:nvSpPr>
          <p:cNvPr id="38" name="Text 35"/>
          <p:cNvSpPr/>
          <p:nvPr/>
        </p:nvSpPr>
        <p:spPr>
          <a:xfrm>
            <a:off x="3467100" y="2638425"/>
            <a:ext cx="2286000" cy="171450"/>
          </a:xfrm>
          <a:prstGeom prst="rect">
            <a:avLst/>
          </a:prstGeom>
          <a:noFill/>
          <a:ln/>
        </p:spPr>
        <p:txBody>
          <a:bodyPr wrap="square" lIns="0" tIns="0" rIns="0" bIns="0" rtlCol="0" anchor="t"/>
          <a:lstStyle/>
          <a:p>
            <a:pPr algn="l" indent="0" marL="0">
              <a:lnSpc>
                <a:spcPts val="1293"/>
              </a:lnSpc>
              <a:buNone/>
            </a:pPr>
            <a:r>
              <a:rPr lang="en-US" sz="1069" dirty="0">
                <a:solidFill>
                  <a:srgbClr val="F7F7F2">
                    <a:alpha val="99000"/>
                  </a:srgbClr>
                </a:solidFill>
                <a:latin typeface="Inter" pitchFamily="34" charset="0"/>
                <a:ea typeface="Inter" pitchFamily="34" charset="-122"/>
                <a:cs typeface="Inter" pitchFamily="34" charset="-120"/>
              </a:rPr>
              <a:t>Solana Blinks for every till</a:t>
            </a:r>
            <a:endParaRPr lang="en-US" sz="1069" dirty="0"/>
          </a:p>
        </p:txBody>
      </p:sp>
      <p:sp>
        <p:nvSpPr>
          <p:cNvPr id="39" name="Shape 36"/>
          <p:cNvSpPr/>
          <p:nvPr/>
        </p:nvSpPr>
        <p:spPr>
          <a:xfrm>
            <a:off x="571500" y="3086100"/>
            <a:ext cx="114300" cy="114300"/>
          </a:xfrm>
          <a:prstGeom prst="roundRect">
            <a:avLst/>
          </a:prstGeom>
          <a:solidFill>
            <a:srgbClr val="BDF06B"/>
          </a:solidFill>
          <a:ln/>
        </p:spPr>
        <p:txBody>
          <a:bodyPr/>
          <a:p/>
        </p:txBody>
      </p:sp>
      <p:sp>
        <p:nvSpPr>
          <p:cNvPr id="40" name="Text 37"/>
          <p:cNvSpPr/>
          <p:nvPr/>
        </p:nvSpPr>
        <p:spPr>
          <a:xfrm>
            <a:off x="800100" y="3038475"/>
            <a:ext cx="2286000" cy="171450"/>
          </a:xfrm>
          <a:prstGeom prst="rect">
            <a:avLst/>
          </a:prstGeom>
          <a:noFill/>
          <a:ln/>
        </p:spPr>
        <p:txBody>
          <a:bodyPr wrap="square" lIns="0" tIns="0" rIns="0" bIns="0" rtlCol="0" anchor="t"/>
          <a:lstStyle/>
          <a:p>
            <a:pPr algn="l" indent="0" marL="0">
              <a:lnSpc>
                <a:spcPts val="1293"/>
              </a:lnSpc>
              <a:buNone/>
            </a:pPr>
            <a:r>
              <a:rPr lang="en-US" sz="1069" dirty="0">
                <a:solidFill>
                  <a:srgbClr val="F7F7F2">
                    <a:alpha val="99000"/>
                  </a:srgbClr>
                </a:solidFill>
                <a:latin typeface="Inter" pitchFamily="34" charset="0"/>
                <a:ea typeface="Inter" pitchFamily="34" charset="-122"/>
                <a:cs typeface="Inter" pitchFamily="34" charset="-120"/>
              </a:rPr>
              <a:t>Cashback and referral programs</a:t>
            </a:r>
            <a:endParaRPr lang="en-US" sz="1069" dirty="0"/>
          </a:p>
        </p:txBody>
      </p:sp>
      <p:sp>
        <p:nvSpPr>
          <p:cNvPr id="41" name="Shape 38"/>
          <p:cNvSpPr/>
          <p:nvPr/>
        </p:nvSpPr>
        <p:spPr>
          <a:xfrm>
            <a:off x="3238500" y="3086100"/>
            <a:ext cx="114300" cy="114300"/>
          </a:xfrm>
          <a:prstGeom prst="roundRect">
            <a:avLst/>
          </a:prstGeom>
          <a:solidFill>
            <a:srgbClr val="BDF06B"/>
          </a:solidFill>
          <a:ln/>
        </p:spPr>
        <p:txBody>
          <a:bodyPr/>
          <a:p/>
        </p:txBody>
      </p:sp>
      <p:sp>
        <p:nvSpPr>
          <p:cNvPr id="42" name="Text 39"/>
          <p:cNvSpPr/>
          <p:nvPr/>
        </p:nvSpPr>
        <p:spPr>
          <a:xfrm>
            <a:off x="3467100" y="3038475"/>
            <a:ext cx="2286000" cy="171450"/>
          </a:xfrm>
          <a:prstGeom prst="rect">
            <a:avLst/>
          </a:prstGeom>
          <a:noFill/>
          <a:ln/>
        </p:spPr>
        <p:txBody>
          <a:bodyPr wrap="square" lIns="0" tIns="0" rIns="0" bIns="0" rtlCol="0" anchor="t"/>
          <a:lstStyle/>
          <a:p>
            <a:pPr algn="l" indent="0" marL="0">
              <a:lnSpc>
                <a:spcPts val="1293"/>
              </a:lnSpc>
              <a:buNone/>
            </a:pPr>
            <a:r>
              <a:rPr lang="en-US" sz="1069" dirty="0">
                <a:solidFill>
                  <a:srgbClr val="F7F7F2">
                    <a:alpha val="99000"/>
                  </a:srgbClr>
                </a:solidFill>
                <a:latin typeface="Inter" pitchFamily="34" charset="0"/>
                <a:ea typeface="Inter" pitchFamily="34" charset="-122"/>
                <a:cs typeface="Inter" pitchFamily="34" charset="-120"/>
              </a:rPr>
              <a:t>Admin console with full audit log</a:t>
            </a:r>
            <a:endParaRPr lang="en-US" sz="1069" dirty="0"/>
          </a:p>
        </p:txBody>
      </p:sp>
      <p:sp>
        <p:nvSpPr>
          <p:cNvPr id="43" name="Shape 40"/>
          <p:cNvSpPr/>
          <p:nvPr/>
        </p:nvSpPr>
        <p:spPr>
          <a:xfrm>
            <a:off x="571500" y="3486150"/>
            <a:ext cx="114300" cy="114300"/>
          </a:xfrm>
          <a:prstGeom prst="roundRect">
            <a:avLst/>
          </a:prstGeom>
          <a:solidFill>
            <a:srgbClr val="BDF06B"/>
          </a:solidFill>
          <a:ln/>
        </p:spPr>
        <p:txBody>
          <a:bodyPr/>
          <a:p/>
        </p:txBody>
      </p:sp>
      <p:sp>
        <p:nvSpPr>
          <p:cNvPr id="44" name="Text 41"/>
          <p:cNvSpPr/>
          <p:nvPr/>
        </p:nvSpPr>
        <p:spPr>
          <a:xfrm>
            <a:off x="800100" y="3438525"/>
            <a:ext cx="2286000" cy="342900"/>
          </a:xfrm>
          <a:prstGeom prst="rect">
            <a:avLst/>
          </a:prstGeom>
          <a:noFill/>
          <a:ln/>
        </p:spPr>
        <p:txBody>
          <a:bodyPr wrap="square" lIns="0" tIns="0" rIns="0" bIns="0" rtlCol="0" anchor="t"/>
          <a:lstStyle/>
          <a:p>
            <a:pPr algn="l" indent="0" marL="0">
              <a:lnSpc>
                <a:spcPts val="1293"/>
              </a:lnSpc>
              <a:buNone/>
            </a:pPr>
            <a:r>
              <a:rPr lang="en-US" sz="1069" dirty="0">
                <a:solidFill>
                  <a:srgbClr val="F7F7F2">
                    <a:alpha val="99000"/>
                  </a:srgbClr>
                </a:solidFill>
                <a:latin typeface="Inter" pitchFamily="34" charset="0"/>
                <a:ea typeface="Inter" pitchFamily="34" charset="-122"/>
                <a:cs typeface="Inter" pitchFamily="34" charset="-120"/>
              </a:rPr>
              <a:t>Push notifications when money arrives</a:t>
            </a:r>
            <a:endParaRPr lang="en-US" sz="1069" dirty="0"/>
          </a:p>
        </p:txBody>
      </p:sp>
      <p:sp>
        <p:nvSpPr>
          <p:cNvPr id="45" name="Shape 42"/>
          <p:cNvSpPr/>
          <p:nvPr/>
        </p:nvSpPr>
        <p:spPr>
          <a:xfrm>
            <a:off x="3238500" y="3486150"/>
            <a:ext cx="114300" cy="114300"/>
          </a:xfrm>
          <a:prstGeom prst="roundRect">
            <a:avLst/>
          </a:prstGeom>
          <a:solidFill>
            <a:srgbClr val="BDF06B"/>
          </a:solidFill>
          <a:ln/>
        </p:spPr>
        <p:txBody>
          <a:bodyPr/>
          <a:p/>
        </p:txBody>
      </p:sp>
      <p:sp>
        <p:nvSpPr>
          <p:cNvPr id="46" name="Text 43"/>
          <p:cNvSpPr/>
          <p:nvPr/>
        </p:nvSpPr>
        <p:spPr>
          <a:xfrm>
            <a:off x="3467100" y="3438525"/>
            <a:ext cx="2286000" cy="171450"/>
          </a:xfrm>
          <a:prstGeom prst="rect">
            <a:avLst/>
          </a:prstGeom>
          <a:noFill/>
          <a:ln/>
        </p:spPr>
        <p:txBody>
          <a:bodyPr wrap="square" lIns="0" tIns="0" rIns="0" bIns="0" rtlCol="0" anchor="t"/>
          <a:lstStyle/>
          <a:p>
            <a:pPr algn="l" indent="0" marL="0">
              <a:lnSpc>
                <a:spcPts val="1293"/>
              </a:lnSpc>
              <a:buNone/>
            </a:pPr>
            <a:r>
              <a:rPr lang="en-US" sz="1069" dirty="0">
                <a:solidFill>
                  <a:srgbClr val="F7F7F2">
                    <a:alpha val="99000"/>
                  </a:srgbClr>
                </a:solidFill>
                <a:latin typeface="Inter" pitchFamily="34" charset="0"/>
                <a:ea typeface="Inter" pitchFamily="34" charset="-122"/>
                <a:cs typeface="Inter" pitchFamily="34" charset="-120"/>
              </a:rPr>
              <a:t>Token metadata, whitepaper v2.0</a:t>
            </a:r>
            <a:endParaRPr lang="en-US" sz="1069" dirty="0"/>
          </a:p>
        </p:txBody>
      </p:sp>
      <p:sp>
        <p:nvSpPr>
          <p:cNvPr id="62" name="TextBox 61"/>
          <p:cNvSpPr txBox="1"/>
          <p:nvPr/>
        </p:nvSpPr>
        <p:spPr>
          <a:xfrm>
            <a:off x="571500" y="4762500"/>
            <a:ext cx="2377440" cy="159689"/>
          </a:xfrm>
          <a:prstGeom prst="rect">
            <a:avLst/>
          </a:prstGeom>
          <a:noFill/>
        </p:spPr>
        <p:txBody>
          <a:bodyPr wrap="none" lIns="0" tIns="0" rIns="0" bIns="0">
            <a:noAutofit/>
          </a:bodyPr>
          <a:lstStyle/>
          <a:p>
            <a:pPr>
              <a:lnSpc>
                <a:spcPts val="782"/>
              </a:lnSpc>
              <a:defRPr sz="641" b="0">
                <a:solidFill>
                  <a:srgbClr val="B2BDB2"/>
                </a:solidFill>
                <a:latin typeface="JetBrains Mono"/>
              </a:defRPr>
            </a:pPr>
            <a:r>
              <a:t>SIMPAY · COLOSSEUM 2026</a:t>
            </a:r>
          </a:p>
        </p:txBody>
      </p:sp>
      <p:sp>
        <p:nvSpPr>
          <p:cNvPr id="63" name="TextBox 62"/>
          <p:cNvSpPr txBox="1"/>
          <p:nvPr/>
        </p:nvSpPr>
        <p:spPr>
          <a:xfrm>
            <a:off x="8381999" y="4762500"/>
            <a:ext cx="190500" cy="159689"/>
          </a:xfrm>
          <a:prstGeom prst="rect">
            <a:avLst/>
          </a:prstGeom>
          <a:noFill/>
        </p:spPr>
        <p:txBody>
          <a:bodyPr wrap="none" lIns="0" tIns="0" rIns="0" bIns="0">
            <a:noAutofit/>
          </a:bodyPr>
          <a:lstStyle/>
          <a:p>
            <a:pPr>
              <a:lnSpc>
                <a:spcPts val="782"/>
              </a:lnSpc>
              <a:defRPr sz="641" b="0">
                <a:solidFill>
                  <a:srgbClr val="B2BDB2"/>
                </a:solidFill>
                <a:latin typeface="JetBrains Mono"/>
              </a:defRPr>
            </a:pPr>
            <a:r>
              <a:t>13</a:t>
            </a:r>
          </a:p>
        </p:txBody>
      </p:sp>
      <p:sp>
        <p:nvSpPr>
          <p:cNvPr id="58" name="TextBox 57"/>
          <p:cNvSpPr txBox="1"/>
          <p:nvPr/>
        </p:nvSpPr>
        <p:spPr>
          <a:xfrm>
            <a:off x="6382512" y="1847088"/>
            <a:ext cx="2331720" cy="173736"/>
          </a:xfrm>
          <a:prstGeom prst="rect">
            <a:avLst/>
          </a:prstGeom>
          <a:noFill/>
        </p:spPr>
        <p:txBody>
          <a:bodyPr wrap="square" lIns="0" tIns="0" rIns="0" bIns="0">
            <a:noAutofit/>
          </a:bodyPr>
          <a:lstStyle/>
          <a:p>
            <a:pPr>
              <a:lnSpc>
                <a:spcPts val="976"/>
              </a:lnSpc>
              <a:defRPr sz="800" b="0">
                <a:solidFill>
                  <a:srgbClr val="BDF06B"/>
                </a:solidFill>
                <a:latin typeface="JetBrains Mono"/>
              </a:defRPr>
            </a:pPr>
            <a:r>
              <a:rPr/>
              <a:t>PIX → YOUR WALLET</a:t>
            </a:r>
          </a:p>
        </p:txBody>
      </p:sp>
      <p:pic>
        <p:nvPicPr>
          <p:cNvPr id="59" name="Picture 58" descr="pix-entry-en.png"/>
          <p:cNvPicPr>
            <a:picLocks noChangeAspect="1"/>
          </p:cNvPicPr>
          <p:nvPr/>
        </p:nvPicPr>
        <p:blipFill>
          <a:blip r:embed="rId3"/>
          <a:stretch>
            <a:fillRect/>
          </a:stretch>
        </p:blipFill>
        <p:spPr>
          <a:xfrm>
            <a:off x="6382512" y="2103120"/>
            <a:ext cx="2176272" cy="2422642"/>
          </a:xfrm>
          <a:prstGeom prst="rect">
            <a:avLst/>
          </a:prstGeom>
        </p:spPr>
      </p:pic>
      <p:sp>
        <p:nvSpPr>
          <p:cNvPr id="60" name="TextBox 59"/>
          <p:cNvSpPr txBox="1"/>
          <p:nvPr/>
        </p:nvSpPr>
        <p:spPr>
          <a:xfrm>
            <a:off x="6382512" y="4562856"/>
            <a:ext cx="2240280" cy="146304"/>
          </a:xfrm>
          <a:prstGeom prst="rect">
            <a:avLst/>
          </a:prstGeom>
          <a:noFill/>
        </p:spPr>
        <p:txBody>
          <a:bodyPr wrap="square" lIns="0" tIns="0" rIns="0" bIns="0">
            <a:noAutofit/>
          </a:bodyPr>
          <a:lstStyle/>
          <a:p>
            <a:pPr>
              <a:lnSpc>
                <a:spcPts val="829"/>
              </a:lnSpc>
              <a:defRPr sz="680" b="0">
                <a:solidFill>
                  <a:srgbClr val="B2BDB2"/>
                </a:solidFill>
                <a:latin typeface="JetBrains Mono"/>
              </a:defRPr>
            </a:pPr>
            <a:r>
              <a:rPr/>
              <a:t>WEB CHECKOUT · ENTRY FLOW</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2"/>
        </a:solidFill>
      </p:bgPr>
    </p:bg>
    <p:spTree>
      <p:nvGrpSpPr>
        <p:cNvPr id="1" name=""/>
        <p:cNvGrpSpPr/>
        <p:nvPr/>
      </p:nvGrpSpPr>
      <p:grpSpPr>
        <a:xfrm>
          <a:off x="0" y="0"/>
          <a:ext cx="0" cy="0"/>
          <a:chOff x="0" y="0"/>
          <a:chExt cx="0" cy="0"/>
        </a:xfrm>
      </p:grpSpPr>
      <p:sp>
        <p:nvSpPr>
          <p:cNvPr id="53" name="TextBox 52"/>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545C54"/>
                </a:solidFill>
                <a:latin typeface="JetBrains Mono"/>
              </a:defRPr>
            </a:pPr>
            <a:r>
              <a:t>13 — TOKEN</a:t>
            </a:r>
          </a:p>
        </p:txBody>
      </p:sp>
      <p:sp>
        <p:nvSpPr>
          <p:cNvPr id="54" name="TextBox 53"/>
          <p:cNvSpPr txBox="1"/>
          <p:nvPr/>
        </p:nvSpPr>
        <p:spPr>
          <a:xfrm>
            <a:off x="571500" y="809625"/>
            <a:ext cx="3343275" cy="210362"/>
          </a:xfrm>
          <a:prstGeom prst="rect">
            <a:avLst/>
          </a:prstGeom>
          <a:noFill/>
        </p:spPr>
        <p:txBody>
          <a:bodyPr wrap="none" lIns="0" tIns="0" rIns="0" bIns="0">
            <a:noAutofit/>
          </a:bodyPr>
          <a:lstStyle/>
          <a:p>
            <a:pPr>
              <a:lnSpc>
                <a:spcPts val="1129"/>
              </a:lnSpc>
              <a:defRPr sz="926" b="1">
                <a:solidFill>
                  <a:srgbClr val="545C54"/>
                </a:solidFill>
                <a:latin typeface="JetBrains Mono"/>
              </a:defRPr>
            </a:pPr>
            <a:r>
              <a:t>FIXED SUPPLY  ·  SPL TOKEN  ·  SYMBOL SPY</a:t>
            </a:r>
          </a:p>
        </p:txBody>
      </p:sp>
      <p:sp>
        <p:nvSpPr>
          <p:cNvPr id="29" name="Text 26"/>
          <p:cNvSpPr/>
          <p:nvPr/>
        </p:nvSpPr>
        <p:spPr>
          <a:xfrm>
            <a:off x="523875" y="1000125"/>
            <a:ext cx="8572500" cy="1095375"/>
          </a:xfrm>
          <a:prstGeom prst="rect">
            <a:avLst/>
          </a:prstGeom>
          <a:noFill/>
          <a:ln/>
        </p:spPr>
        <p:txBody>
          <a:bodyPr wrap="square" lIns="0" tIns="0" rIns="0" bIns="0" rtlCol="0" anchor="t"/>
          <a:lstStyle/>
          <a:p>
            <a:pPr algn="l" indent="0" marL="0">
              <a:lnSpc>
                <a:spcPts val="8192"/>
              </a:lnSpc>
              <a:buNone/>
            </a:pPr>
            <a:r>
              <a:rPr lang="en-US" sz="6769" b="1" spc="-338" kern="0" dirty="0">
                <a:solidFill>
                  <a:srgbClr val="0E130F">
                    <a:alpha val="99000"/>
                  </a:srgbClr>
                </a:solidFill>
                <a:latin typeface="Inter" pitchFamily="34" charset="0"/>
                <a:ea typeface="Inter" pitchFamily="34" charset="-122"/>
                <a:cs typeface="Inter" pitchFamily="34" charset="-120"/>
              </a:rPr>
              <a:t>5,000,000,000</a:t>
            </a:r>
            <a:endParaRPr lang="en-US" sz="6769" dirty="0"/>
          </a:p>
        </p:txBody>
      </p:sp>
      <p:sp>
        <p:nvSpPr>
          <p:cNvPr id="30" name="Text 27"/>
          <p:cNvSpPr/>
          <p:nvPr/>
        </p:nvSpPr>
        <p:spPr>
          <a:xfrm>
            <a:off x="571500" y="2143125"/>
            <a:ext cx="6191250" cy="409575"/>
          </a:xfrm>
          <a:prstGeom prst="rect">
            <a:avLst/>
          </a:prstGeom>
          <a:noFill/>
          <a:ln/>
        </p:spPr>
        <p:txBody>
          <a:bodyPr wrap="square" lIns="0" tIns="0" rIns="0" bIns="0" rtlCol="0" anchor="t"/>
          <a:lstStyle/>
          <a:p>
            <a:pPr algn="l" indent="0" marL="0">
              <a:lnSpc>
                <a:spcPts val="1539"/>
              </a:lnSpc>
              <a:buNone/>
            </a:pPr>
            <a:r>
              <a:rPr lang="en-US" sz="1140" dirty="0">
                <a:solidFill>
                  <a:srgbClr val="545C54">
                    <a:alpha val="99000"/>
                  </a:srgbClr>
                </a:solidFill>
                <a:latin typeface="Inter" pitchFamily="34" charset="0"/>
                <a:ea typeface="Inter" pitchFamily="34" charset="-122"/>
                <a:cs typeface="Inter" pitchFamily="34" charset="-120"/>
              </a:rPr>
              <a:t>Minted once. Mint authority is revoked at mainnet launch, so no new tokens can ever be created.</a:t>
            </a:r>
            <a:endParaRPr lang="en-US" sz="1140" dirty="0"/>
          </a:p>
        </p:txBody>
      </p:sp>
      <p:sp>
        <p:nvSpPr>
          <p:cNvPr id="31" name="Shape 28"/>
          <p:cNvSpPr/>
          <p:nvPr/>
        </p:nvSpPr>
        <p:spPr>
          <a:xfrm>
            <a:off x="571500" y="2809875"/>
            <a:ext cx="3962400" cy="342900"/>
          </a:xfrm>
          <a:prstGeom prst="rect">
            <a:avLst/>
          </a:prstGeom>
          <a:solidFill>
            <a:srgbClr val="0E130F"/>
          </a:solidFill>
          <a:ln/>
        </p:spPr>
        <p:txBody>
          <a:bodyPr/>
          <a:p/>
        </p:txBody>
      </p:sp>
      <p:sp>
        <p:nvSpPr>
          <p:cNvPr id="32" name="Text 29"/>
          <p:cNvSpPr/>
          <p:nvPr/>
        </p:nvSpPr>
        <p:spPr>
          <a:xfrm>
            <a:off x="571500" y="3286125"/>
            <a:ext cx="3962400" cy="323850"/>
          </a:xfrm>
          <a:prstGeom prst="rect">
            <a:avLst/>
          </a:prstGeom>
          <a:noFill/>
          <a:ln/>
        </p:spPr>
        <p:txBody>
          <a:bodyPr wrap="square" lIns="0" tIns="0" rIns="0" bIns="0" rtlCol="0" anchor="t"/>
          <a:lstStyle/>
          <a:p>
            <a:pPr algn="l" indent="0" marL="0">
              <a:lnSpc>
                <a:spcPts val="2414"/>
              </a:lnSpc>
              <a:buNone/>
            </a:pPr>
            <a:r>
              <a:rPr lang="en-US" sz="1995" b="1" spc="-40" kern="0" dirty="0">
                <a:solidFill>
                  <a:srgbClr val="0E130F">
                    <a:alpha val="99000"/>
                  </a:srgbClr>
                </a:solidFill>
                <a:latin typeface="Inter" pitchFamily="34" charset="0"/>
                <a:ea typeface="Inter" pitchFamily="34" charset="-122"/>
                <a:cs typeface="Inter" pitchFamily="34" charset="-120"/>
              </a:rPr>
              <a:t>50%</a:t>
            </a:r>
            <a:endParaRPr lang="en-US" sz="1995" dirty="0"/>
          </a:p>
        </p:txBody>
      </p:sp>
      <p:sp>
        <p:nvSpPr>
          <p:cNvPr id="33" name="Text 30"/>
          <p:cNvSpPr/>
          <p:nvPr/>
        </p:nvSpPr>
        <p:spPr>
          <a:xfrm>
            <a:off x="571500" y="3629025"/>
            <a:ext cx="3867150" cy="133350"/>
          </a:xfrm>
          <a:prstGeom prst="rect">
            <a:avLst/>
          </a:prstGeom>
          <a:noFill/>
          <a:ln/>
        </p:spPr>
        <p:txBody>
          <a:bodyPr wrap="square" lIns="0" tIns="0" rIns="0" bIns="0" rtlCol="0" anchor="t"/>
          <a:lstStyle/>
          <a:p>
            <a:pPr algn="l" indent="0" marL="0">
              <a:lnSpc>
                <a:spcPts val="983"/>
              </a:lnSpc>
              <a:buNone/>
            </a:pPr>
            <a:r>
              <a:rPr lang="en-US" sz="855" b="1" dirty="0">
                <a:solidFill>
                  <a:srgbClr val="0E130F">
                    <a:alpha val="99000"/>
                  </a:srgbClr>
                </a:solidFill>
                <a:latin typeface="Inter" pitchFamily="34" charset="0"/>
                <a:ea typeface="Inter" pitchFamily="34" charset="-122"/>
                <a:cs typeface="Inter" pitchFamily="34" charset="-120"/>
              </a:rPr>
              <a:t>Market liquidity</a:t>
            </a:r>
            <a:endParaRPr lang="en-US" sz="855" dirty="0"/>
          </a:p>
        </p:txBody>
      </p:sp>
      <p:sp>
        <p:nvSpPr>
          <p:cNvPr id="34" name="Text 31"/>
          <p:cNvSpPr/>
          <p:nvPr/>
        </p:nvSpPr>
        <p:spPr>
          <a:xfrm>
            <a:off x="571500" y="3810000"/>
            <a:ext cx="3771900" cy="147638"/>
          </a:xfrm>
          <a:prstGeom prst="rect">
            <a:avLst/>
          </a:prstGeom>
          <a:noFill/>
          <a:ln/>
        </p:spPr>
        <p:txBody>
          <a:bodyPr wrap="square" lIns="0" tIns="0" rIns="0" bIns="0" rtlCol="0" anchor="t"/>
          <a:lstStyle/>
          <a:p>
            <a:pPr algn="l" indent="0" marL="0">
              <a:lnSpc>
                <a:spcPts val="1097"/>
              </a:lnSpc>
              <a:buNone/>
            </a:pPr>
            <a:r>
              <a:rPr lang="en-US" sz="784" dirty="0">
                <a:solidFill>
                  <a:srgbClr val="545C54">
                    <a:alpha val="99000"/>
                  </a:srgbClr>
                </a:solidFill>
                <a:latin typeface="Inter" pitchFamily="34" charset="0"/>
                <a:ea typeface="Inter" pitchFamily="34" charset="-122"/>
                <a:cs typeface="Inter" pitchFamily="34" charset="-120"/>
              </a:rPr>
              <a:t>Powers Pix purchases, merchant cash-out and future listings</a:t>
            </a:r>
            <a:endParaRPr lang="en-US" sz="784" dirty="0"/>
          </a:p>
        </p:txBody>
      </p:sp>
      <p:sp>
        <p:nvSpPr>
          <p:cNvPr id="35" name="Shape 32"/>
          <p:cNvSpPr/>
          <p:nvPr/>
        </p:nvSpPr>
        <p:spPr>
          <a:xfrm>
            <a:off x="4572000" y="2809875"/>
            <a:ext cx="1562100" cy="342900"/>
          </a:xfrm>
          <a:prstGeom prst="rect">
            <a:avLst/>
          </a:prstGeom>
          <a:solidFill>
            <a:srgbClr val="789E38"/>
          </a:solidFill>
          <a:ln/>
        </p:spPr>
        <p:txBody>
          <a:bodyPr/>
          <a:p/>
        </p:txBody>
      </p:sp>
      <p:sp>
        <p:nvSpPr>
          <p:cNvPr id="36" name="Text 33"/>
          <p:cNvSpPr/>
          <p:nvPr/>
        </p:nvSpPr>
        <p:spPr>
          <a:xfrm>
            <a:off x="4572000" y="3286125"/>
            <a:ext cx="1562100" cy="323850"/>
          </a:xfrm>
          <a:prstGeom prst="rect">
            <a:avLst/>
          </a:prstGeom>
          <a:noFill/>
          <a:ln/>
        </p:spPr>
        <p:txBody>
          <a:bodyPr wrap="square" lIns="0" tIns="0" rIns="0" bIns="0" rtlCol="0" anchor="t"/>
          <a:lstStyle/>
          <a:p>
            <a:pPr algn="l" indent="0" marL="0">
              <a:lnSpc>
                <a:spcPts val="2414"/>
              </a:lnSpc>
              <a:buNone/>
            </a:pPr>
            <a:r>
              <a:rPr lang="en-US" sz="1995" b="1" spc="-40" kern="0" dirty="0">
                <a:solidFill>
                  <a:srgbClr val="0E130F">
                    <a:alpha val="99000"/>
                  </a:srgbClr>
                </a:solidFill>
                <a:latin typeface="Inter" pitchFamily="34" charset="0"/>
                <a:ea typeface="Inter" pitchFamily="34" charset="-122"/>
                <a:cs typeface="Inter" pitchFamily="34" charset="-120"/>
              </a:rPr>
              <a:t>20%</a:t>
            </a:r>
            <a:endParaRPr lang="en-US" sz="1995" dirty="0"/>
          </a:p>
        </p:txBody>
      </p:sp>
      <p:sp>
        <p:nvSpPr>
          <p:cNvPr id="37" name="Text 34"/>
          <p:cNvSpPr/>
          <p:nvPr/>
        </p:nvSpPr>
        <p:spPr>
          <a:xfrm>
            <a:off x="4572000" y="3629025"/>
            <a:ext cx="1466850" cy="133350"/>
          </a:xfrm>
          <a:prstGeom prst="rect">
            <a:avLst/>
          </a:prstGeom>
          <a:noFill/>
          <a:ln/>
        </p:spPr>
        <p:txBody>
          <a:bodyPr wrap="square" lIns="0" tIns="0" rIns="0" bIns="0" rtlCol="0" anchor="t"/>
          <a:lstStyle/>
          <a:p>
            <a:pPr algn="l" indent="0" marL="0">
              <a:lnSpc>
                <a:spcPts val="983"/>
              </a:lnSpc>
              <a:buNone/>
            </a:pPr>
            <a:r>
              <a:rPr lang="en-US" sz="855" b="1" dirty="0">
                <a:solidFill>
                  <a:srgbClr val="0E130F">
                    <a:alpha val="99000"/>
                  </a:srgbClr>
                </a:solidFill>
                <a:latin typeface="Inter" pitchFamily="34" charset="0"/>
                <a:ea typeface="Inter" pitchFamily="34" charset="-122"/>
                <a:cs typeface="Inter" pitchFamily="34" charset="-120"/>
              </a:rPr>
              <a:t>Airdrop &amp; rewards</a:t>
            </a:r>
            <a:endParaRPr lang="en-US" sz="855" dirty="0"/>
          </a:p>
        </p:txBody>
      </p:sp>
      <p:sp>
        <p:nvSpPr>
          <p:cNvPr id="38" name="Text 35"/>
          <p:cNvSpPr/>
          <p:nvPr/>
        </p:nvSpPr>
        <p:spPr>
          <a:xfrm>
            <a:off x="4572000" y="3810000"/>
            <a:ext cx="1371600" cy="295275"/>
          </a:xfrm>
          <a:prstGeom prst="rect">
            <a:avLst/>
          </a:prstGeom>
          <a:noFill/>
          <a:ln/>
        </p:spPr>
        <p:txBody>
          <a:bodyPr wrap="square" lIns="0" tIns="0" rIns="0" bIns="0" rtlCol="0" anchor="t"/>
          <a:lstStyle/>
          <a:p>
            <a:pPr algn="l" indent="0" marL="0">
              <a:lnSpc>
                <a:spcPts val="1097"/>
              </a:lnSpc>
              <a:buNone/>
            </a:pPr>
            <a:r>
              <a:rPr lang="en-US" sz="784" dirty="0">
                <a:solidFill>
                  <a:srgbClr val="545C54">
                    <a:alpha val="99000"/>
                  </a:srgbClr>
                </a:solidFill>
                <a:latin typeface="Inter" pitchFamily="34" charset="0"/>
                <a:ea typeface="Inter" pitchFamily="34" charset="-122"/>
                <a:cs typeface="Inter" pitchFamily="34" charset="-120"/>
              </a:rPr>
              <a:t>Cashback, referrals and community campaigns</a:t>
            </a:r>
            <a:endParaRPr lang="en-US" sz="784" dirty="0"/>
          </a:p>
        </p:txBody>
      </p:sp>
      <p:sp>
        <p:nvSpPr>
          <p:cNvPr id="39" name="Shape 36"/>
          <p:cNvSpPr/>
          <p:nvPr/>
        </p:nvSpPr>
        <p:spPr>
          <a:xfrm>
            <a:off x="6172200" y="2809875"/>
            <a:ext cx="962025" cy="342900"/>
          </a:xfrm>
          <a:prstGeom prst="rect">
            <a:avLst/>
          </a:prstGeom>
          <a:solidFill>
            <a:srgbClr val="BDF06B"/>
          </a:solidFill>
          <a:ln/>
        </p:spPr>
        <p:txBody>
          <a:bodyPr/>
          <a:p/>
        </p:txBody>
      </p:sp>
      <p:sp>
        <p:nvSpPr>
          <p:cNvPr id="40" name="Shape 37"/>
          <p:cNvSpPr/>
          <p:nvPr/>
        </p:nvSpPr>
        <p:spPr>
          <a:xfrm>
            <a:off x="7172325" y="2809875"/>
            <a:ext cx="762000" cy="342900"/>
          </a:xfrm>
          <a:prstGeom prst="rect">
            <a:avLst/>
          </a:prstGeom>
          <a:solidFill>
            <a:srgbClr val="99A894"/>
          </a:solidFill>
          <a:ln/>
        </p:spPr>
        <p:txBody>
          <a:bodyPr/>
          <a:p/>
        </p:txBody>
      </p:sp>
      <p:sp>
        <p:nvSpPr>
          <p:cNvPr id="41" name="Shape 38"/>
          <p:cNvSpPr/>
          <p:nvPr/>
        </p:nvSpPr>
        <p:spPr>
          <a:xfrm>
            <a:off x="7972425" y="2809875"/>
            <a:ext cx="600075" cy="342900"/>
          </a:xfrm>
          <a:prstGeom prst="rect">
            <a:avLst/>
          </a:prstGeom>
          <a:solidFill>
            <a:srgbClr val="D9DBD1"/>
          </a:solidFill>
          <a:ln/>
        </p:spPr>
        <p:txBody>
          <a:bodyPr/>
          <a:p/>
        </p:txBody>
      </p:sp>
      <p:sp>
        <p:nvSpPr>
          <p:cNvPr id="55" name="TextBox 54"/>
          <p:cNvSpPr txBox="1"/>
          <p:nvPr/>
        </p:nvSpPr>
        <p:spPr>
          <a:xfrm>
            <a:off x="571500" y="4762500"/>
            <a:ext cx="237744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SIMPAY · COLOSSEUM 2026</a:t>
            </a:r>
          </a:p>
        </p:txBody>
      </p:sp>
      <p:sp>
        <p:nvSpPr>
          <p:cNvPr id="56" name="TextBox 55"/>
          <p:cNvSpPr txBox="1"/>
          <p:nvPr/>
        </p:nvSpPr>
        <p:spPr>
          <a:xfrm>
            <a:off x="8381999" y="4762500"/>
            <a:ext cx="19050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14</a:t>
            </a:r>
          </a:p>
        </p:txBody>
      </p:sp>
      <p:sp>
        <p:nvSpPr>
          <p:cNvPr id="44" name="Shape 41"/>
          <p:cNvSpPr/>
          <p:nvPr/>
        </p:nvSpPr>
        <p:spPr>
          <a:xfrm>
            <a:off x="6172200" y="3362325"/>
            <a:ext cx="133350" cy="133350"/>
          </a:xfrm>
          <a:prstGeom prst="roundRect">
            <a:avLst/>
          </a:prstGeom>
          <a:solidFill>
            <a:srgbClr val="BDF06B"/>
          </a:solidFill>
          <a:ln/>
        </p:spPr>
        <p:txBody>
          <a:bodyPr/>
          <a:p/>
        </p:txBody>
      </p:sp>
      <p:sp>
        <p:nvSpPr>
          <p:cNvPr id="45" name="Text 42"/>
          <p:cNvSpPr/>
          <p:nvPr/>
        </p:nvSpPr>
        <p:spPr>
          <a:xfrm>
            <a:off x="6400800" y="3314700"/>
            <a:ext cx="714375" cy="228600"/>
          </a:xfrm>
          <a:prstGeom prst="rect">
            <a:avLst/>
          </a:prstGeom>
          <a:noFill/>
          <a:ln/>
        </p:spPr>
        <p:txBody>
          <a:bodyPr wrap="square" lIns="0" tIns="0" rIns="0" bIns="0" rtlCol="0" anchor="t"/>
          <a:lstStyle/>
          <a:p>
            <a:pPr algn="l" indent="0" marL="0">
              <a:lnSpc>
                <a:spcPts val="1725"/>
              </a:lnSpc>
              <a:buNone/>
            </a:pPr>
            <a:r>
              <a:rPr lang="en-US" sz="1425" b="1" spc="-21" kern="0" dirty="0">
                <a:solidFill>
                  <a:srgbClr val="0E130F">
                    <a:alpha val="99000"/>
                  </a:srgbClr>
                </a:solidFill>
                <a:latin typeface="Inter" pitchFamily="34" charset="0"/>
                <a:ea typeface="Inter" pitchFamily="34" charset="-122"/>
                <a:cs typeface="Inter" pitchFamily="34" charset="-120"/>
              </a:rPr>
              <a:t>12.5%</a:t>
            </a:r>
            <a:endParaRPr lang="en-US" sz="1425" dirty="0"/>
          </a:p>
        </p:txBody>
      </p:sp>
      <p:sp>
        <p:nvSpPr>
          <p:cNvPr id="46" name="Text 43"/>
          <p:cNvSpPr/>
          <p:nvPr/>
        </p:nvSpPr>
        <p:spPr>
          <a:xfrm>
            <a:off x="7172325" y="3352800"/>
            <a:ext cx="1619250" cy="147638"/>
          </a:xfrm>
          <a:prstGeom prst="rect">
            <a:avLst/>
          </a:prstGeom>
          <a:noFill/>
          <a:ln/>
        </p:spPr>
        <p:txBody>
          <a:bodyPr wrap="square" lIns="0" tIns="0" rIns="0" bIns="0" rtlCol="0" anchor="t"/>
          <a:lstStyle/>
          <a:p>
            <a:pPr algn="l" indent="0" marL="0">
              <a:lnSpc>
                <a:spcPts val="1121"/>
              </a:lnSpc>
              <a:buNone/>
            </a:pPr>
            <a:r>
              <a:rPr lang="en-US" sz="926" b="1" dirty="0">
                <a:solidFill>
                  <a:srgbClr val="0E130F">
                    <a:alpha val="99000"/>
                  </a:srgbClr>
                </a:solidFill>
                <a:latin typeface="Inter" pitchFamily="34" charset="0"/>
                <a:ea typeface="Inter" pitchFamily="34" charset="-122"/>
                <a:cs typeface="Inter" pitchFamily="34" charset="-120"/>
              </a:rPr>
              <a:t>Marketing &amp; expansion</a:t>
            </a:r>
            <a:endParaRPr lang="en-US" sz="926" dirty="0"/>
          </a:p>
        </p:txBody>
      </p:sp>
      <p:sp>
        <p:nvSpPr>
          <p:cNvPr id="47" name="Shape 44"/>
          <p:cNvSpPr/>
          <p:nvPr/>
        </p:nvSpPr>
        <p:spPr>
          <a:xfrm>
            <a:off x="6172200" y="3705225"/>
            <a:ext cx="133350" cy="133350"/>
          </a:xfrm>
          <a:prstGeom prst="roundRect">
            <a:avLst/>
          </a:prstGeom>
          <a:solidFill>
            <a:srgbClr val="99A894"/>
          </a:solidFill>
          <a:ln/>
        </p:spPr>
        <p:txBody>
          <a:bodyPr/>
          <a:p/>
        </p:txBody>
      </p:sp>
      <p:sp>
        <p:nvSpPr>
          <p:cNvPr id="48" name="Text 45"/>
          <p:cNvSpPr/>
          <p:nvPr/>
        </p:nvSpPr>
        <p:spPr>
          <a:xfrm>
            <a:off x="6400800" y="3657600"/>
            <a:ext cx="714375" cy="228600"/>
          </a:xfrm>
          <a:prstGeom prst="rect">
            <a:avLst/>
          </a:prstGeom>
          <a:noFill/>
          <a:ln/>
        </p:spPr>
        <p:txBody>
          <a:bodyPr wrap="square" lIns="0" tIns="0" rIns="0" bIns="0" rtlCol="0" anchor="t"/>
          <a:lstStyle/>
          <a:p>
            <a:pPr algn="l" indent="0" marL="0">
              <a:lnSpc>
                <a:spcPts val="1725"/>
              </a:lnSpc>
              <a:buNone/>
            </a:pPr>
            <a:r>
              <a:rPr lang="en-US" sz="1425" b="1" spc="-21" kern="0" dirty="0">
                <a:solidFill>
                  <a:srgbClr val="0E130F">
                    <a:alpha val="99000"/>
                  </a:srgbClr>
                </a:solidFill>
                <a:latin typeface="Inter" pitchFamily="34" charset="0"/>
                <a:ea typeface="Inter" pitchFamily="34" charset="-122"/>
                <a:cs typeface="Inter" pitchFamily="34" charset="-120"/>
              </a:rPr>
              <a:t>10%</a:t>
            </a:r>
            <a:endParaRPr lang="en-US" sz="1425" dirty="0"/>
          </a:p>
        </p:txBody>
      </p:sp>
      <p:sp>
        <p:nvSpPr>
          <p:cNvPr id="49" name="Text 46"/>
          <p:cNvSpPr/>
          <p:nvPr/>
        </p:nvSpPr>
        <p:spPr>
          <a:xfrm>
            <a:off x="7172325" y="3695700"/>
            <a:ext cx="1619250" cy="147638"/>
          </a:xfrm>
          <a:prstGeom prst="rect">
            <a:avLst/>
          </a:prstGeom>
          <a:noFill/>
          <a:ln/>
        </p:spPr>
        <p:txBody>
          <a:bodyPr wrap="square" lIns="0" tIns="0" rIns="0" bIns="0" rtlCol="0" anchor="t"/>
          <a:lstStyle/>
          <a:p>
            <a:pPr algn="l" indent="0" marL="0">
              <a:lnSpc>
                <a:spcPts val="1121"/>
              </a:lnSpc>
              <a:buNone/>
            </a:pPr>
            <a:r>
              <a:rPr lang="en-US" sz="926" b="1" dirty="0">
                <a:solidFill>
                  <a:srgbClr val="0E130F">
                    <a:alpha val="99000"/>
                  </a:srgbClr>
                </a:solidFill>
                <a:latin typeface="Inter" pitchFamily="34" charset="0"/>
                <a:ea typeface="Inter" pitchFamily="34" charset="-122"/>
                <a:cs typeface="Inter" pitchFamily="34" charset="-120"/>
              </a:rPr>
              <a:t>Private sale</a:t>
            </a:r>
            <a:endParaRPr lang="en-US" sz="926" dirty="0"/>
          </a:p>
        </p:txBody>
      </p:sp>
      <p:sp>
        <p:nvSpPr>
          <p:cNvPr id="50" name="Shape 47"/>
          <p:cNvSpPr/>
          <p:nvPr/>
        </p:nvSpPr>
        <p:spPr>
          <a:xfrm>
            <a:off x="6172200" y="4048125"/>
            <a:ext cx="133350" cy="133350"/>
          </a:xfrm>
          <a:prstGeom prst="roundRect">
            <a:avLst/>
          </a:prstGeom>
          <a:solidFill>
            <a:srgbClr val="D9DBD1"/>
          </a:solidFill>
          <a:ln/>
        </p:spPr>
        <p:txBody>
          <a:bodyPr/>
          <a:p/>
        </p:txBody>
      </p:sp>
      <p:sp>
        <p:nvSpPr>
          <p:cNvPr id="51" name="Text 48"/>
          <p:cNvSpPr/>
          <p:nvPr/>
        </p:nvSpPr>
        <p:spPr>
          <a:xfrm>
            <a:off x="6400800" y="4000500"/>
            <a:ext cx="714375" cy="228600"/>
          </a:xfrm>
          <a:prstGeom prst="rect">
            <a:avLst/>
          </a:prstGeom>
          <a:noFill/>
          <a:ln/>
        </p:spPr>
        <p:txBody>
          <a:bodyPr wrap="square" lIns="0" tIns="0" rIns="0" bIns="0" rtlCol="0" anchor="t"/>
          <a:lstStyle/>
          <a:p>
            <a:pPr algn="l" indent="0" marL="0">
              <a:lnSpc>
                <a:spcPts val="1725"/>
              </a:lnSpc>
              <a:buNone/>
            </a:pPr>
            <a:r>
              <a:rPr lang="en-US" sz="1425" b="1" spc="-21" kern="0" dirty="0">
                <a:solidFill>
                  <a:srgbClr val="0E130F">
                    <a:alpha val="99000"/>
                  </a:srgbClr>
                </a:solidFill>
                <a:latin typeface="Inter" pitchFamily="34" charset="0"/>
                <a:ea typeface="Inter" pitchFamily="34" charset="-122"/>
                <a:cs typeface="Inter" pitchFamily="34" charset="-120"/>
              </a:rPr>
              <a:t>7.5%</a:t>
            </a:r>
            <a:endParaRPr lang="en-US" sz="1425" dirty="0"/>
          </a:p>
        </p:txBody>
      </p:sp>
      <p:sp>
        <p:nvSpPr>
          <p:cNvPr id="52" name="Text 49"/>
          <p:cNvSpPr/>
          <p:nvPr/>
        </p:nvSpPr>
        <p:spPr>
          <a:xfrm>
            <a:off x="7172325" y="4038600"/>
            <a:ext cx="1619250" cy="147638"/>
          </a:xfrm>
          <a:prstGeom prst="rect">
            <a:avLst/>
          </a:prstGeom>
          <a:noFill/>
          <a:ln/>
        </p:spPr>
        <p:txBody>
          <a:bodyPr wrap="square" lIns="0" tIns="0" rIns="0" bIns="0" rtlCol="0" anchor="t"/>
          <a:lstStyle/>
          <a:p>
            <a:pPr algn="l" indent="0" marL="0">
              <a:lnSpc>
                <a:spcPts val="1121"/>
              </a:lnSpc>
              <a:buNone/>
            </a:pPr>
            <a:r>
              <a:rPr lang="en-US" sz="926" b="1" dirty="0">
                <a:solidFill>
                  <a:srgbClr val="0E130F">
                    <a:alpha val="99000"/>
                  </a:srgbClr>
                </a:solidFill>
                <a:latin typeface="Inter" pitchFamily="34" charset="0"/>
                <a:ea typeface="Inter" pitchFamily="34" charset="-122"/>
                <a:cs typeface="Inter" pitchFamily="34" charset="-120"/>
              </a:rPr>
              <a:t>Founding team</a:t>
            </a:r>
            <a:endParaRPr lang="en-US" sz="926"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30F"/>
        </a:solidFill>
      </p:bgPr>
    </p:bg>
    <p:spTree>
      <p:nvGrpSpPr>
        <p:cNvPr id="1" name=""/>
        <p:cNvGrpSpPr/>
        <p:nvPr/>
      </p:nvGrpSpPr>
      <p:grpSpPr>
        <a:xfrm>
          <a:off x="0" y="0"/>
          <a:ext cx="0" cy="0"/>
          <a:chOff x="0" y="0"/>
          <a:chExt cx="0" cy="0"/>
        </a:xfrm>
      </p:grpSpPr>
      <p:sp>
        <p:nvSpPr>
          <p:cNvPr id="48" name="TextBox 47"/>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BDF06B"/>
                </a:solidFill>
                <a:latin typeface="JetBrains Mono"/>
              </a:defRPr>
            </a:pPr>
            <a:r>
              <a:t>14 — ROADMAP</a:t>
            </a:r>
          </a:p>
        </p:txBody>
      </p:sp>
      <p:sp>
        <p:nvSpPr>
          <p:cNvPr id="25" name="Text 22"/>
          <p:cNvSpPr/>
          <p:nvPr/>
        </p:nvSpPr>
        <p:spPr>
          <a:xfrm>
            <a:off x="571500" y="809625"/>
            <a:ext cx="5715000" cy="723900"/>
          </a:xfrm>
          <a:prstGeom prst="rect">
            <a:avLst/>
          </a:prstGeom>
          <a:noFill/>
          <a:ln/>
        </p:spPr>
        <p:txBody>
          <a:bodyPr wrap="square" lIns="0" tIns="0" rIns="0" bIns="0" rtlCol="0" anchor="t"/>
          <a:lstStyle/>
          <a:p>
            <a:pPr algn="l" indent="0" marL="0">
              <a:lnSpc>
                <a:spcPts val="2708"/>
              </a:lnSpc>
              <a:buNone/>
            </a:pPr>
            <a:r>
              <a:rPr lang="en-US" sz="2708" b="1" spc="-81" kern="0" dirty="0">
                <a:solidFill>
                  <a:srgbClr val="F7F7F2">
                    <a:alpha val="99000"/>
                  </a:srgbClr>
                </a:solidFill>
                <a:latin typeface="Inter" pitchFamily="34" charset="0"/>
                <a:ea typeface="Inter" pitchFamily="34" charset="-122"/>
                <a:cs typeface="Inter" pitchFamily="34" charset="-120"/>
              </a:rPr>
              <a:t>Devnet today.</a:t>
            </a:r>
            <a:endParaRPr lang="en-US" sz="2708" dirty="0"/>
          </a:p>
          <a:p>
            <a:pPr algn="l" indent="0" marL="0">
              <a:lnSpc>
                <a:spcPts val="2708"/>
              </a:lnSpc>
              <a:buNone/>
            </a:pPr>
            <a:r>
              <a:rPr lang="en-US" sz="2708" b="1" spc="-81" kern="0" dirty="0">
                <a:solidFill>
                  <a:srgbClr val="F7F7F2">
                    <a:alpha val="99000"/>
                  </a:srgbClr>
                </a:solidFill>
                <a:latin typeface="Inter" pitchFamily="34" charset="0"/>
                <a:ea typeface="Inter" pitchFamily="34" charset="-122"/>
                <a:cs typeface="Inter" pitchFamily="34" charset="-120"/>
              </a:rPr>
              <a:t>Mainnet next.</a:t>
            </a:r>
            <a:endParaRPr lang="en-US" sz="2708" dirty="0"/>
          </a:p>
        </p:txBody>
      </p:sp>
      <p:sp>
        <p:nvSpPr>
          <p:cNvPr id="26" name="Shape 23"/>
          <p:cNvSpPr/>
          <p:nvPr/>
        </p:nvSpPr>
        <p:spPr>
          <a:xfrm>
            <a:off x="571500" y="2476500"/>
            <a:ext cx="8001000" cy="19050"/>
          </a:xfrm>
          <a:prstGeom prst="rect">
            <a:avLst/>
          </a:prstGeom>
          <a:solidFill>
            <a:srgbClr val="333D33"/>
          </a:solidFill>
          <a:ln/>
        </p:spPr>
        <p:txBody>
          <a:bodyPr/>
          <a:p/>
        </p:txBody>
      </p:sp>
      <p:sp>
        <p:nvSpPr>
          <p:cNvPr id="27" name="Shape 24"/>
          <p:cNvSpPr/>
          <p:nvPr/>
        </p:nvSpPr>
        <p:spPr>
          <a:xfrm>
            <a:off x="571500" y="2476500"/>
            <a:ext cx="2476500" cy="19050"/>
          </a:xfrm>
          <a:prstGeom prst="rect">
            <a:avLst/>
          </a:prstGeom>
          <a:solidFill>
            <a:srgbClr val="BDF06B"/>
          </a:solidFill>
          <a:ln/>
        </p:spPr>
        <p:txBody>
          <a:bodyPr/>
          <a:p/>
        </p:txBody>
      </p:sp>
      <p:sp>
        <p:nvSpPr>
          <p:cNvPr id="28" name="Shape 25"/>
          <p:cNvSpPr/>
          <p:nvPr/>
        </p:nvSpPr>
        <p:spPr>
          <a:xfrm>
            <a:off x="571500" y="2400300"/>
            <a:ext cx="171450" cy="171450"/>
          </a:xfrm>
          <a:prstGeom prst="ellipse">
            <a:avLst/>
          </a:prstGeom>
          <a:solidFill>
            <a:srgbClr val="BDF06B"/>
          </a:solidFill>
          <a:ln w="13573">
            <a:solidFill>
              <a:srgbClr val="BDF06B"/>
            </a:solidFill>
            <a:prstDash val="solid"/>
          </a:ln>
        </p:spPr>
        <p:txBody>
          <a:bodyPr/>
          <a:p/>
        </p:txBody>
      </p:sp>
      <p:sp>
        <p:nvSpPr>
          <p:cNvPr id="49" name="TextBox 48"/>
          <p:cNvSpPr txBox="1"/>
          <p:nvPr/>
        </p:nvSpPr>
        <p:spPr>
          <a:xfrm>
            <a:off x="571500" y="2762250"/>
            <a:ext cx="895350" cy="185115"/>
          </a:xfrm>
          <a:prstGeom prst="rect">
            <a:avLst/>
          </a:prstGeom>
          <a:noFill/>
        </p:spPr>
        <p:txBody>
          <a:bodyPr wrap="none" lIns="0" tIns="0" rIns="0" bIns="0">
            <a:noAutofit/>
          </a:bodyPr>
          <a:lstStyle/>
          <a:p>
            <a:pPr>
              <a:lnSpc>
                <a:spcPts val="956"/>
              </a:lnSpc>
              <a:defRPr sz="784" b="1">
                <a:solidFill>
                  <a:srgbClr val="BDF06B"/>
                </a:solidFill>
                <a:latin typeface="JetBrains Mono"/>
              </a:defRPr>
            </a:pPr>
            <a:r>
              <a:t>PHASE 1 · NOW</a:t>
            </a:r>
          </a:p>
        </p:txBody>
      </p:sp>
      <p:sp>
        <p:nvSpPr>
          <p:cNvPr id="30" name="Text 27"/>
          <p:cNvSpPr/>
          <p:nvPr/>
        </p:nvSpPr>
        <p:spPr>
          <a:xfrm>
            <a:off x="571500" y="2952750"/>
            <a:ext cx="2476500" cy="266700"/>
          </a:xfrm>
          <a:prstGeom prst="rect">
            <a:avLst/>
          </a:prstGeom>
          <a:noFill/>
          <a:ln/>
        </p:spPr>
        <p:txBody>
          <a:bodyPr wrap="square" lIns="0" tIns="0" rIns="0" bIns="0" rtlCol="0" anchor="t"/>
          <a:lstStyle/>
          <a:p>
            <a:pPr algn="l" indent="0" marL="0">
              <a:lnSpc>
                <a:spcPts val="1983"/>
              </a:lnSpc>
              <a:buNone/>
            </a:pPr>
            <a:r>
              <a:rPr lang="en-US" sz="1639" b="1" spc="-25" kern="0" dirty="0">
                <a:solidFill>
                  <a:srgbClr val="F7F7F2">
                    <a:alpha val="99000"/>
                  </a:srgbClr>
                </a:solidFill>
                <a:latin typeface="Inter" pitchFamily="34" charset="0"/>
                <a:ea typeface="Inter" pitchFamily="34" charset="-122"/>
                <a:cs typeface="Inter" pitchFamily="34" charset="-120"/>
              </a:rPr>
              <a:t>Devnet</a:t>
            </a:r>
            <a:endParaRPr lang="en-US" sz="1639" dirty="0"/>
          </a:p>
        </p:txBody>
      </p:sp>
      <p:sp>
        <p:nvSpPr>
          <p:cNvPr id="31" name="Text 28"/>
          <p:cNvSpPr/>
          <p:nvPr/>
        </p:nvSpPr>
        <p:spPr>
          <a:xfrm>
            <a:off x="571500" y="3333750"/>
            <a:ext cx="2476500" cy="147638"/>
          </a:xfrm>
          <a:prstGeom prst="rect">
            <a:avLst/>
          </a:prstGeom>
          <a:noFill/>
          <a:ln/>
        </p:spPr>
        <p:txBody>
          <a:bodyPr wrap="square" lIns="0" tIns="0" rIns="0" bIns="0" rtlCol="0" anchor="t"/>
          <a:lstStyle/>
          <a:p>
            <a:pPr algn="l" indent="0" marL="0">
              <a:lnSpc>
                <a:spcPts val="1121"/>
              </a:lnSpc>
              <a:buNone/>
            </a:pPr>
            <a:r>
              <a:rPr lang="en-US" sz="926" dirty="0">
                <a:solidFill>
                  <a:srgbClr val="B2BDB2">
                    <a:alpha val="99000"/>
                  </a:srgbClr>
                </a:solidFill>
                <a:latin typeface="Inter" pitchFamily="34" charset="0"/>
                <a:ea typeface="Inter" pitchFamily="34" charset="-122"/>
                <a:cs typeface="Inter" pitchFamily="34" charset="-120"/>
              </a:rPr>
              <a:t>Token live on Solana devnet</a:t>
            </a:r>
            <a:endParaRPr lang="en-US" sz="926" dirty="0"/>
          </a:p>
        </p:txBody>
      </p:sp>
      <p:sp>
        <p:nvSpPr>
          <p:cNvPr id="32" name="Text 29"/>
          <p:cNvSpPr/>
          <p:nvPr/>
        </p:nvSpPr>
        <p:spPr>
          <a:xfrm>
            <a:off x="571500" y="3562350"/>
            <a:ext cx="2476500" cy="147638"/>
          </a:xfrm>
          <a:prstGeom prst="rect">
            <a:avLst/>
          </a:prstGeom>
          <a:noFill/>
          <a:ln/>
        </p:spPr>
        <p:txBody>
          <a:bodyPr wrap="square" lIns="0" tIns="0" rIns="0" bIns="0" rtlCol="0" anchor="t"/>
          <a:lstStyle/>
          <a:p>
            <a:pPr algn="l" indent="0" marL="0">
              <a:lnSpc>
                <a:spcPts val="1121"/>
              </a:lnSpc>
              <a:buNone/>
            </a:pPr>
            <a:r>
              <a:rPr lang="en-US" sz="926" dirty="0">
                <a:solidFill>
                  <a:srgbClr val="B2BDB2">
                    <a:alpha val="99000"/>
                  </a:srgbClr>
                </a:solidFill>
                <a:latin typeface="Inter" pitchFamily="34" charset="0"/>
                <a:ea typeface="Inter" pitchFamily="34" charset="-122"/>
                <a:cs typeface="Inter" pitchFamily="34" charset="-120"/>
              </a:rPr>
              <a:t>Full product shipped</a:t>
            </a:r>
            <a:endParaRPr lang="en-US" sz="926" dirty="0"/>
          </a:p>
        </p:txBody>
      </p:sp>
      <p:sp>
        <p:nvSpPr>
          <p:cNvPr id="33" name="Text 30"/>
          <p:cNvSpPr/>
          <p:nvPr/>
        </p:nvSpPr>
        <p:spPr>
          <a:xfrm>
            <a:off x="571500" y="3790950"/>
            <a:ext cx="2476500" cy="147638"/>
          </a:xfrm>
          <a:prstGeom prst="rect">
            <a:avLst/>
          </a:prstGeom>
          <a:noFill/>
          <a:ln/>
        </p:spPr>
        <p:txBody>
          <a:bodyPr wrap="square" lIns="0" tIns="0" rIns="0" bIns="0" rtlCol="0" anchor="t"/>
          <a:lstStyle/>
          <a:p>
            <a:pPr algn="l" indent="0" marL="0">
              <a:lnSpc>
                <a:spcPts val="1121"/>
              </a:lnSpc>
              <a:buNone/>
            </a:pPr>
            <a:r>
              <a:rPr lang="en-US" sz="926" dirty="0">
                <a:solidFill>
                  <a:srgbClr val="B2BDB2">
                    <a:alpha val="99000"/>
                  </a:srgbClr>
                </a:solidFill>
                <a:latin typeface="Inter" pitchFamily="34" charset="0"/>
                <a:ea typeface="Inter" pitchFamily="34" charset="-122"/>
                <a:cs typeface="Inter" pitchFamily="34" charset="-120"/>
              </a:rPr>
              <a:t>Pilots and hackathon</a:t>
            </a:r>
            <a:endParaRPr lang="en-US" sz="926" dirty="0"/>
          </a:p>
        </p:txBody>
      </p:sp>
      <p:sp>
        <p:nvSpPr>
          <p:cNvPr id="34" name="Shape 31"/>
          <p:cNvSpPr/>
          <p:nvPr/>
        </p:nvSpPr>
        <p:spPr>
          <a:xfrm>
            <a:off x="3333750" y="2400300"/>
            <a:ext cx="171450" cy="171450"/>
          </a:xfrm>
          <a:prstGeom prst="ellipse">
            <a:avLst/>
          </a:prstGeom>
          <a:solidFill>
            <a:srgbClr val="0E130F"/>
          </a:solidFill>
          <a:ln w="13573">
            <a:solidFill>
              <a:srgbClr val="B2BDB2"/>
            </a:solidFill>
            <a:prstDash val="solid"/>
          </a:ln>
        </p:spPr>
        <p:txBody>
          <a:bodyPr/>
          <a:p/>
        </p:txBody>
      </p:sp>
      <p:sp>
        <p:nvSpPr>
          <p:cNvPr id="50" name="TextBox 49"/>
          <p:cNvSpPr txBox="1"/>
          <p:nvPr/>
        </p:nvSpPr>
        <p:spPr>
          <a:xfrm>
            <a:off x="3333750" y="2762250"/>
            <a:ext cx="962024" cy="185115"/>
          </a:xfrm>
          <a:prstGeom prst="rect">
            <a:avLst/>
          </a:prstGeom>
          <a:noFill/>
        </p:spPr>
        <p:txBody>
          <a:bodyPr wrap="none" lIns="0" tIns="0" rIns="0" bIns="0">
            <a:noAutofit/>
          </a:bodyPr>
          <a:lstStyle/>
          <a:p>
            <a:pPr>
              <a:lnSpc>
                <a:spcPts val="956"/>
              </a:lnSpc>
              <a:defRPr sz="784" b="1">
                <a:solidFill>
                  <a:srgbClr val="B2BDB2"/>
                </a:solidFill>
                <a:latin typeface="JetBrains Mono"/>
              </a:defRPr>
            </a:pPr>
            <a:r>
              <a:t>PHASE 2 · NEXT</a:t>
            </a:r>
          </a:p>
        </p:txBody>
      </p:sp>
      <p:sp>
        <p:nvSpPr>
          <p:cNvPr id="36" name="Text 33"/>
          <p:cNvSpPr/>
          <p:nvPr/>
        </p:nvSpPr>
        <p:spPr>
          <a:xfrm>
            <a:off x="3333750" y="2952750"/>
            <a:ext cx="2476500" cy="266700"/>
          </a:xfrm>
          <a:prstGeom prst="rect">
            <a:avLst/>
          </a:prstGeom>
          <a:noFill/>
          <a:ln/>
        </p:spPr>
        <p:txBody>
          <a:bodyPr wrap="square" lIns="0" tIns="0" rIns="0" bIns="0" rtlCol="0" anchor="t"/>
          <a:lstStyle/>
          <a:p>
            <a:pPr algn="l" indent="0" marL="0">
              <a:lnSpc>
                <a:spcPts val="1983"/>
              </a:lnSpc>
              <a:buNone/>
            </a:pPr>
            <a:r>
              <a:rPr lang="en-US" sz="1639" b="1" spc="-25" kern="0" dirty="0">
                <a:solidFill>
                  <a:srgbClr val="F7F7F2">
                    <a:alpha val="99000"/>
                  </a:srgbClr>
                </a:solidFill>
                <a:latin typeface="Inter" pitchFamily="34" charset="0"/>
                <a:ea typeface="Inter" pitchFamily="34" charset="-122"/>
                <a:cs typeface="Inter" pitchFamily="34" charset="-120"/>
              </a:rPr>
              <a:t>Mainnet launch</a:t>
            </a:r>
            <a:endParaRPr lang="en-US" sz="1639" dirty="0"/>
          </a:p>
        </p:txBody>
      </p:sp>
      <p:sp>
        <p:nvSpPr>
          <p:cNvPr id="37" name="Text 34"/>
          <p:cNvSpPr/>
          <p:nvPr/>
        </p:nvSpPr>
        <p:spPr>
          <a:xfrm>
            <a:off x="3333750" y="3333750"/>
            <a:ext cx="2476500" cy="147638"/>
          </a:xfrm>
          <a:prstGeom prst="rect">
            <a:avLst/>
          </a:prstGeom>
          <a:noFill/>
          <a:ln/>
        </p:spPr>
        <p:txBody>
          <a:bodyPr wrap="square" lIns="0" tIns="0" rIns="0" bIns="0" rtlCol="0" anchor="t"/>
          <a:lstStyle/>
          <a:p>
            <a:pPr algn="l" indent="0" marL="0">
              <a:lnSpc>
                <a:spcPts val="1121"/>
              </a:lnSpc>
              <a:buNone/>
            </a:pPr>
            <a:r>
              <a:rPr lang="en-US" sz="926" dirty="0">
                <a:solidFill>
                  <a:srgbClr val="B2BDB2">
                    <a:alpha val="99000"/>
                  </a:srgbClr>
                </a:solidFill>
                <a:latin typeface="Inter" pitchFamily="34" charset="0"/>
                <a:ea typeface="Inter" pitchFamily="34" charset="-122"/>
                <a:cs typeface="Inter" pitchFamily="34" charset="-120"/>
              </a:rPr>
              <a:t>Independent security audit</a:t>
            </a:r>
            <a:endParaRPr lang="en-US" sz="926" dirty="0"/>
          </a:p>
        </p:txBody>
      </p:sp>
      <p:sp>
        <p:nvSpPr>
          <p:cNvPr id="38" name="Text 35"/>
          <p:cNvSpPr/>
          <p:nvPr/>
        </p:nvSpPr>
        <p:spPr>
          <a:xfrm>
            <a:off x="3333750" y="3562350"/>
            <a:ext cx="2476500" cy="147638"/>
          </a:xfrm>
          <a:prstGeom prst="rect">
            <a:avLst/>
          </a:prstGeom>
          <a:noFill/>
          <a:ln/>
        </p:spPr>
        <p:txBody>
          <a:bodyPr wrap="square" lIns="0" tIns="0" rIns="0" bIns="0" rtlCol="0" anchor="t"/>
          <a:lstStyle/>
          <a:p>
            <a:pPr algn="l" indent="0" marL="0">
              <a:lnSpc>
                <a:spcPts val="1121"/>
              </a:lnSpc>
              <a:buNone/>
            </a:pPr>
            <a:r>
              <a:rPr lang="en-US" sz="926" dirty="0">
                <a:solidFill>
                  <a:srgbClr val="B2BDB2">
                    <a:alpha val="99000"/>
                  </a:srgbClr>
                </a:solidFill>
                <a:latin typeface="Inter" pitchFamily="34" charset="0"/>
                <a:ea typeface="Inter" pitchFamily="34" charset="-122"/>
                <a:cs typeface="Inter" pitchFamily="34" charset="-120"/>
              </a:rPr>
              <a:t>Mint on mainnet, revoke mint authority</a:t>
            </a:r>
            <a:endParaRPr lang="en-US" sz="926" dirty="0"/>
          </a:p>
        </p:txBody>
      </p:sp>
      <p:sp>
        <p:nvSpPr>
          <p:cNvPr id="39" name="Text 36"/>
          <p:cNvSpPr/>
          <p:nvPr/>
        </p:nvSpPr>
        <p:spPr>
          <a:xfrm>
            <a:off x="3333750" y="3790950"/>
            <a:ext cx="2476500" cy="147638"/>
          </a:xfrm>
          <a:prstGeom prst="rect">
            <a:avLst/>
          </a:prstGeom>
          <a:noFill/>
          <a:ln/>
        </p:spPr>
        <p:txBody>
          <a:bodyPr wrap="square" lIns="0" tIns="0" rIns="0" bIns="0" rtlCol="0" anchor="t"/>
          <a:lstStyle/>
          <a:p>
            <a:pPr algn="l" indent="0" marL="0">
              <a:lnSpc>
                <a:spcPts val="1121"/>
              </a:lnSpc>
              <a:buNone/>
            </a:pPr>
            <a:r>
              <a:rPr lang="en-US" sz="926" dirty="0">
                <a:solidFill>
                  <a:srgbClr val="B2BDB2">
                    <a:alpha val="99000"/>
                  </a:srgbClr>
                </a:solidFill>
                <a:latin typeface="Inter" pitchFamily="34" charset="0"/>
                <a:ea typeface="Inter" pitchFamily="34" charset="-122"/>
                <a:cs typeface="Inter" pitchFamily="34" charset="-120"/>
              </a:rPr>
              <a:t>Distribution per tokenomics</a:t>
            </a:r>
            <a:endParaRPr lang="en-US" sz="926" dirty="0"/>
          </a:p>
        </p:txBody>
      </p:sp>
      <p:sp>
        <p:nvSpPr>
          <p:cNvPr id="40" name="Shape 37"/>
          <p:cNvSpPr/>
          <p:nvPr/>
        </p:nvSpPr>
        <p:spPr>
          <a:xfrm>
            <a:off x="6096000" y="2400300"/>
            <a:ext cx="171450" cy="171450"/>
          </a:xfrm>
          <a:prstGeom prst="ellipse">
            <a:avLst/>
          </a:prstGeom>
          <a:solidFill>
            <a:srgbClr val="0E130F"/>
          </a:solidFill>
          <a:ln w="13573">
            <a:solidFill>
              <a:srgbClr val="B2BDB2"/>
            </a:solidFill>
            <a:prstDash val="solid"/>
          </a:ln>
        </p:spPr>
        <p:txBody>
          <a:bodyPr/>
          <a:p/>
        </p:txBody>
      </p:sp>
      <p:sp>
        <p:nvSpPr>
          <p:cNvPr id="51" name="TextBox 50"/>
          <p:cNvSpPr txBox="1"/>
          <p:nvPr/>
        </p:nvSpPr>
        <p:spPr>
          <a:xfrm>
            <a:off x="6096000" y="2762250"/>
            <a:ext cx="499871" cy="185115"/>
          </a:xfrm>
          <a:prstGeom prst="rect">
            <a:avLst/>
          </a:prstGeom>
          <a:noFill/>
        </p:spPr>
        <p:txBody>
          <a:bodyPr wrap="none" lIns="0" tIns="0" rIns="0" bIns="0">
            <a:noAutofit/>
          </a:bodyPr>
          <a:lstStyle/>
          <a:p>
            <a:pPr>
              <a:lnSpc>
                <a:spcPts val="956"/>
              </a:lnSpc>
              <a:defRPr sz="784" b="1">
                <a:solidFill>
                  <a:srgbClr val="B2BDB2"/>
                </a:solidFill>
                <a:latin typeface="JetBrains Mono"/>
              </a:defRPr>
            </a:pPr>
            <a:r>
              <a:t>PHASE 3</a:t>
            </a:r>
          </a:p>
        </p:txBody>
      </p:sp>
      <p:sp>
        <p:nvSpPr>
          <p:cNvPr id="42" name="Text 39"/>
          <p:cNvSpPr/>
          <p:nvPr/>
        </p:nvSpPr>
        <p:spPr>
          <a:xfrm>
            <a:off x="6096000" y="2952750"/>
            <a:ext cx="2476500" cy="266700"/>
          </a:xfrm>
          <a:prstGeom prst="rect">
            <a:avLst/>
          </a:prstGeom>
          <a:noFill/>
          <a:ln/>
        </p:spPr>
        <p:txBody>
          <a:bodyPr wrap="square" lIns="0" tIns="0" rIns="0" bIns="0" rtlCol="0" anchor="t"/>
          <a:lstStyle/>
          <a:p>
            <a:pPr algn="l" indent="0" marL="0">
              <a:lnSpc>
                <a:spcPts val="1983"/>
              </a:lnSpc>
              <a:buNone/>
            </a:pPr>
            <a:r>
              <a:rPr lang="en-US" sz="1639" b="1" spc="-25" kern="0" dirty="0">
                <a:solidFill>
                  <a:srgbClr val="F7F7F2">
                    <a:alpha val="99000"/>
                  </a:srgbClr>
                </a:solidFill>
                <a:latin typeface="Inter" pitchFamily="34" charset="0"/>
                <a:ea typeface="Inter" pitchFamily="34" charset="-122"/>
                <a:cs typeface="Inter" pitchFamily="34" charset="-120"/>
              </a:rPr>
              <a:t>Scale the network</a:t>
            </a:r>
            <a:endParaRPr lang="en-US" sz="1639" dirty="0"/>
          </a:p>
        </p:txBody>
      </p:sp>
      <p:sp>
        <p:nvSpPr>
          <p:cNvPr id="43" name="Text 40"/>
          <p:cNvSpPr/>
          <p:nvPr/>
        </p:nvSpPr>
        <p:spPr>
          <a:xfrm>
            <a:off x="6096000" y="3333750"/>
            <a:ext cx="2476500" cy="147638"/>
          </a:xfrm>
          <a:prstGeom prst="rect">
            <a:avLst/>
          </a:prstGeom>
          <a:noFill/>
          <a:ln/>
        </p:spPr>
        <p:txBody>
          <a:bodyPr wrap="square" lIns="0" tIns="0" rIns="0" bIns="0" rtlCol="0" anchor="t"/>
          <a:lstStyle/>
          <a:p>
            <a:pPr algn="l" indent="0" marL="0">
              <a:lnSpc>
                <a:spcPts val="1121"/>
              </a:lnSpc>
              <a:buNone/>
            </a:pPr>
            <a:r>
              <a:rPr lang="en-US" sz="926" dirty="0">
                <a:solidFill>
                  <a:srgbClr val="B2BDB2">
                    <a:alpha val="99000"/>
                  </a:srgbClr>
                </a:solidFill>
                <a:latin typeface="Inter" pitchFamily="34" charset="0"/>
                <a:ea typeface="Inter" pitchFamily="34" charset="-122"/>
                <a:cs typeface="Inter" pitchFamily="34" charset="-120"/>
              </a:rPr>
              <a:t>Referral and cashback programs at scale</a:t>
            </a:r>
            <a:endParaRPr lang="en-US" sz="926" dirty="0"/>
          </a:p>
        </p:txBody>
      </p:sp>
      <p:sp>
        <p:nvSpPr>
          <p:cNvPr id="44" name="Text 41"/>
          <p:cNvSpPr/>
          <p:nvPr/>
        </p:nvSpPr>
        <p:spPr>
          <a:xfrm>
            <a:off x="6096000" y="3562350"/>
            <a:ext cx="2476500" cy="147638"/>
          </a:xfrm>
          <a:prstGeom prst="rect">
            <a:avLst/>
          </a:prstGeom>
          <a:noFill/>
          <a:ln/>
        </p:spPr>
        <p:txBody>
          <a:bodyPr wrap="square" lIns="0" tIns="0" rIns="0" bIns="0" rtlCol="0" anchor="t"/>
          <a:lstStyle/>
          <a:p>
            <a:pPr algn="l" indent="0" marL="0">
              <a:lnSpc>
                <a:spcPts val="1121"/>
              </a:lnSpc>
              <a:buNone/>
            </a:pPr>
            <a:r>
              <a:rPr lang="en-US" sz="926" dirty="0">
                <a:solidFill>
                  <a:srgbClr val="B2BDB2">
                    <a:alpha val="99000"/>
                  </a:srgbClr>
                </a:solidFill>
                <a:latin typeface="Inter" pitchFamily="34" charset="0"/>
                <a:ea typeface="Inter" pitchFamily="34" charset="-122"/>
                <a:cs typeface="Inter" pitchFamily="34" charset="-120"/>
              </a:rPr>
              <a:t>Liquidity and listings</a:t>
            </a:r>
            <a:endParaRPr lang="en-US" sz="926" dirty="0"/>
          </a:p>
        </p:txBody>
      </p:sp>
      <p:sp>
        <p:nvSpPr>
          <p:cNvPr id="45" name="Text 42"/>
          <p:cNvSpPr/>
          <p:nvPr/>
        </p:nvSpPr>
        <p:spPr>
          <a:xfrm>
            <a:off x="6096000" y="3790950"/>
            <a:ext cx="2476500" cy="147638"/>
          </a:xfrm>
          <a:prstGeom prst="rect">
            <a:avLst/>
          </a:prstGeom>
          <a:noFill/>
          <a:ln/>
        </p:spPr>
        <p:txBody>
          <a:bodyPr wrap="square" lIns="0" tIns="0" rIns="0" bIns="0" rtlCol="0" anchor="t"/>
          <a:lstStyle/>
          <a:p>
            <a:pPr algn="l" indent="0" marL="0">
              <a:lnSpc>
                <a:spcPts val="1121"/>
              </a:lnSpc>
              <a:buNone/>
            </a:pPr>
            <a:r>
              <a:rPr lang="en-US" sz="926" dirty="0">
                <a:solidFill>
                  <a:srgbClr val="B2BDB2">
                    <a:alpha val="99000"/>
                  </a:srgbClr>
                </a:solidFill>
                <a:latin typeface="Inter" pitchFamily="34" charset="0"/>
                <a:ea typeface="Inter" pitchFamily="34" charset="-122"/>
                <a:cs typeface="Inter" pitchFamily="34" charset="-120"/>
              </a:rPr>
              <a:t>Open integrations for any app</a:t>
            </a:r>
            <a:endParaRPr lang="en-US" sz="926" dirty="0"/>
          </a:p>
        </p:txBody>
      </p:sp>
      <p:sp>
        <p:nvSpPr>
          <p:cNvPr id="52" name="TextBox 51"/>
          <p:cNvSpPr txBox="1"/>
          <p:nvPr/>
        </p:nvSpPr>
        <p:spPr>
          <a:xfrm>
            <a:off x="571500" y="4762500"/>
            <a:ext cx="2377440" cy="159689"/>
          </a:xfrm>
          <a:prstGeom prst="rect">
            <a:avLst/>
          </a:prstGeom>
          <a:noFill/>
        </p:spPr>
        <p:txBody>
          <a:bodyPr wrap="none" lIns="0" tIns="0" rIns="0" bIns="0">
            <a:noAutofit/>
          </a:bodyPr>
          <a:lstStyle/>
          <a:p>
            <a:pPr>
              <a:lnSpc>
                <a:spcPts val="782"/>
              </a:lnSpc>
              <a:defRPr sz="641" b="0">
                <a:solidFill>
                  <a:srgbClr val="B2BDB2"/>
                </a:solidFill>
                <a:latin typeface="JetBrains Mono"/>
              </a:defRPr>
            </a:pPr>
            <a:r>
              <a:t>SIMPAY · COLOSSEUM 2026</a:t>
            </a:r>
          </a:p>
        </p:txBody>
      </p:sp>
      <p:sp>
        <p:nvSpPr>
          <p:cNvPr id="53" name="TextBox 52"/>
          <p:cNvSpPr txBox="1"/>
          <p:nvPr/>
        </p:nvSpPr>
        <p:spPr>
          <a:xfrm>
            <a:off x="8381999" y="4762500"/>
            <a:ext cx="190500" cy="159689"/>
          </a:xfrm>
          <a:prstGeom prst="rect">
            <a:avLst/>
          </a:prstGeom>
          <a:noFill/>
        </p:spPr>
        <p:txBody>
          <a:bodyPr wrap="none" lIns="0" tIns="0" rIns="0" bIns="0">
            <a:noAutofit/>
          </a:bodyPr>
          <a:lstStyle/>
          <a:p>
            <a:pPr>
              <a:lnSpc>
                <a:spcPts val="782"/>
              </a:lnSpc>
              <a:defRPr sz="641" b="0">
                <a:solidFill>
                  <a:srgbClr val="B2BDB2"/>
                </a:solidFill>
                <a:latin typeface="JetBrains Mono"/>
              </a:defRPr>
            </a:pPr>
            <a: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7F2"/>
        </a:solidFill>
      </p:bgPr>
    </p:bg>
    <p:spTree>
      <p:nvGrpSpPr>
        <p:cNvPr id="1" name=""/>
        <p:cNvGrpSpPr/>
        <p:nvPr/>
      </p:nvGrpSpPr>
      <p:grpSpPr>
        <a:xfrm>
          <a:off x="0" y="0"/>
          <a:ext cx="0" cy="0"/>
          <a:chOff x="0" y="0"/>
          <a:chExt cx="0" cy="0"/>
        </a:xfrm>
      </p:grpSpPr>
      <p:sp>
        <p:nvSpPr>
          <p:cNvPr id="6" name="Shape 3"/>
          <p:cNvSpPr/>
          <p:nvPr/>
        </p:nvSpPr>
        <p:spPr>
          <a:xfrm>
            <a:off x="5905500" y="0"/>
            <a:ext cx="3238500" cy="5143500"/>
          </a:xfrm>
          <a:prstGeom prst="rect">
            <a:avLst/>
          </a:prstGeom>
          <a:solidFill>
            <a:srgbClr val="BDF06B"/>
          </a:solidFill>
          <a:ln/>
        </p:spPr>
        <p:txBody>
          <a:bodyPr/>
          <a:p/>
        </p:txBody>
      </p:sp>
      <p:sp>
        <p:nvSpPr>
          <p:cNvPr id="31" name="TextBox 30"/>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545C54"/>
                </a:solidFill>
                <a:latin typeface="JetBrains Mono"/>
              </a:defRPr>
            </a:pPr>
            <a:r>
              <a:t>15 — WHY TRUST US</a:t>
            </a:r>
          </a:p>
        </p:txBody>
      </p:sp>
      <p:sp>
        <p:nvSpPr>
          <p:cNvPr id="8" name="Text 5"/>
          <p:cNvSpPr/>
          <p:nvPr/>
        </p:nvSpPr>
        <p:spPr>
          <a:xfrm>
            <a:off x="571500" y="809625"/>
            <a:ext cx="4762500" cy="1085850"/>
          </a:xfrm>
          <a:prstGeom prst="rect">
            <a:avLst/>
          </a:prstGeom>
          <a:noFill/>
          <a:ln/>
        </p:spPr>
        <p:txBody>
          <a:bodyPr wrap="square" lIns="0" tIns="0" rIns="0" bIns="0" rtlCol="0" anchor="t"/>
          <a:lstStyle/>
          <a:p>
            <a:pPr algn="l" indent="0" marL="0">
              <a:lnSpc>
                <a:spcPts val="2708"/>
              </a:lnSpc>
              <a:buNone/>
            </a:pPr>
            <a:r>
              <a:rPr lang="en-US" sz="2708" b="1" spc="-81" kern="0" dirty="0">
                <a:solidFill>
                  <a:srgbClr val="0E130F">
                    <a:alpha val="99000"/>
                  </a:srgbClr>
                </a:solidFill>
                <a:latin typeface="Inter" pitchFamily="34" charset="0"/>
                <a:ea typeface="Inter" pitchFamily="34" charset="-122"/>
                <a:cs typeface="Inter" pitchFamily="34" charset="-120"/>
              </a:rPr>
              <a:t>Built like</a:t>
            </a:r>
            <a:endParaRPr lang="en-US" sz="2708" dirty="0"/>
          </a:p>
          <a:p>
            <a:pPr algn="l" indent="0" marL="0">
              <a:lnSpc>
                <a:spcPts val="2708"/>
              </a:lnSpc>
              <a:buNone/>
            </a:pPr>
            <a:r>
              <a:rPr lang="en-US" sz="2708" b="1" spc="-81" kern="0" dirty="0">
                <a:solidFill>
                  <a:srgbClr val="0E130F">
                    <a:alpha val="99000"/>
                  </a:srgbClr>
                </a:solidFill>
                <a:latin typeface="Inter" pitchFamily="34" charset="0"/>
                <a:ea typeface="Inter" pitchFamily="34" charset="-122"/>
                <a:cs typeface="Inter" pitchFamily="34" charset="-120"/>
              </a:rPr>
              <a:t>financial</a:t>
            </a:r>
            <a:endParaRPr lang="en-US" sz="2708" dirty="0"/>
          </a:p>
          <a:p>
            <a:pPr algn="l" indent="0" marL="0">
              <a:lnSpc>
                <a:spcPts val="2708"/>
              </a:lnSpc>
              <a:buNone/>
            </a:pPr>
            <a:r>
              <a:rPr lang="en-US" sz="2708" b="1" spc="-81" kern="0" dirty="0">
                <a:solidFill>
                  <a:srgbClr val="0E130F">
                    <a:alpha val="99000"/>
                  </a:srgbClr>
                </a:solidFill>
                <a:latin typeface="Inter" pitchFamily="34" charset="0"/>
                <a:ea typeface="Inter" pitchFamily="34" charset="-122"/>
                <a:cs typeface="Inter" pitchFamily="34" charset="-120"/>
              </a:rPr>
              <a:t>infrastructure.</a:t>
            </a:r>
            <a:endParaRPr lang="en-US" sz="2708" dirty="0"/>
          </a:p>
        </p:txBody>
      </p:sp>
      <p:sp>
        <p:nvSpPr>
          <p:cNvPr id="9" name="Text 6"/>
          <p:cNvSpPr/>
          <p:nvPr/>
        </p:nvSpPr>
        <p:spPr>
          <a:xfrm>
            <a:off x="571500" y="2667000"/>
            <a:ext cx="4762500" cy="185738"/>
          </a:xfrm>
          <a:prstGeom prst="rect">
            <a:avLst/>
          </a:prstGeom>
          <a:noFill/>
          <a:ln/>
        </p:spPr>
        <p:txBody>
          <a:bodyPr wrap="square" lIns="0" tIns="0" rIns="0" bIns="0" rtlCol="0" anchor="t"/>
          <a:lstStyle/>
          <a:p>
            <a:pPr algn="l" indent="0" marL="0">
              <a:lnSpc>
                <a:spcPts val="1380"/>
              </a:lnSpc>
              <a:buNone/>
            </a:pPr>
            <a:r>
              <a:rPr lang="en-US" sz="1140" b="1" spc="-6" kern="0" dirty="0">
                <a:solidFill>
                  <a:srgbClr val="0E130F">
                    <a:alpha val="99000"/>
                  </a:srgbClr>
                </a:solidFill>
                <a:latin typeface="Inter" pitchFamily="34" charset="0"/>
                <a:ea typeface="Inter" pitchFamily="34" charset="-122"/>
                <a:cs typeface="Inter" pitchFamily="34" charset="-120"/>
              </a:rPr>
              <a:t>Security first</a:t>
            </a:r>
            <a:endParaRPr lang="en-US" sz="1140" dirty="0"/>
          </a:p>
        </p:txBody>
      </p:sp>
      <p:sp>
        <p:nvSpPr>
          <p:cNvPr id="10" name="Text 7"/>
          <p:cNvSpPr/>
          <p:nvPr/>
        </p:nvSpPr>
        <p:spPr>
          <a:xfrm>
            <a:off x="571500" y="2886075"/>
            <a:ext cx="4762500" cy="166688"/>
          </a:xfrm>
          <a:prstGeom prst="rect">
            <a:avLst/>
          </a:prstGeom>
          <a:noFill/>
          <a:ln/>
        </p:spPr>
        <p:txBody>
          <a:bodyPr wrap="square" lIns="0" tIns="0" rIns="0" bIns="0" rtlCol="0" anchor="t"/>
          <a:lstStyle/>
          <a:p>
            <a:pPr algn="l" indent="0" marL="0">
              <a:lnSpc>
                <a:spcPts val="1247"/>
              </a:lnSpc>
              <a:buNone/>
            </a:pPr>
            <a:r>
              <a:rPr lang="en-US" sz="891" dirty="0">
                <a:solidFill>
                  <a:srgbClr val="545C54">
                    <a:alpha val="99000"/>
                  </a:srgbClr>
                </a:solidFill>
                <a:latin typeface="Inter" pitchFamily="34" charset="0"/>
                <a:ea typeface="Inter" pitchFamily="34" charset="-122"/>
                <a:cs typeface="Inter" pitchFamily="34" charset="-120"/>
              </a:rPr>
              <a:t>Secrets in HashiCorp Vault, bank API over mTLS, keys never leave the user’s device.</a:t>
            </a:r>
            <a:endParaRPr lang="en-US" sz="891" dirty="0"/>
          </a:p>
        </p:txBody>
      </p:sp>
      <p:sp>
        <p:nvSpPr>
          <p:cNvPr id="11" name="Text 8"/>
          <p:cNvSpPr/>
          <p:nvPr/>
        </p:nvSpPr>
        <p:spPr>
          <a:xfrm>
            <a:off x="571500" y="3286125"/>
            <a:ext cx="4762500" cy="185738"/>
          </a:xfrm>
          <a:prstGeom prst="rect">
            <a:avLst/>
          </a:prstGeom>
          <a:noFill/>
          <a:ln/>
        </p:spPr>
        <p:txBody>
          <a:bodyPr wrap="square" lIns="0" tIns="0" rIns="0" bIns="0" rtlCol="0" anchor="t"/>
          <a:lstStyle/>
          <a:p>
            <a:pPr algn="l" indent="0" marL="0">
              <a:lnSpc>
                <a:spcPts val="1380"/>
              </a:lnSpc>
              <a:buNone/>
            </a:pPr>
            <a:r>
              <a:rPr lang="en-US" sz="1140" b="1" spc="-6" kern="0" dirty="0">
                <a:solidFill>
                  <a:srgbClr val="0E130F">
                    <a:alpha val="99000"/>
                  </a:srgbClr>
                </a:solidFill>
                <a:latin typeface="Inter" pitchFamily="34" charset="0"/>
                <a:ea typeface="Inter" pitchFamily="34" charset="-122"/>
                <a:cs typeface="Inter" pitchFamily="34" charset="-120"/>
              </a:rPr>
              <a:t>Every action audited</a:t>
            </a:r>
            <a:endParaRPr lang="en-US" sz="1140" dirty="0"/>
          </a:p>
        </p:txBody>
      </p:sp>
      <p:sp>
        <p:nvSpPr>
          <p:cNvPr id="12" name="Text 9"/>
          <p:cNvSpPr/>
          <p:nvPr/>
        </p:nvSpPr>
        <p:spPr>
          <a:xfrm>
            <a:off x="571500" y="3505200"/>
            <a:ext cx="4762500" cy="166688"/>
          </a:xfrm>
          <a:prstGeom prst="rect">
            <a:avLst/>
          </a:prstGeom>
          <a:noFill/>
          <a:ln/>
        </p:spPr>
        <p:txBody>
          <a:bodyPr wrap="square" lIns="0" tIns="0" rIns="0" bIns="0" rtlCol="0" anchor="t"/>
          <a:lstStyle/>
          <a:p>
            <a:pPr algn="l" indent="0" marL="0">
              <a:lnSpc>
                <a:spcPts val="1247"/>
              </a:lnSpc>
              <a:buNone/>
            </a:pPr>
            <a:r>
              <a:rPr lang="en-US" sz="891" dirty="0">
                <a:solidFill>
                  <a:srgbClr val="545C54">
                    <a:alpha val="99000"/>
                  </a:srgbClr>
                </a:solidFill>
                <a:latin typeface="Inter" pitchFamily="34" charset="0"/>
                <a:ea typeface="Inter" pitchFamily="34" charset="-122"/>
                <a:cs typeface="Inter" pitchFamily="34" charset="-120"/>
              </a:rPr>
              <a:t>Admin changes, reward adjustments and blocks are logged with before and after.</a:t>
            </a:r>
            <a:endParaRPr lang="en-US" sz="891" dirty="0"/>
          </a:p>
        </p:txBody>
      </p:sp>
      <p:sp>
        <p:nvSpPr>
          <p:cNvPr id="13" name="Text 10"/>
          <p:cNvSpPr/>
          <p:nvPr/>
        </p:nvSpPr>
        <p:spPr>
          <a:xfrm>
            <a:off x="571500" y="3905250"/>
            <a:ext cx="4762500" cy="185738"/>
          </a:xfrm>
          <a:prstGeom prst="rect">
            <a:avLst/>
          </a:prstGeom>
          <a:noFill/>
          <a:ln/>
        </p:spPr>
        <p:txBody>
          <a:bodyPr wrap="square" lIns="0" tIns="0" rIns="0" bIns="0" rtlCol="0" anchor="t"/>
          <a:lstStyle/>
          <a:p>
            <a:pPr algn="l" indent="0" marL="0">
              <a:lnSpc>
                <a:spcPts val="1380"/>
              </a:lnSpc>
              <a:buNone/>
            </a:pPr>
            <a:r>
              <a:rPr lang="en-US" sz="1140" b="1" spc="-6" kern="0" dirty="0">
                <a:solidFill>
                  <a:srgbClr val="0E130F">
                    <a:alpha val="99000"/>
                  </a:srgbClr>
                </a:solidFill>
                <a:latin typeface="Inter" pitchFamily="34" charset="0"/>
                <a:ea typeface="Inter" pitchFamily="34" charset="-122"/>
                <a:cs typeface="Inter" pitchFamily="34" charset="-120"/>
              </a:rPr>
              <a:t>Tested end to end</a:t>
            </a:r>
            <a:endParaRPr lang="en-US" sz="1140" dirty="0"/>
          </a:p>
        </p:txBody>
      </p:sp>
      <p:sp>
        <p:nvSpPr>
          <p:cNvPr id="14" name="Text 11"/>
          <p:cNvSpPr/>
          <p:nvPr/>
        </p:nvSpPr>
        <p:spPr>
          <a:xfrm>
            <a:off x="571500" y="4124325"/>
            <a:ext cx="4762500" cy="166688"/>
          </a:xfrm>
          <a:prstGeom prst="rect">
            <a:avLst/>
          </a:prstGeom>
          <a:noFill/>
          <a:ln/>
        </p:spPr>
        <p:txBody>
          <a:bodyPr wrap="square" lIns="0" tIns="0" rIns="0" bIns="0" rtlCol="0" anchor="t"/>
          <a:lstStyle/>
          <a:p>
            <a:pPr algn="l" indent="0" marL="0">
              <a:lnSpc>
                <a:spcPts val="1247"/>
              </a:lnSpc>
              <a:buNone/>
            </a:pPr>
            <a:r>
              <a:rPr lang="en-US" sz="891" dirty="0">
                <a:solidFill>
                  <a:srgbClr val="545C54">
                    <a:alpha val="99000"/>
                  </a:srgbClr>
                </a:solidFill>
                <a:latin typeface="Inter" pitchFamily="34" charset="0"/>
                <a:ea typeface="Inter" pitchFamily="34" charset="-122"/>
                <a:cs typeface="Inter" pitchFamily="34" charset="-120"/>
              </a:rPr>
              <a:t>300+ automated tests across API, merchant app and wallet.</a:t>
            </a:r>
            <a:endParaRPr lang="en-US" sz="891" dirty="0"/>
          </a:p>
        </p:txBody>
      </p:sp>
      <p:sp>
        <p:nvSpPr>
          <p:cNvPr id="32" name="TextBox 31"/>
          <p:cNvSpPr txBox="1"/>
          <p:nvPr/>
        </p:nvSpPr>
        <p:spPr>
          <a:xfrm>
            <a:off x="571500" y="4762500"/>
            <a:ext cx="237744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SIMPAY · COLOSSEUM 2026</a:t>
            </a:r>
          </a:p>
        </p:txBody>
      </p:sp>
      <p:sp>
        <p:nvSpPr>
          <p:cNvPr id="33" name="TextBox 32"/>
          <p:cNvSpPr txBox="1"/>
          <p:nvPr/>
        </p:nvSpPr>
        <p:spPr>
          <a:xfrm>
            <a:off x="8381999" y="4762500"/>
            <a:ext cx="19050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16</a:t>
            </a:r>
          </a:p>
        </p:txBody>
      </p:sp>
      <p:sp>
        <p:nvSpPr>
          <p:cNvPr id="27" name="TextBox 26"/>
          <p:cNvSpPr txBox="1"/>
          <p:nvPr/>
        </p:nvSpPr>
        <p:spPr>
          <a:xfrm>
            <a:off x="6286500" y="813816"/>
            <a:ext cx="2468880" cy="192024"/>
          </a:xfrm>
          <a:prstGeom prst="rect">
            <a:avLst/>
          </a:prstGeom>
          <a:noFill/>
        </p:spPr>
        <p:txBody>
          <a:bodyPr wrap="square" lIns="0" tIns="0" rIns="0" bIns="0">
            <a:noAutofit/>
          </a:bodyPr>
          <a:lstStyle/>
          <a:p>
            <a:pPr>
              <a:lnSpc>
                <a:spcPts val="951"/>
              </a:lnSpc>
              <a:defRPr sz="780" b="0">
                <a:solidFill>
                  <a:srgbClr val="0E130F"/>
                </a:solidFill>
                <a:latin typeface="JetBrains Mono"/>
              </a:defRPr>
            </a:pPr>
            <a:r>
              <a:rPr/>
              <a:t>BUILT FOR EVERYDAY USE</a:t>
            </a:r>
          </a:p>
        </p:txBody>
      </p:sp>
      <p:sp>
        <p:nvSpPr>
          <p:cNvPr id="28" name="TextBox 27"/>
          <p:cNvSpPr txBox="1"/>
          <p:nvPr/>
        </p:nvSpPr>
        <p:spPr>
          <a:xfrm>
            <a:off x="6286500" y="1225296"/>
            <a:ext cx="2487168" cy="1097280"/>
          </a:xfrm>
          <a:prstGeom prst="rect">
            <a:avLst/>
          </a:prstGeom>
          <a:noFill/>
        </p:spPr>
        <p:txBody>
          <a:bodyPr wrap="square" lIns="0" tIns="0" rIns="0" bIns="0">
            <a:noAutofit/>
          </a:bodyPr>
          <a:lstStyle/>
          <a:p>
            <a:pPr>
              <a:lnSpc>
                <a:spcPts val="2928"/>
              </a:lnSpc>
              <a:defRPr sz="2400" b="1">
                <a:solidFill>
                  <a:srgbClr val="0E130F"/>
                </a:solidFill>
                <a:latin typeface="Inter"/>
              </a:defRPr>
            </a:pPr>
            <a:r>
              <a:rPr/>
              <a:t>Your keys.</a:t>
            </a:r>
          </a:p>
          <a:p>
            <a:pPr>
              <a:lnSpc>
                <a:spcPts val="2928"/>
              </a:lnSpc>
              <a:defRPr sz="2400" b="1">
                <a:solidFill>
                  <a:srgbClr val="0E130F"/>
                </a:solidFill>
                <a:latin typeface="Inter"/>
              </a:defRPr>
            </a:pPr>
            <a:r>
              <a:t>Your money.</a:t>
            </a:r>
          </a:p>
        </p:txBody>
      </p:sp>
      <p:sp>
        <p:nvSpPr>
          <p:cNvPr id="29" name="TextBox 28"/>
          <p:cNvSpPr txBox="1"/>
          <p:nvPr/>
        </p:nvSpPr>
        <p:spPr>
          <a:xfrm>
            <a:off x="6286500" y="2615184"/>
            <a:ext cx="2487168" cy="512064"/>
          </a:xfrm>
          <a:prstGeom prst="rect">
            <a:avLst/>
          </a:prstGeom>
          <a:noFill/>
        </p:spPr>
        <p:txBody>
          <a:bodyPr wrap="square" lIns="0" tIns="0" rIns="0" bIns="0">
            <a:noAutofit/>
          </a:bodyPr>
          <a:lstStyle/>
          <a:p>
            <a:pPr>
              <a:lnSpc>
                <a:spcPts val="1586"/>
              </a:lnSpc>
              <a:defRPr sz="1300" b="1">
                <a:solidFill>
                  <a:srgbClr val="0E130F"/>
                </a:solidFill>
                <a:latin typeface="Inter"/>
              </a:defRPr>
            </a:pPr>
            <a:r>
              <a:rPr/>
              <a:t>Pix entry.</a:t>
            </a:r>
          </a:p>
          <a:p>
            <a:pPr>
              <a:lnSpc>
                <a:spcPts val="1586"/>
              </a:lnSpc>
              <a:defRPr sz="1300" b="1">
                <a:solidFill>
                  <a:srgbClr val="0E130F"/>
                </a:solidFill>
                <a:latin typeface="Inter"/>
              </a:defRPr>
            </a:pPr>
            <a:r>
              <a:t>QR and NFC payments.</a:t>
            </a:r>
          </a:p>
        </p:txBody>
      </p:sp>
      <p:sp>
        <p:nvSpPr>
          <p:cNvPr id="30" name="TextBox 29"/>
          <p:cNvSpPr txBox="1"/>
          <p:nvPr/>
        </p:nvSpPr>
        <p:spPr>
          <a:xfrm>
            <a:off x="6286500" y="3511296"/>
            <a:ext cx="2487168" cy="457200"/>
          </a:xfrm>
          <a:prstGeom prst="rect">
            <a:avLst/>
          </a:prstGeom>
          <a:noFill/>
        </p:spPr>
        <p:txBody>
          <a:bodyPr wrap="square" lIns="0" tIns="0" rIns="0" bIns="0">
            <a:noAutofit/>
          </a:bodyPr>
          <a:lstStyle/>
          <a:p>
            <a:pPr>
              <a:lnSpc>
                <a:spcPts val="1220"/>
              </a:lnSpc>
              <a:defRPr sz="1000" b="0">
                <a:solidFill>
                  <a:srgbClr val="545C54"/>
                </a:solidFill>
                <a:latin typeface="Inter"/>
              </a:defRPr>
            </a:pPr>
            <a:r>
              <a:rPr/>
              <a:t>One connected experience.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130F"/>
        </a:solidFill>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rcRect l="0" r="12000" t="0" b="5440"/>
          <a:stretch/>
        </p:blipFill>
        <p:spPr>
          <a:xfrm>
            <a:off x="4953000" y="-285750"/>
            <a:ext cx="4191000" cy="4967288"/>
          </a:xfrm>
          <a:prstGeom prst="rect">
            <a:avLst/>
          </a:prstGeom>
        </p:spPr>
      </p:pic>
      <p:pic>
        <p:nvPicPr>
          <p:cNvPr id="4" name="Image 1" descr="preencoded.png">    </p:cNvPr>
          <p:cNvPicPr>
            <a:picLocks noChangeAspect="1"/>
          </p:cNvPicPr>
          <p:nvPr/>
        </p:nvPicPr>
        <p:blipFill>
          <a:blip r:embed="rId2"/>
          <a:srcRect l="0" r="0" t="0" b="0"/>
          <a:stretch/>
        </p:blipFill>
        <p:spPr>
          <a:xfrm>
            <a:off x="571500" y="457200"/>
            <a:ext cx="1514475" cy="381000"/>
          </a:xfrm>
          <a:prstGeom prst="rect">
            <a:avLst/>
          </a:prstGeom>
        </p:spPr>
      </p:pic>
      <p:sp>
        <p:nvSpPr>
          <p:cNvPr id="5" name="Text 0"/>
          <p:cNvSpPr/>
          <p:nvPr/>
        </p:nvSpPr>
        <p:spPr>
          <a:xfrm>
            <a:off x="571500" y="1428750"/>
            <a:ext cx="4762500" cy="2014538"/>
          </a:xfrm>
          <a:prstGeom prst="rect">
            <a:avLst/>
          </a:prstGeom>
          <a:noFill/>
          <a:ln/>
        </p:spPr>
        <p:txBody>
          <a:bodyPr wrap="square" lIns="0" tIns="0" rIns="0" bIns="0" rtlCol="0" anchor="t"/>
          <a:lstStyle/>
          <a:p>
            <a:pPr algn="l" indent="0" marL="0">
              <a:lnSpc>
                <a:spcPts val="5023"/>
              </a:lnSpc>
              <a:buNone/>
            </a:pPr>
            <a:r>
              <a:rPr lang="en-US" sz="5344" b="1" spc="-214" kern="0" dirty="0">
                <a:solidFill>
                  <a:srgbClr val="F7F7F2">
                    <a:alpha val="99000"/>
                  </a:srgbClr>
                </a:solidFill>
                <a:latin typeface="Inter" pitchFamily="34" charset="0"/>
                <a:ea typeface="Inter" pitchFamily="34" charset="-122"/>
                <a:cs typeface="Inter" pitchFamily="34" charset="-120"/>
              </a:rPr>
              <a:t>Pay like Pix.</a:t>
            </a:r>
            <a:endParaRPr lang="en-US" sz="5344" dirty="0"/>
          </a:p>
          <a:p>
            <a:pPr algn="l" indent="0" marL="0">
              <a:lnSpc>
                <a:spcPts val="5023"/>
              </a:lnSpc>
              <a:buNone/>
            </a:pPr>
            <a:r>
              <a:rPr lang="en-US" sz="5344" b="1" spc="-214" kern="0" dirty="0">
                <a:solidFill>
                  <a:srgbClr val="F7F7F2">
                    <a:alpha val="99000"/>
                  </a:srgbClr>
                </a:solidFill>
                <a:latin typeface="Inter" pitchFamily="34" charset="0"/>
                <a:ea typeface="Inter" pitchFamily="34" charset="-122"/>
                <a:cs typeface="Inter" pitchFamily="34" charset="-120"/>
              </a:rPr>
              <a:t>Own like</a:t>
            </a:r>
            <a:endParaRPr lang="en-US" sz="5344" dirty="0"/>
          </a:p>
          <a:p>
            <a:pPr algn="l" indent="0" marL="0">
              <a:lnSpc>
                <a:spcPts val="5023"/>
              </a:lnSpc>
              <a:buNone/>
            </a:pPr>
            <a:r>
              <a:rPr lang="en-US" sz="5344" b="1" spc="-214" kern="0" dirty="0">
                <a:solidFill>
                  <a:srgbClr val="F7F7F2">
                    <a:alpha val="99000"/>
                  </a:srgbClr>
                </a:solidFill>
                <a:latin typeface="Inter" pitchFamily="34" charset="0"/>
                <a:ea typeface="Inter" pitchFamily="34" charset="-122"/>
                <a:cs typeface="Inter" pitchFamily="34" charset="-120"/>
              </a:rPr>
              <a:t>crypto.</a:t>
            </a:r>
            <a:endParaRPr lang="en-US" sz="5344" dirty="0"/>
          </a:p>
        </p:txBody>
      </p:sp>
      <p:sp>
        <p:nvSpPr>
          <p:cNvPr id="6" name="Text 1"/>
          <p:cNvSpPr/>
          <p:nvPr/>
        </p:nvSpPr>
        <p:spPr>
          <a:xfrm>
            <a:off x="571500" y="3905250"/>
            <a:ext cx="4286250" cy="228600"/>
          </a:xfrm>
          <a:prstGeom prst="rect">
            <a:avLst/>
          </a:prstGeom>
          <a:noFill/>
          <a:ln/>
        </p:spPr>
        <p:txBody>
          <a:bodyPr wrap="square" lIns="0" tIns="0" rIns="0" bIns="0" rtlCol="0" anchor="t"/>
          <a:lstStyle/>
          <a:p>
            <a:pPr algn="l" indent="0" marL="0">
              <a:lnSpc>
                <a:spcPts val="1725"/>
              </a:lnSpc>
              <a:buNone/>
            </a:pPr>
            <a:r>
              <a:rPr lang="en-US" sz="1425" b="1" dirty="0">
                <a:solidFill>
                  <a:srgbClr val="BDF06B">
                    <a:alpha val="99000"/>
                  </a:srgbClr>
                </a:solidFill>
                <a:latin typeface="Inter" pitchFamily="34" charset="0"/>
                <a:ea typeface="Inter" pitchFamily="34" charset="-122"/>
                <a:cs typeface="Inter" pitchFamily="34" charset="-120"/>
              </a:rPr>
              <a:t>simpay.tech</a:t>
            </a:r>
            <a:endParaRPr lang="en-US" sz="1425" dirty="0"/>
          </a:p>
        </p:txBody>
      </p:sp>
      <p:sp>
        <p:nvSpPr>
          <p:cNvPr id="8" name="TextBox 7"/>
          <p:cNvSpPr txBox="1"/>
          <p:nvPr/>
        </p:nvSpPr>
        <p:spPr>
          <a:xfrm>
            <a:off x="571500" y="4238625"/>
            <a:ext cx="5029200" cy="185115"/>
          </a:xfrm>
          <a:prstGeom prst="rect">
            <a:avLst/>
          </a:prstGeom>
          <a:noFill/>
        </p:spPr>
        <p:txBody>
          <a:bodyPr wrap="none" lIns="0" tIns="0" rIns="0" bIns="0">
            <a:noAutofit/>
          </a:bodyPr>
          <a:lstStyle/>
          <a:p>
            <a:pPr>
              <a:lnSpc>
                <a:spcPts val="956"/>
              </a:lnSpc>
              <a:defRPr sz="784" b="0">
                <a:solidFill>
                  <a:srgbClr val="B2BDB2"/>
                </a:solidFill>
                <a:latin typeface="JetBrains Mono"/>
              </a:defRPr>
            </a:pPr>
            <a:r>
              <a:t>EXPLORE SIMPAY · HELLO@SIMPAY.COM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2026-10-08T11:52:12Z</dcterms:created>
  <dcterms:modified xsi:type="dcterms:W3CDTF">2026-10-08T11:52:12Z</dcterms:modified>
</cp:coreProperties>
</file>